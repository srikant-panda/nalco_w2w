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1371600" y="1645920"/>
            <a:ext cx="9418320" cy="914400"/>
          </a:xfrm>
          <a:prstGeom prst="rect">
            <a:avLst/>
          </a:prstGeom>
          <a:noFill/>
          <a:ln/>
        </p:spPr>
        <p:txBody>
          <a:bodyPr wrap="square" rtlCol="0" anchor="ctr"/>
          <a:lstStyle/>
          <a:p>
            <a:pPr algn="ctr" indent="0" marL="0">
              <a:buNone/>
            </a:pPr>
            <a:r>
              <a:rPr lang="en-US" sz="5200" b="1" dirty="0">
                <a:solidFill>
                  <a:srgbClr val="10B981"/>
                </a:solidFill>
                <a:latin typeface="Arial" pitchFamily="34" charset="0"/>
                <a:ea typeface="Arial" pitchFamily="34" charset="-122"/>
                <a:cs typeface="Arial" pitchFamily="34" charset="-120"/>
              </a:rPr>
              <a:t>♻️  WASTE-TO-WEALTH</a:t>
            </a:r>
            <a:endParaRPr lang="en-US" sz="5200" dirty="0"/>
          </a:p>
        </p:txBody>
      </p:sp>
      <p:sp>
        <p:nvSpPr>
          <p:cNvPr id="5" name="Text 3"/>
          <p:cNvSpPr/>
          <p:nvPr/>
        </p:nvSpPr>
        <p:spPr>
          <a:xfrm>
            <a:off x="1371600" y="2651760"/>
            <a:ext cx="9418320" cy="45720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Circular Economy Supply Chain Marketplace</a:t>
            </a:r>
            <a:endParaRPr lang="en-US" sz="2200" dirty="0"/>
          </a:p>
        </p:txBody>
      </p:sp>
      <p:sp>
        <p:nvSpPr>
          <p:cNvPr id="6" name="Text 4"/>
          <p:cNvSpPr/>
          <p:nvPr/>
        </p:nvSpPr>
        <p:spPr>
          <a:xfrm>
            <a:off x="1371600" y="3200400"/>
            <a:ext cx="9418320" cy="457200"/>
          </a:xfrm>
          <a:prstGeom prst="rect">
            <a:avLst/>
          </a:prstGeom>
          <a:noFill/>
          <a:ln/>
        </p:spPr>
        <p:txBody>
          <a:bodyPr wrap="square" rtlCol="0" anchor="ctr"/>
          <a:lstStyle/>
          <a:p>
            <a:pPr algn="ctr" indent="0" marL="0">
              <a:buNone/>
            </a:pPr>
            <a:r>
              <a:rPr lang="en-US" sz="1400" i="1" dirty="0">
                <a:solidFill>
                  <a:srgbClr val="9CA3AF"/>
                </a:solidFill>
                <a:latin typeface="Arial" pitchFamily="34" charset="0"/>
                <a:ea typeface="Arial" pitchFamily="34" charset="-122"/>
                <a:cs typeface="Arial" pitchFamily="34" charset="-120"/>
              </a:rPr>
              <a:t>Transforming NALCO's Industrial Residue into National Infrastructure</a:t>
            </a:r>
            <a:endParaRPr lang="en-US" sz="1400" dirty="0"/>
          </a:p>
        </p:txBody>
      </p:sp>
      <p:sp>
        <p:nvSpPr>
          <p:cNvPr id="7" name="Shape 5"/>
          <p:cNvSpPr/>
          <p:nvPr/>
        </p:nvSpPr>
        <p:spPr>
          <a:xfrm>
            <a:off x="1371600" y="4114800"/>
            <a:ext cx="2103120" cy="1005840"/>
          </a:xfrm>
          <a:prstGeom prst="rect">
            <a:avLst>
              <a:gd name="adj" fmla="val 9091"/>
            </a:avLst>
          </a:prstGeom>
          <a:solidFill>
            <a:srgbClr val="1F2937"/>
          </a:solidFill>
          <a:ln w="12700">
            <a:solidFill>
              <a:srgbClr val="10B981"/>
            </a:solidFill>
            <a:prstDash val="solid"/>
          </a:ln>
        </p:spPr>
      </p:sp>
      <p:sp>
        <p:nvSpPr>
          <p:cNvPr id="8" name="Text 6"/>
          <p:cNvSpPr/>
          <p:nvPr/>
        </p:nvSpPr>
        <p:spPr>
          <a:xfrm>
            <a:off x="1371600" y="4251960"/>
            <a:ext cx="2103120" cy="36576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7.5M MT/yr</a:t>
            </a:r>
            <a:endParaRPr lang="en-US" sz="1800" dirty="0"/>
          </a:p>
        </p:txBody>
      </p:sp>
      <p:sp>
        <p:nvSpPr>
          <p:cNvPr id="9" name="Text 7"/>
          <p:cNvSpPr/>
          <p:nvPr/>
        </p:nvSpPr>
        <p:spPr>
          <a:xfrm>
            <a:off x="1371600" y="4617720"/>
            <a:ext cx="2103120"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Waste Reusable</a:t>
            </a:r>
            <a:endParaRPr lang="en-US" sz="1000" dirty="0"/>
          </a:p>
        </p:txBody>
      </p:sp>
      <p:sp>
        <p:nvSpPr>
          <p:cNvPr id="10" name="Shape 8"/>
          <p:cNvSpPr/>
          <p:nvPr/>
        </p:nvSpPr>
        <p:spPr>
          <a:xfrm>
            <a:off x="3657600" y="4114800"/>
            <a:ext cx="2103120" cy="1005840"/>
          </a:xfrm>
          <a:prstGeom prst="rect">
            <a:avLst>
              <a:gd name="adj" fmla="val 9091"/>
            </a:avLst>
          </a:prstGeom>
          <a:solidFill>
            <a:srgbClr val="1F2937"/>
          </a:solidFill>
          <a:ln w="12700">
            <a:solidFill>
              <a:srgbClr val="10B981"/>
            </a:solidFill>
            <a:prstDash val="solid"/>
          </a:ln>
        </p:spPr>
      </p:sp>
      <p:sp>
        <p:nvSpPr>
          <p:cNvPr id="11" name="Text 9"/>
          <p:cNvSpPr/>
          <p:nvPr/>
        </p:nvSpPr>
        <p:spPr>
          <a:xfrm>
            <a:off x="3657600" y="4251960"/>
            <a:ext cx="2103120" cy="36576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₹2,100 Cr</a:t>
            </a:r>
            <a:endParaRPr lang="en-US" sz="1800" dirty="0"/>
          </a:p>
        </p:txBody>
      </p:sp>
      <p:sp>
        <p:nvSpPr>
          <p:cNvPr id="12" name="Text 10"/>
          <p:cNvSpPr/>
          <p:nvPr/>
        </p:nvSpPr>
        <p:spPr>
          <a:xfrm>
            <a:off x="3657600" y="4617720"/>
            <a:ext cx="2103120"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Serviceable Market</a:t>
            </a:r>
            <a:endParaRPr lang="en-US" sz="1000" dirty="0"/>
          </a:p>
        </p:txBody>
      </p:sp>
      <p:sp>
        <p:nvSpPr>
          <p:cNvPr id="13" name="Shape 11"/>
          <p:cNvSpPr/>
          <p:nvPr/>
        </p:nvSpPr>
        <p:spPr>
          <a:xfrm>
            <a:off x="5943600" y="4114800"/>
            <a:ext cx="2103120" cy="1005840"/>
          </a:xfrm>
          <a:prstGeom prst="rect">
            <a:avLst>
              <a:gd name="adj" fmla="val 9091"/>
            </a:avLst>
          </a:prstGeom>
          <a:solidFill>
            <a:srgbClr val="1F2937"/>
          </a:solidFill>
          <a:ln w="12700">
            <a:solidFill>
              <a:srgbClr val="10B981"/>
            </a:solidFill>
            <a:prstDash val="solid"/>
          </a:ln>
        </p:spPr>
      </p:sp>
      <p:sp>
        <p:nvSpPr>
          <p:cNvPr id="14" name="Text 12"/>
          <p:cNvSpPr/>
          <p:nvPr/>
        </p:nvSpPr>
        <p:spPr>
          <a:xfrm>
            <a:off x="5943600" y="4251960"/>
            <a:ext cx="2103120" cy="36576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3,30,000 tCO₂e</a:t>
            </a:r>
            <a:endParaRPr lang="en-US" sz="1800" dirty="0"/>
          </a:p>
        </p:txBody>
      </p:sp>
      <p:sp>
        <p:nvSpPr>
          <p:cNvPr id="15" name="Text 13"/>
          <p:cNvSpPr/>
          <p:nvPr/>
        </p:nvSpPr>
        <p:spPr>
          <a:xfrm>
            <a:off x="5943600" y="4617720"/>
            <a:ext cx="2103120"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Carbon Offset (Yr 5)</a:t>
            </a:r>
            <a:endParaRPr lang="en-US" sz="1000" dirty="0"/>
          </a:p>
        </p:txBody>
      </p:sp>
      <p:sp>
        <p:nvSpPr>
          <p:cNvPr id="16" name="Shape 14"/>
          <p:cNvSpPr/>
          <p:nvPr/>
        </p:nvSpPr>
        <p:spPr>
          <a:xfrm>
            <a:off x="8229600" y="4114800"/>
            <a:ext cx="2103120" cy="1005840"/>
          </a:xfrm>
          <a:prstGeom prst="rect">
            <a:avLst>
              <a:gd name="adj" fmla="val 9091"/>
            </a:avLst>
          </a:prstGeom>
          <a:solidFill>
            <a:srgbClr val="1F2937"/>
          </a:solidFill>
          <a:ln w="12700">
            <a:solidFill>
              <a:srgbClr val="10B981"/>
            </a:solidFill>
            <a:prstDash val="solid"/>
          </a:ln>
        </p:spPr>
      </p:sp>
      <p:sp>
        <p:nvSpPr>
          <p:cNvPr id="17" name="Text 15"/>
          <p:cNvSpPr/>
          <p:nvPr/>
        </p:nvSpPr>
        <p:spPr>
          <a:xfrm>
            <a:off x="8229600" y="4251960"/>
            <a:ext cx="2103120" cy="36576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4 Waste Types</a:t>
            </a:r>
            <a:endParaRPr lang="en-US" sz="1800" dirty="0"/>
          </a:p>
        </p:txBody>
      </p:sp>
      <p:sp>
        <p:nvSpPr>
          <p:cNvPr id="18" name="Text 16"/>
          <p:cNvSpPr/>
          <p:nvPr/>
        </p:nvSpPr>
        <p:spPr>
          <a:xfrm>
            <a:off x="8229600" y="4617720"/>
            <a:ext cx="2103120"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Circular Streams</a:t>
            </a:r>
            <a:endParaRPr lang="en-US" sz="1000" dirty="0"/>
          </a:p>
        </p:txBody>
      </p:sp>
      <p:sp>
        <p:nvSpPr>
          <p:cNvPr id="19" name="Text 17"/>
          <p:cNvSpPr/>
          <p:nvPr/>
        </p:nvSpPr>
        <p:spPr>
          <a:xfrm>
            <a:off x="1371600" y="5760720"/>
            <a:ext cx="9418320" cy="2743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Smart India Hackathon 2025</a:t>
            </a:r>
            <a:endParaRPr lang="en-US" sz="1100" dirty="0"/>
          </a:p>
        </p:txBody>
      </p:sp>
      <p:sp>
        <p:nvSpPr>
          <p:cNvPr id="20" name="Text 18"/>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21" name="Text 19"/>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EF4444"/>
                </a:solidFill>
                <a:latin typeface="Arial" pitchFamily="34" charset="0"/>
                <a:ea typeface="Arial" pitchFamily="34" charset="-122"/>
                <a:cs typeface="Arial" pitchFamily="34" charset="-120"/>
              </a:rPr>
              <a:t>THE PROBLEM</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India's Red Mud Crisis</a:t>
            </a:r>
            <a:endParaRPr lang="en-US" sz="3400" dirty="0"/>
          </a:p>
        </p:txBody>
      </p:sp>
      <p:sp>
        <p:nvSpPr>
          <p:cNvPr id="6" name="Text 4"/>
          <p:cNvSpPr/>
          <p:nvPr/>
        </p:nvSpPr>
        <p:spPr>
          <a:xfrm>
            <a:off x="457200" y="1554480"/>
            <a:ext cx="11247120" cy="640080"/>
          </a:xfrm>
          <a:prstGeom prst="rect">
            <a:avLst/>
          </a:prstGeom>
          <a:noFill/>
          <a:ln/>
        </p:spPr>
        <p:txBody>
          <a:bodyPr wrap="square" rtlCol="0" anchor="ctr"/>
          <a:lstStyle/>
          <a:p>
            <a:pPr indent="0" marL="0">
              <a:buNone/>
            </a:pPr>
            <a:r>
              <a:rPr lang="en-US" sz="1100" dirty="0">
                <a:solidFill>
                  <a:srgbClr val="D1D5DB"/>
                </a:solidFill>
                <a:latin typeface="Arial" pitchFamily="34" charset="0"/>
                <a:ea typeface="Arial" pitchFamily="34" charset="-122"/>
                <a:cs typeface="Arial" pitchFamily="34" charset="-120"/>
              </a:rPr>
              <a:t>NALCO's Damanjodi refinery alone produces ~2M MT of red mud annually. This alkaline byproduct of bauxite processing has been treated as waste for decades, stockpiled in massive ponds that leach toxic runoff into surrounding ecosystems. But here's the paradigm shift — red mud is not waste. It's an untapped raw material.</a:t>
            </a:r>
            <a:endParaRPr lang="en-US" sz="1100" dirty="0"/>
          </a:p>
        </p:txBody>
      </p:sp>
      <p:sp>
        <p:nvSpPr>
          <p:cNvPr id="7" name="Shape 5"/>
          <p:cNvSpPr/>
          <p:nvPr/>
        </p:nvSpPr>
        <p:spPr>
          <a:xfrm>
            <a:off x="457200" y="2377440"/>
            <a:ext cx="2651760" cy="1188720"/>
          </a:xfrm>
          <a:prstGeom prst="rect">
            <a:avLst>
              <a:gd name="adj" fmla="val 7692"/>
            </a:avLst>
          </a:prstGeom>
          <a:solidFill>
            <a:srgbClr val="1F2937"/>
          </a:solidFill>
          <a:ln w="12700">
            <a:solidFill>
              <a:srgbClr val="EF4444"/>
            </a:solidFill>
            <a:prstDash val="solid"/>
          </a:ln>
        </p:spPr>
      </p:sp>
      <p:sp>
        <p:nvSpPr>
          <p:cNvPr id="8" name="Text 6"/>
          <p:cNvSpPr/>
          <p:nvPr/>
        </p:nvSpPr>
        <p:spPr>
          <a:xfrm>
            <a:off x="457200" y="2514600"/>
            <a:ext cx="2651760" cy="45720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7.5M</a:t>
            </a:r>
            <a:endParaRPr lang="en-US" sz="2800" dirty="0"/>
          </a:p>
        </p:txBody>
      </p:sp>
      <p:sp>
        <p:nvSpPr>
          <p:cNvPr id="9" name="Text 7"/>
          <p:cNvSpPr/>
          <p:nvPr/>
        </p:nvSpPr>
        <p:spPr>
          <a:xfrm>
            <a:off x="457200" y="2926080"/>
            <a:ext cx="2651760" cy="228600"/>
          </a:xfrm>
          <a:prstGeom prst="rect">
            <a:avLst/>
          </a:prstGeom>
          <a:noFill/>
          <a:ln/>
        </p:spPr>
        <p:txBody>
          <a:bodyPr wrap="square" rtlCol="0" anchor="ctr"/>
          <a:lstStyle/>
          <a:p>
            <a:pPr algn="ctr" indent="0" marL="0">
              <a:buNone/>
            </a:pPr>
            <a:r>
              <a:rPr lang="en-US" sz="1100" dirty="0">
                <a:solidFill>
                  <a:srgbClr val="9CA3AF"/>
                </a:solidFill>
                <a:latin typeface="Arial" pitchFamily="34" charset="0"/>
                <a:ea typeface="Arial" pitchFamily="34" charset="-122"/>
                <a:cs typeface="Arial" pitchFamily="34" charset="-120"/>
              </a:rPr>
              <a:t>MT/year</a:t>
            </a:r>
            <a:endParaRPr lang="en-US" sz="1100" dirty="0"/>
          </a:p>
        </p:txBody>
      </p:sp>
      <p:sp>
        <p:nvSpPr>
          <p:cNvPr id="10" name="Text 8"/>
          <p:cNvSpPr/>
          <p:nvPr/>
        </p:nvSpPr>
        <p:spPr>
          <a:xfrm>
            <a:off x="457200" y="3154680"/>
            <a:ext cx="2651760" cy="32004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Red mud generated across 4 alumina refineries</a:t>
            </a:r>
            <a:endParaRPr lang="en-US" sz="900" dirty="0"/>
          </a:p>
        </p:txBody>
      </p:sp>
      <p:sp>
        <p:nvSpPr>
          <p:cNvPr id="11" name="Shape 9"/>
          <p:cNvSpPr/>
          <p:nvPr/>
        </p:nvSpPr>
        <p:spPr>
          <a:xfrm>
            <a:off x="3291840" y="2377440"/>
            <a:ext cx="2651760" cy="1188720"/>
          </a:xfrm>
          <a:prstGeom prst="rect">
            <a:avLst>
              <a:gd name="adj" fmla="val 7692"/>
            </a:avLst>
          </a:prstGeom>
          <a:solidFill>
            <a:srgbClr val="1F2937"/>
          </a:solidFill>
          <a:ln w="12700">
            <a:solidFill>
              <a:srgbClr val="EF4444"/>
            </a:solidFill>
            <a:prstDash val="solid"/>
          </a:ln>
        </p:spPr>
      </p:sp>
      <p:sp>
        <p:nvSpPr>
          <p:cNvPr id="12" name="Text 10"/>
          <p:cNvSpPr/>
          <p:nvPr/>
        </p:nvSpPr>
        <p:spPr>
          <a:xfrm>
            <a:off x="3291840" y="2514600"/>
            <a:ext cx="2651760" cy="45720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3.5B</a:t>
            </a:r>
            <a:endParaRPr lang="en-US" sz="2800" dirty="0"/>
          </a:p>
        </p:txBody>
      </p:sp>
      <p:sp>
        <p:nvSpPr>
          <p:cNvPr id="13" name="Text 11"/>
          <p:cNvSpPr/>
          <p:nvPr/>
        </p:nvSpPr>
        <p:spPr>
          <a:xfrm>
            <a:off x="3291840" y="2926080"/>
            <a:ext cx="2651760" cy="228600"/>
          </a:xfrm>
          <a:prstGeom prst="rect">
            <a:avLst/>
          </a:prstGeom>
          <a:noFill/>
          <a:ln/>
        </p:spPr>
        <p:txBody>
          <a:bodyPr wrap="square" rtlCol="0" anchor="ctr"/>
          <a:lstStyle/>
          <a:p>
            <a:pPr algn="ctr" indent="0" marL="0">
              <a:buNone/>
            </a:pPr>
            <a:r>
              <a:rPr lang="en-US" sz="1100" dirty="0">
                <a:solidFill>
                  <a:srgbClr val="9CA3AF"/>
                </a:solidFill>
                <a:latin typeface="Arial" pitchFamily="34" charset="0"/>
                <a:ea typeface="Arial" pitchFamily="34" charset="-122"/>
                <a:cs typeface="Arial" pitchFamily="34" charset="-120"/>
              </a:rPr>
              <a:t>₹/year</a:t>
            </a:r>
            <a:endParaRPr lang="en-US" sz="1100" dirty="0"/>
          </a:p>
        </p:txBody>
      </p:sp>
      <p:sp>
        <p:nvSpPr>
          <p:cNvPr id="14" name="Text 12"/>
          <p:cNvSpPr/>
          <p:nvPr/>
        </p:nvSpPr>
        <p:spPr>
          <a:xfrm>
            <a:off x="3291840" y="3154680"/>
            <a:ext cx="2651760" cy="32004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Spent on disposal &amp; storage management</a:t>
            </a:r>
            <a:endParaRPr lang="en-US" sz="900" dirty="0"/>
          </a:p>
        </p:txBody>
      </p:sp>
      <p:sp>
        <p:nvSpPr>
          <p:cNvPr id="15" name="Shape 13"/>
          <p:cNvSpPr/>
          <p:nvPr/>
        </p:nvSpPr>
        <p:spPr>
          <a:xfrm>
            <a:off x="6126480" y="2377440"/>
            <a:ext cx="2651760" cy="1188720"/>
          </a:xfrm>
          <a:prstGeom prst="rect">
            <a:avLst>
              <a:gd name="adj" fmla="val 7692"/>
            </a:avLst>
          </a:prstGeom>
          <a:solidFill>
            <a:srgbClr val="1F2937"/>
          </a:solidFill>
          <a:ln w="12700">
            <a:solidFill>
              <a:srgbClr val="EF4444"/>
            </a:solidFill>
            <a:prstDash val="solid"/>
          </a:ln>
        </p:spPr>
      </p:sp>
      <p:sp>
        <p:nvSpPr>
          <p:cNvPr id="16" name="Text 14"/>
          <p:cNvSpPr/>
          <p:nvPr/>
        </p:nvSpPr>
        <p:spPr>
          <a:xfrm>
            <a:off x="6126480" y="2514600"/>
            <a:ext cx="2651760" cy="45720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4800</a:t>
            </a:r>
            <a:endParaRPr lang="en-US" sz="2800" dirty="0"/>
          </a:p>
        </p:txBody>
      </p:sp>
      <p:sp>
        <p:nvSpPr>
          <p:cNvPr id="17" name="Text 15"/>
          <p:cNvSpPr/>
          <p:nvPr/>
        </p:nvSpPr>
        <p:spPr>
          <a:xfrm>
            <a:off x="6126480" y="2926080"/>
            <a:ext cx="2651760" cy="228600"/>
          </a:xfrm>
          <a:prstGeom prst="rect">
            <a:avLst/>
          </a:prstGeom>
          <a:noFill/>
          <a:ln/>
        </p:spPr>
        <p:txBody>
          <a:bodyPr wrap="square" rtlCol="0" anchor="ctr"/>
          <a:lstStyle/>
          <a:p>
            <a:pPr algn="ctr" indent="0" marL="0">
              <a:buNone/>
            </a:pPr>
            <a:r>
              <a:rPr lang="en-US" sz="1100" dirty="0">
                <a:solidFill>
                  <a:srgbClr val="9CA3AF"/>
                </a:solidFill>
                <a:latin typeface="Arial" pitchFamily="34" charset="0"/>
                <a:ea typeface="Arial" pitchFamily="34" charset="-122"/>
                <a:cs typeface="Arial" pitchFamily="34" charset="-120"/>
              </a:rPr>
              <a:t>hectares</a:t>
            </a:r>
            <a:endParaRPr lang="en-US" sz="1100" dirty="0"/>
          </a:p>
        </p:txBody>
      </p:sp>
      <p:sp>
        <p:nvSpPr>
          <p:cNvPr id="18" name="Text 16"/>
          <p:cNvSpPr/>
          <p:nvPr/>
        </p:nvSpPr>
        <p:spPr>
          <a:xfrm>
            <a:off x="6126480" y="3154680"/>
            <a:ext cx="2651760" cy="32004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Land consumed by red mud ponds</a:t>
            </a:r>
            <a:endParaRPr lang="en-US" sz="900" dirty="0"/>
          </a:p>
        </p:txBody>
      </p:sp>
      <p:sp>
        <p:nvSpPr>
          <p:cNvPr id="19" name="Shape 17"/>
          <p:cNvSpPr/>
          <p:nvPr/>
        </p:nvSpPr>
        <p:spPr>
          <a:xfrm>
            <a:off x="8961120" y="2377440"/>
            <a:ext cx="2651760" cy="1188720"/>
          </a:xfrm>
          <a:prstGeom prst="rect">
            <a:avLst>
              <a:gd name="adj" fmla="val 7692"/>
            </a:avLst>
          </a:prstGeom>
          <a:solidFill>
            <a:srgbClr val="1F2937"/>
          </a:solidFill>
          <a:ln w="12700">
            <a:solidFill>
              <a:srgbClr val="EF4444"/>
            </a:solidFill>
            <a:prstDash val="solid"/>
          </a:ln>
        </p:spPr>
      </p:sp>
      <p:sp>
        <p:nvSpPr>
          <p:cNvPr id="20" name="Text 18"/>
          <p:cNvSpPr/>
          <p:nvPr/>
        </p:nvSpPr>
        <p:spPr>
          <a:xfrm>
            <a:off x="8961120" y="2514600"/>
            <a:ext cx="2651760" cy="45720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9.5-12.5</a:t>
            </a:r>
            <a:endParaRPr lang="en-US" sz="2800" dirty="0"/>
          </a:p>
        </p:txBody>
      </p:sp>
      <p:sp>
        <p:nvSpPr>
          <p:cNvPr id="21" name="Text 19"/>
          <p:cNvSpPr/>
          <p:nvPr/>
        </p:nvSpPr>
        <p:spPr>
          <a:xfrm>
            <a:off x="8961120" y="2926080"/>
            <a:ext cx="2651760" cy="228600"/>
          </a:xfrm>
          <a:prstGeom prst="rect">
            <a:avLst/>
          </a:prstGeom>
          <a:noFill/>
          <a:ln/>
        </p:spPr>
        <p:txBody>
          <a:bodyPr wrap="square" rtlCol="0" anchor="ctr"/>
          <a:lstStyle/>
          <a:p>
            <a:pPr algn="ctr" indent="0" marL="0">
              <a:buNone/>
            </a:pPr>
            <a:r>
              <a:rPr lang="en-US" sz="1100" dirty="0">
                <a:solidFill>
                  <a:srgbClr val="9CA3AF"/>
                </a:solidFill>
                <a:latin typeface="Arial" pitchFamily="34" charset="0"/>
                <a:ea typeface="Arial" pitchFamily="34" charset="-122"/>
                <a:cs typeface="Arial" pitchFamily="34" charset="-120"/>
              </a:rPr>
              <a:t>pH</a:t>
            </a:r>
            <a:endParaRPr lang="en-US" sz="1100" dirty="0"/>
          </a:p>
        </p:txBody>
      </p:sp>
      <p:sp>
        <p:nvSpPr>
          <p:cNvPr id="22" name="Text 20"/>
          <p:cNvSpPr/>
          <p:nvPr/>
        </p:nvSpPr>
        <p:spPr>
          <a:xfrm>
            <a:off x="8961120" y="3154680"/>
            <a:ext cx="2651760" cy="32004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Highly alkaline — toxic to ecosystems</a:t>
            </a:r>
            <a:endParaRPr lang="en-US" sz="900" dirty="0"/>
          </a:p>
        </p:txBody>
      </p:sp>
      <p:sp>
        <p:nvSpPr>
          <p:cNvPr id="23" name="Text 21"/>
          <p:cNvSpPr/>
          <p:nvPr/>
        </p:nvSpPr>
        <p:spPr>
          <a:xfrm>
            <a:off x="457200" y="3840480"/>
            <a:ext cx="1124712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IMPACT DIMENSIONS</a:t>
            </a:r>
            <a:endParaRPr lang="en-US" sz="1100" dirty="0"/>
          </a:p>
        </p:txBody>
      </p:sp>
      <p:sp>
        <p:nvSpPr>
          <p:cNvPr id="24" name="Shape 22"/>
          <p:cNvSpPr/>
          <p:nvPr/>
        </p:nvSpPr>
        <p:spPr>
          <a:xfrm>
            <a:off x="457200" y="4206240"/>
            <a:ext cx="5486400" cy="685800"/>
          </a:xfrm>
          <a:prstGeom prst="rect">
            <a:avLst>
              <a:gd name="adj" fmla="val 10667"/>
            </a:avLst>
          </a:prstGeom>
          <a:solidFill>
            <a:srgbClr val="1F2937"/>
          </a:solidFill>
          <a:ln w="6350">
            <a:solidFill>
              <a:srgbClr val="EF4444"/>
            </a:solidFill>
            <a:prstDash val="solid"/>
          </a:ln>
        </p:spPr>
      </p:sp>
      <p:sp>
        <p:nvSpPr>
          <p:cNvPr id="25" name="Text 23"/>
          <p:cNvSpPr/>
          <p:nvPr/>
        </p:nvSpPr>
        <p:spPr>
          <a:xfrm>
            <a:off x="594360" y="4297680"/>
            <a:ext cx="5212080" cy="5029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Environmental: </a:t>
            </a:r>
            <a:pPr indent="0" marL="0">
              <a:buNone/>
            </a:pPr>
            <a:r>
              <a:rPr lang="en-US" sz="1000" dirty="0">
                <a:solidFill>
                  <a:srgbClr val="D1D5DB"/>
                </a:solidFill>
                <a:latin typeface="Arial" pitchFamily="34" charset="0"/>
                <a:ea typeface="Arial" pitchFamily="34" charset="-122"/>
                <a:cs typeface="Arial" pitchFamily="34" charset="-120"/>
              </a:rPr>
              <a:t>Groundwater contamination from alkaline leachate spreading to nearby communities</a:t>
            </a:r>
            <a:endParaRPr lang="en-US" sz="1000" dirty="0"/>
          </a:p>
        </p:txBody>
      </p:sp>
      <p:sp>
        <p:nvSpPr>
          <p:cNvPr id="26" name="Shape 24"/>
          <p:cNvSpPr/>
          <p:nvPr/>
        </p:nvSpPr>
        <p:spPr>
          <a:xfrm>
            <a:off x="457200" y="4983480"/>
            <a:ext cx="5486400" cy="685800"/>
          </a:xfrm>
          <a:prstGeom prst="rect">
            <a:avLst>
              <a:gd name="adj" fmla="val 10667"/>
            </a:avLst>
          </a:prstGeom>
          <a:solidFill>
            <a:srgbClr val="1F2937"/>
          </a:solidFill>
          <a:ln w="6350">
            <a:solidFill>
              <a:srgbClr val="F59E0B"/>
            </a:solidFill>
            <a:prstDash val="solid"/>
          </a:ln>
        </p:spPr>
      </p:sp>
      <p:sp>
        <p:nvSpPr>
          <p:cNvPr id="27" name="Text 25"/>
          <p:cNvSpPr/>
          <p:nvPr/>
        </p:nvSpPr>
        <p:spPr>
          <a:xfrm>
            <a:off x="594360" y="5074920"/>
            <a:ext cx="5212080" cy="5029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Economic: </a:t>
            </a:r>
            <a:pPr indent="0" marL="0">
              <a:buNone/>
            </a:pPr>
            <a:r>
              <a:rPr lang="en-US" sz="1000" dirty="0">
                <a:solidFill>
                  <a:srgbClr val="D1D5DB"/>
                </a:solidFill>
                <a:latin typeface="Arial" pitchFamily="34" charset="0"/>
                <a:ea typeface="Arial" pitchFamily="34" charset="-122"/>
                <a:cs typeface="Arial" pitchFamily="34" charset="-120"/>
              </a:rPr>
              <a:t>Zero revenue from 7.5M MT of material that has proven industrial reuse potential</a:t>
            </a:r>
            <a:endParaRPr lang="en-US" sz="1000" dirty="0"/>
          </a:p>
        </p:txBody>
      </p:sp>
      <p:sp>
        <p:nvSpPr>
          <p:cNvPr id="28" name="Shape 26"/>
          <p:cNvSpPr/>
          <p:nvPr/>
        </p:nvSpPr>
        <p:spPr>
          <a:xfrm>
            <a:off x="6217920" y="4206240"/>
            <a:ext cx="5486400" cy="685800"/>
          </a:xfrm>
          <a:prstGeom prst="rect">
            <a:avLst>
              <a:gd name="adj" fmla="val 10667"/>
            </a:avLst>
          </a:prstGeom>
          <a:solidFill>
            <a:srgbClr val="1F2937"/>
          </a:solidFill>
          <a:ln w="6350">
            <a:solidFill>
              <a:srgbClr val="EF4444"/>
            </a:solidFill>
            <a:prstDash val="solid"/>
          </a:ln>
        </p:spPr>
      </p:sp>
      <p:sp>
        <p:nvSpPr>
          <p:cNvPr id="29" name="Text 27"/>
          <p:cNvSpPr/>
          <p:nvPr/>
        </p:nvSpPr>
        <p:spPr>
          <a:xfrm>
            <a:off x="6355080" y="4297680"/>
            <a:ext cx="5212080" cy="5029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Social: </a:t>
            </a:r>
            <a:pPr indent="0" marL="0">
              <a:buNone/>
            </a:pPr>
            <a:r>
              <a:rPr lang="en-US" sz="1000" dirty="0">
                <a:solidFill>
                  <a:srgbClr val="D1D5DB"/>
                </a:solidFill>
                <a:latin typeface="Arial" pitchFamily="34" charset="0"/>
                <a:ea typeface="Arial" pitchFamily="34" charset="-122"/>
                <a:cs typeface="Arial" pitchFamily="34" charset="-120"/>
              </a:rPr>
              <a:t>Health hazards for 50,000+ people living within 5km of red mud ponds</a:t>
            </a:r>
            <a:endParaRPr lang="en-US" sz="1000" dirty="0"/>
          </a:p>
        </p:txBody>
      </p:sp>
      <p:sp>
        <p:nvSpPr>
          <p:cNvPr id="30" name="Shape 28"/>
          <p:cNvSpPr/>
          <p:nvPr/>
        </p:nvSpPr>
        <p:spPr>
          <a:xfrm>
            <a:off x="6217920" y="4983480"/>
            <a:ext cx="5486400" cy="685800"/>
          </a:xfrm>
          <a:prstGeom prst="rect">
            <a:avLst>
              <a:gd name="adj" fmla="val 10667"/>
            </a:avLst>
          </a:prstGeom>
          <a:solidFill>
            <a:srgbClr val="1F2937"/>
          </a:solidFill>
          <a:ln w="6350">
            <a:solidFill>
              <a:srgbClr val="F59E0B"/>
            </a:solidFill>
            <a:prstDash val="solid"/>
          </a:ln>
        </p:spPr>
      </p:sp>
      <p:sp>
        <p:nvSpPr>
          <p:cNvPr id="31" name="Text 29"/>
          <p:cNvSpPr/>
          <p:nvPr/>
        </p:nvSpPr>
        <p:spPr>
          <a:xfrm>
            <a:off x="6355080" y="5074920"/>
            <a:ext cx="5212080" cy="5029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Regulatory: </a:t>
            </a:r>
            <a:pPr indent="0" marL="0">
              <a:buNone/>
            </a:pPr>
            <a:r>
              <a:rPr lang="en-US" sz="1000" dirty="0">
                <a:solidFill>
                  <a:srgbClr val="D1D5DB"/>
                </a:solidFill>
                <a:latin typeface="Arial" pitchFamily="34" charset="0"/>
                <a:ea typeface="Arial" pitchFamily="34" charset="-122"/>
                <a:cs typeface="Arial" pitchFamily="34" charset="-120"/>
              </a:rPr>
              <a:t>Growing CPCB/NGT pressure for zero-waste compliance — penalties increasing annually</a:t>
            </a:r>
            <a:endParaRPr lang="en-US" sz="1000" dirty="0"/>
          </a:p>
        </p:txBody>
      </p:sp>
      <p:sp>
        <p:nvSpPr>
          <p:cNvPr id="32" name="Text 30"/>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33" name="Text 31"/>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10B981"/>
                </a:solidFill>
                <a:latin typeface="Arial" pitchFamily="34" charset="0"/>
                <a:ea typeface="Arial" pitchFamily="34" charset="-122"/>
                <a:cs typeface="Arial" pitchFamily="34" charset="-120"/>
              </a:rPr>
              <a:t>THE SOLUTION</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Turn Liability into Revenue</a:t>
            </a:r>
            <a:endParaRPr lang="en-US" sz="3400" dirty="0"/>
          </a:p>
        </p:txBody>
      </p:sp>
      <p:sp>
        <p:nvSpPr>
          <p:cNvPr id="6" name="Text 4"/>
          <p:cNvSpPr/>
          <p:nvPr/>
        </p:nvSpPr>
        <p:spPr>
          <a:xfrm>
            <a:off x="457200" y="1554480"/>
            <a:ext cx="11247120" cy="640080"/>
          </a:xfrm>
          <a:prstGeom prst="rect">
            <a:avLst/>
          </a:prstGeom>
          <a:noFill/>
          <a:ln/>
        </p:spPr>
        <p:txBody>
          <a:bodyPr wrap="square" rtlCol="0" anchor="ctr"/>
          <a:lstStyle/>
          <a:p>
            <a:pPr indent="0" marL="0">
              <a:buNone/>
            </a:pPr>
            <a:r>
              <a:rPr lang="en-US" sz="1100" dirty="0">
                <a:solidFill>
                  <a:srgbClr val="D1D5DB"/>
                </a:solidFill>
                <a:latin typeface="Arial" pitchFamily="34" charset="0"/>
                <a:ea typeface="Arial" pitchFamily="34" charset="-122"/>
                <a:cs typeface="Arial" pitchFamily="34" charset="-120"/>
              </a:rPr>
              <a:t>A digital B2B marketplace connecting NALCO with construction companies, cement plants, and road developers to buy treated industrial residue for reuse — powered by real-time inventory, smart logistics, and carbon-credit tracking.</a:t>
            </a:r>
            <a:endParaRPr lang="en-US" sz="1100" dirty="0"/>
          </a:p>
        </p:txBody>
      </p:sp>
      <p:sp>
        <p:nvSpPr>
          <p:cNvPr id="7" name="Shape 5"/>
          <p:cNvSpPr/>
          <p:nvPr/>
        </p:nvSpPr>
        <p:spPr>
          <a:xfrm>
            <a:off x="457200" y="2377440"/>
            <a:ext cx="5577840" cy="960120"/>
          </a:xfrm>
          <a:prstGeom prst="rect">
            <a:avLst>
              <a:gd name="adj" fmla="val 9524"/>
            </a:avLst>
          </a:prstGeom>
          <a:solidFill>
            <a:srgbClr val="1F2937"/>
          </a:solidFill>
          <a:ln w="12700">
            <a:solidFill>
              <a:srgbClr val="10B981"/>
            </a:solidFill>
            <a:prstDash val="solid"/>
          </a:ln>
        </p:spPr>
      </p:sp>
      <p:sp>
        <p:nvSpPr>
          <p:cNvPr id="8" name="Text 6"/>
          <p:cNvSpPr/>
          <p:nvPr/>
        </p:nvSpPr>
        <p:spPr>
          <a:xfrm>
            <a:off x="640080" y="2514600"/>
            <a:ext cx="52120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Residue Ledger</a:t>
            </a:r>
            <a:endParaRPr lang="en-US" sz="1400" dirty="0"/>
          </a:p>
        </p:txBody>
      </p:sp>
      <p:sp>
        <p:nvSpPr>
          <p:cNvPr id="9" name="Text 7"/>
          <p:cNvSpPr/>
          <p:nvPr/>
        </p:nvSpPr>
        <p:spPr>
          <a:xfrm>
            <a:off x="640080" y="2880360"/>
            <a:ext cx="5212080" cy="36576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Real-time inventory of treated waste batches with quality metrics</a:t>
            </a:r>
            <a:endParaRPr lang="en-US" sz="1000" dirty="0"/>
          </a:p>
        </p:txBody>
      </p:sp>
      <p:sp>
        <p:nvSpPr>
          <p:cNvPr id="10" name="Shape 8"/>
          <p:cNvSpPr/>
          <p:nvPr/>
        </p:nvSpPr>
        <p:spPr>
          <a:xfrm>
            <a:off x="6309360" y="2377440"/>
            <a:ext cx="5577840" cy="960120"/>
          </a:xfrm>
          <a:prstGeom prst="rect">
            <a:avLst>
              <a:gd name="adj" fmla="val 9524"/>
            </a:avLst>
          </a:prstGeom>
          <a:solidFill>
            <a:srgbClr val="1F2937"/>
          </a:solidFill>
          <a:ln w="12700">
            <a:solidFill>
              <a:srgbClr val="10B981"/>
            </a:solidFill>
            <a:prstDash val="solid"/>
          </a:ln>
        </p:spPr>
      </p:sp>
      <p:sp>
        <p:nvSpPr>
          <p:cNvPr id="11" name="Text 9"/>
          <p:cNvSpPr/>
          <p:nvPr/>
        </p:nvSpPr>
        <p:spPr>
          <a:xfrm>
            <a:off x="6492240" y="2514600"/>
            <a:ext cx="52120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Smart Logistics</a:t>
            </a:r>
            <a:endParaRPr lang="en-US" sz="1400" dirty="0"/>
          </a:p>
        </p:txBody>
      </p:sp>
      <p:sp>
        <p:nvSpPr>
          <p:cNvPr id="12" name="Text 10"/>
          <p:cNvSpPr/>
          <p:nvPr/>
        </p:nvSpPr>
        <p:spPr>
          <a:xfrm>
            <a:off x="6492240" y="2880360"/>
            <a:ext cx="5212080" cy="36576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Automated routing to nearest NH construction sites from Damanjodi</a:t>
            </a:r>
            <a:endParaRPr lang="en-US" sz="1000" dirty="0"/>
          </a:p>
        </p:txBody>
      </p:sp>
      <p:sp>
        <p:nvSpPr>
          <p:cNvPr id="13" name="Shape 11"/>
          <p:cNvSpPr/>
          <p:nvPr/>
        </p:nvSpPr>
        <p:spPr>
          <a:xfrm>
            <a:off x="457200" y="3474720"/>
            <a:ext cx="5577840" cy="960120"/>
          </a:xfrm>
          <a:prstGeom prst="rect">
            <a:avLst>
              <a:gd name="adj" fmla="val 9524"/>
            </a:avLst>
          </a:prstGeom>
          <a:solidFill>
            <a:srgbClr val="1F2937"/>
          </a:solidFill>
          <a:ln w="12700">
            <a:solidFill>
              <a:srgbClr val="10B981"/>
            </a:solidFill>
            <a:prstDash val="solid"/>
          </a:ln>
        </p:spPr>
      </p:sp>
      <p:sp>
        <p:nvSpPr>
          <p:cNvPr id="14" name="Text 12"/>
          <p:cNvSpPr/>
          <p:nvPr/>
        </p:nvSpPr>
        <p:spPr>
          <a:xfrm>
            <a:off x="640080" y="3611880"/>
            <a:ext cx="52120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Carbon Credits</a:t>
            </a:r>
            <a:endParaRPr lang="en-US" sz="1400" dirty="0"/>
          </a:p>
        </p:txBody>
      </p:sp>
      <p:sp>
        <p:nvSpPr>
          <p:cNvPr id="15" name="Text 13"/>
          <p:cNvSpPr/>
          <p:nvPr/>
        </p:nvSpPr>
        <p:spPr>
          <a:xfrm>
            <a:off x="640080" y="3977640"/>
            <a:ext cx="5212080" cy="36576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ISO-14064-2:2019 certified CO₂ tracking with CCTS registration</a:t>
            </a:r>
            <a:endParaRPr lang="en-US" sz="1000" dirty="0"/>
          </a:p>
        </p:txBody>
      </p:sp>
      <p:sp>
        <p:nvSpPr>
          <p:cNvPr id="16" name="Shape 14"/>
          <p:cNvSpPr/>
          <p:nvPr/>
        </p:nvSpPr>
        <p:spPr>
          <a:xfrm>
            <a:off x="6309360" y="3474720"/>
            <a:ext cx="5577840" cy="960120"/>
          </a:xfrm>
          <a:prstGeom prst="rect">
            <a:avLst>
              <a:gd name="adj" fmla="val 9524"/>
            </a:avLst>
          </a:prstGeom>
          <a:solidFill>
            <a:srgbClr val="1F2937"/>
          </a:solidFill>
          <a:ln w="12700">
            <a:solidFill>
              <a:srgbClr val="10B981"/>
            </a:solidFill>
            <a:prstDash val="solid"/>
          </a:ln>
        </p:spPr>
      </p:sp>
      <p:sp>
        <p:nvSpPr>
          <p:cNvPr id="17" name="Text 15"/>
          <p:cNvSpPr/>
          <p:nvPr/>
        </p:nvSpPr>
        <p:spPr>
          <a:xfrm>
            <a:off x="6492240" y="3611880"/>
            <a:ext cx="52120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Dual Revenue</a:t>
            </a:r>
            <a:endParaRPr lang="en-US" sz="1400" dirty="0"/>
          </a:p>
        </p:txBody>
      </p:sp>
      <p:sp>
        <p:nvSpPr>
          <p:cNvPr id="18" name="Text 16"/>
          <p:cNvSpPr/>
          <p:nvPr/>
        </p:nvSpPr>
        <p:spPr>
          <a:xfrm>
            <a:off x="6492240" y="3977640"/>
            <a:ext cx="5212080" cy="36576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Material sales + carbon credit monetization</a:t>
            </a:r>
            <a:endParaRPr lang="en-US" sz="1000" dirty="0"/>
          </a:p>
        </p:txBody>
      </p:sp>
      <p:sp>
        <p:nvSpPr>
          <p:cNvPr id="19" name="Text 17"/>
          <p:cNvSpPr/>
          <p:nvPr/>
        </p:nvSpPr>
        <p:spPr>
          <a:xfrm>
            <a:off x="457200" y="4754880"/>
            <a:ext cx="11247120" cy="548640"/>
          </a:xfrm>
          <a:prstGeom prst="rect">
            <a:avLst/>
          </a:prstGeom>
          <a:noFill/>
          <a:ln/>
        </p:spPr>
        <p:txBody>
          <a:bodyPr wrap="square" rtlCol="0" anchor="ctr"/>
          <a:lstStyle/>
          <a:p>
            <a:pPr algn="ctr" indent="0" marL="0">
              <a:buNone/>
            </a:pPr>
            <a:r>
              <a:rPr lang="en-US" sz="1200" b="1" dirty="0">
                <a:solidFill>
                  <a:srgbClr val="10B981"/>
                </a:solidFill>
                <a:latin typeface="Arial" pitchFamily="34" charset="0"/>
                <a:ea typeface="Arial" pitchFamily="34" charset="-122"/>
                <a:cs typeface="Arial" pitchFamily="34" charset="-120"/>
              </a:rPr>
              <a:t>NALCO Damanjodi (2M MT/yr)  →  Treatment &amp; Grading  →  W2W Marketplace  →  Buyers + Carbon Credits</a:t>
            </a:r>
            <a:endParaRPr lang="en-US" sz="1200" dirty="0"/>
          </a:p>
        </p:txBody>
      </p:sp>
      <p:sp>
        <p:nvSpPr>
          <p:cNvPr id="20" name="Text 18"/>
          <p:cNvSpPr/>
          <p:nvPr/>
        </p:nvSpPr>
        <p:spPr>
          <a:xfrm>
            <a:off x="457200" y="5394960"/>
            <a:ext cx="11247120"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Buyer Segments: Cement Plants · Road Developers (NHAI) · Brick Makers · Rare Earth Recovery</a:t>
            </a:r>
            <a:endParaRPr lang="en-US" sz="1000" dirty="0"/>
          </a:p>
        </p:txBody>
      </p:sp>
      <p:sp>
        <p:nvSpPr>
          <p:cNvPr id="21" name="Text 19"/>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22" name="Text 20"/>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10B981"/>
                </a:solidFill>
                <a:latin typeface="Arial" pitchFamily="34" charset="0"/>
                <a:ea typeface="Arial" pitchFamily="34" charset="-122"/>
                <a:cs typeface="Arial" pitchFamily="34" charset="-120"/>
              </a:rPr>
              <a:t>WASTE STREAMS</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4 Circular Resource Flows</a:t>
            </a:r>
            <a:endParaRPr lang="en-US" sz="3400" dirty="0"/>
          </a:p>
        </p:txBody>
      </p:sp>
      <p:sp>
        <p:nvSpPr>
          <p:cNvPr id="6" name="Shape 4"/>
          <p:cNvSpPr/>
          <p:nvPr/>
        </p:nvSpPr>
        <p:spPr>
          <a:xfrm>
            <a:off x="457200" y="1463040"/>
            <a:ext cx="11247120" cy="1143000"/>
          </a:xfrm>
          <a:prstGeom prst="rect">
            <a:avLst>
              <a:gd name="adj" fmla="val 6400"/>
            </a:avLst>
          </a:prstGeom>
          <a:solidFill>
            <a:srgbClr val="1F2937"/>
          </a:solidFill>
          <a:ln w="12700">
            <a:solidFill>
              <a:srgbClr val="EF4444"/>
            </a:solidFill>
            <a:prstDash val="solid"/>
          </a:ln>
        </p:spPr>
      </p:sp>
      <p:sp>
        <p:nvSpPr>
          <p:cNvPr id="7" name="Text 5"/>
          <p:cNvSpPr/>
          <p:nvPr/>
        </p:nvSpPr>
        <p:spPr>
          <a:xfrm>
            <a:off x="640080" y="1600200"/>
            <a:ext cx="457200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Red Mud (Bauxite Residue)</a:t>
            </a:r>
            <a:endParaRPr lang="en-US" sz="1500" dirty="0"/>
          </a:p>
        </p:txBody>
      </p:sp>
      <p:sp>
        <p:nvSpPr>
          <p:cNvPr id="8" name="Text 6"/>
          <p:cNvSpPr/>
          <p:nvPr/>
        </p:nvSpPr>
        <p:spPr>
          <a:xfrm>
            <a:off x="640080" y="1920240"/>
            <a:ext cx="548640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Source: NALCO Damanjodi Refinery  ·  Volume: 2,000,000 MT/yr  ·  pH: 9.5–12.5</a:t>
            </a:r>
            <a:endParaRPr lang="en-US" sz="900" dirty="0"/>
          </a:p>
        </p:txBody>
      </p:sp>
      <p:sp>
        <p:nvSpPr>
          <p:cNvPr id="9" name="Text 7"/>
          <p:cNvSpPr/>
          <p:nvPr/>
        </p:nvSpPr>
        <p:spPr>
          <a:xfrm>
            <a:off x="7315200" y="1600200"/>
            <a:ext cx="4114800" cy="320040"/>
          </a:xfrm>
          <a:prstGeom prst="rect">
            <a:avLst/>
          </a:prstGeom>
          <a:noFill/>
          <a:ln/>
        </p:spPr>
        <p:txBody>
          <a:bodyPr wrap="square" rtlCol="0" anchor="ctr"/>
          <a:lstStyle/>
          <a:p>
            <a:pPr algn="r" indent="0" marL="0">
              <a:buNone/>
            </a:pPr>
            <a:r>
              <a:rPr lang="en-US" sz="1600" b="1" dirty="0">
                <a:solidFill>
                  <a:srgbClr val="10B981"/>
                </a:solidFill>
                <a:latin typeface="Arial" pitchFamily="34" charset="0"/>
                <a:ea typeface="Arial" pitchFamily="34" charset="-122"/>
                <a:cs typeface="Arial" pitchFamily="34" charset="-120"/>
              </a:rPr>
              <a:t>₹350</a:t>
            </a:r>
            <a:pPr algn="r" indent="0" marL="0">
              <a:buNone/>
            </a:pPr>
            <a:r>
              <a:rPr lang="en-US" sz="1000" dirty="0">
                <a:solidFill>
                  <a:srgbClr val="D1D5DB"/>
                </a:solidFill>
                <a:latin typeface="Arial" pitchFamily="34" charset="0"/>
                <a:ea typeface="Arial" pitchFamily="34" charset="-122"/>
                <a:cs typeface="Arial" pitchFamily="34" charset="-120"/>
              </a:rPr>
              <a:t> /MT  ·  0.44 tCO₂e saved/MT</a:t>
            </a:r>
            <a:endParaRPr lang="en-US" sz="1600" dirty="0"/>
          </a:p>
        </p:txBody>
      </p:sp>
      <p:sp>
        <p:nvSpPr>
          <p:cNvPr id="10" name="Text 8"/>
          <p:cNvSpPr/>
          <p:nvPr/>
        </p:nvSpPr>
        <p:spPr>
          <a:xfrm>
            <a:off x="822960" y="219456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Eco-Friendly Bricks (30%)</a:t>
            </a:r>
            <a:endParaRPr lang="en-US" sz="850" dirty="0"/>
          </a:p>
        </p:txBody>
      </p:sp>
      <p:sp>
        <p:nvSpPr>
          <p:cNvPr id="11" name="Text 9"/>
          <p:cNvSpPr/>
          <p:nvPr/>
        </p:nvSpPr>
        <p:spPr>
          <a:xfrm>
            <a:off x="4480560" y="219456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Portland Cement Clinker (25%)</a:t>
            </a:r>
            <a:endParaRPr lang="en-US" sz="850" dirty="0"/>
          </a:p>
        </p:txBody>
      </p:sp>
      <p:sp>
        <p:nvSpPr>
          <p:cNvPr id="12" name="Text 10"/>
          <p:cNvSpPr/>
          <p:nvPr/>
        </p:nvSpPr>
        <p:spPr>
          <a:xfrm>
            <a:off x="8138160" y="219456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Highway Sub-base Material (20%)</a:t>
            </a:r>
            <a:endParaRPr lang="en-US" sz="850" dirty="0"/>
          </a:p>
        </p:txBody>
      </p:sp>
      <p:sp>
        <p:nvSpPr>
          <p:cNvPr id="13" name="Shape 11"/>
          <p:cNvSpPr/>
          <p:nvPr/>
        </p:nvSpPr>
        <p:spPr>
          <a:xfrm>
            <a:off x="457200" y="2743200"/>
            <a:ext cx="11247120" cy="1143000"/>
          </a:xfrm>
          <a:prstGeom prst="rect">
            <a:avLst>
              <a:gd name="adj" fmla="val 6400"/>
            </a:avLst>
          </a:prstGeom>
          <a:solidFill>
            <a:srgbClr val="1F2937"/>
          </a:solidFill>
          <a:ln w="12700">
            <a:solidFill>
              <a:srgbClr val="6B7280"/>
            </a:solidFill>
            <a:prstDash val="solid"/>
          </a:ln>
        </p:spPr>
      </p:sp>
      <p:sp>
        <p:nvSpPr>
          <p:cNvPr id="14" name="Text 12"/>
          <p:cNvSpPr/>
          <p:nvPr/>
        </p:nvSpPr>
        <p:spPr>
          <a:xfrm>
            <a:off x="640080" y="2880360"/>
            <a:ext cx="457200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Fly Ash (Coal Combustion)</a:t>
            </a:r>
            <a:endParaRPr lang="en-US" sz="1500" dirty="0"/>
          </a:p>
        </p:txBody>
      </p:sp>
      <p:sp>
        <p:nvSpPr>
          <p:cNvPr id="15" name="Text 13"/>
          <p:cNvSpPr/>
          <p:nvPr/>
        </p:nvSpPr>
        <p:spPr>
          <a:xfrm>
            <a:off x="640080" y="3200400"/>
            <a:ext cx="548640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Source: NALCO Captive Power Plant  ·  Volume: 1,200,000 MT/yr  ·  pH: 8.0–10.0</a:t>
            </a:r>
            <a:endParaRPr lang="en-US" sz="900" dirty="0"/>
          </a:p>
        </p:txBody>
      </p:sp>
      <p:sp>
        <p:nvSpPr>
          <p:cNvPr id="16" name="Text 14"/>
          <p:cNvSpPr/>
          <p:nvPr/>
        </p:nvSpPr>
        <p:spPr>
          <a:xfrm>
            <a:off x="7315200" y="2880360"/>
            <a:ext cx="4114800" cy="320040"/>
          </a:xfrm>
          <a:prstGeom prst="rect">
            <a:avLst/>
          </a:prstGeom>
          <a:noFill/>
          <a:ln/>
        </p:spPr>
        <p:txBody>
          <a:bodyPr wrap="square" rtlCol="0" anchor="ctr"/>
          <a:lstStyle/>
          <a:p>
            <a:pPr algn="r" indent="0" marL="0">
              <a:buNone/>
            </a:pPr>
            <a:r>
              <a:rPr lang="en-US" sz="1600" b="1" dirty="0">
                <a:solidFill>
                  <a:srgbClr val="10B981"/>
                </a:solidFill>
                <a:latin typeface="Arial" pitchFamily="34" charset="0"/>
                <a:ea typeface="Arial" pitchFamily="34" charset="-122"/>
                <a:cs typeface="Arial" pitchFamily="34" charset="-120"/>
              </a:rPr>
              <a:t>₹200</a:t>
            </a:r>
            <a:pPr algn="r" indent="0" marL="0">
              <a:buNone/>
            </a:pPr>
            <a:r>
              <a:rPr lang="en-US" sz="1000" dirty="0">
                <a:solidFill>
                  <a:srgbClr val="D1D5DB"/>
                </a:solidFill>
                <a:latin typeface="Arial" pitchFamily="34" charset="0"/>
                <a:ea typeface="Arial" pitchFamily="34" charset="-122"/>
                <a:cs typeface="Arial" pitchFamily="34" charset="-120"/>
              </a:rPr>
              <a:t> /MT  ·  0.35 tCO₂e saved/MT</a:t>
            </a:r>
            <a:endParaRPr lang="en-US" sz="1600" dirty="0"/>
          </a:p>
        </p:txBody>
      </p:sp>
      <p:sp>
        <p:nvSpPr>
          <p:cNvPr id="17" name="Text 15"/>
          <p:cNvSpPr/>
          <p:nvPr/>
        </p:nvSpPr>
        <p:spPr>
          <a:xfrm>
            <a:off x="822960" y="347472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OPC Cement Replacement (40%)</a:t>
            </a:r>
            <a:endParaRPr lang="en-US" sz="850" dirty="0"/>
          </a:p>
        </p:txBody>
      </p:sp>
      <p:sp>
        <p:nvSpPr>
          <p:cNvPr id="18" name="Text 16"/>
          <p:cNvSpPr/>
          <p:nvPr/>
        </p:nvSpPr>
        <p:spPr>
          <a:xfrm>
            <a:off x="4480560" y="347472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AAC Blocks (25%)</a:t>
            </a:r>
            <a:endParaRPr lang="en-US" sz="850" dirty="0"/>
          </a:p>
        </p:txBody>
      </p:sp>
      <p:sp>
        <p:nvSpPr>
          <p:cNvPr id="19" name="Text 17"/>
          <p:cNvSpPr/>
          <p:nvPr/>
        </p:nvSpPr>
        <p:spPr>
          <a:xfrm>
            <a:off x="8138160" y="347472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Soil Stabilization (15%)</a:t>
            </a:r>
            <a:endParaRPr lang="en-US" sz="850" dirty="0"/>
          </a:p>
        </p:txBody>
      </p:sp>
      <p:sp>
        <p:nvSpPr>
          <p:cNvPr id="20" name="Shape 18"/>
          <p:cNvSpPr/>
          <p:nvPr/>
        </p:nvSpPr>
        <p:spPr>
          <a:xfrm>
            <a:off x="457200" y="4023360"/>
            <a:ext cx="11247120" cy="1143000"/>
          </a:xfrm>
          <a:prstGeom prst="rect">
            <a:avLst>
              <a:gd name="adj" fmla="val 6400"/>
            </a:avLst>
          </a:prstGeom>
          <a:solidFill>
            <a:srgbClr val="1F2937"/>
          </a:solidFill>
          <a:ln w="12700">
            <a:solidFill>
              <a:srgbClr val="8B5CF6"/>
            </a:solidFill>
            <a:prstDash val="solid"/>
          </a:ln>
        </p:spPr>
      </p:sp>
      <p:sp>
        <p:nvSpPr>
          <p:cNvPr id="21" name="Text 19"/>
          <p:cNvSpPr/>
          <p:nvPr/>
        </p:nvSpPr>
        <p:spPr>
          <a:xfrm>
            <a:off x="640080" y="4160520"/>
            <a:ext cx="457200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Blast Furnace Slag</a:t>
            </a:r>
            <a:endParaRPr lang="en-US" sz="1500" dirty="0"/>
          </a:p>
        </p:txBody>
      </p:sp>
      <p:sp>
        <p:nvSpPr>
          <p:cNvPr id="22" name="Text 20"/>
          <p:cNvSpPr/>
          <p:nvPr/>
        </p:nvSpPr>
        <p:spPr>
          <a:xfrm>
            <a:off x="640080" y="4480560"/>
            <a:ext cx="548640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Source: Rourkela Steel Plant (Nearby)  ·  Volume: 450,000 MT/yr  ·  pH: 9.0–11.0</a:t>
            </a:r>
            <a:endParaRPr lang="en-US" sz="900" dirty="0"/>
          </a:p>
        </p:txBody>
      </p:sp>
      <p:sp>
        <p:nvSpPr>
          <p:cNvPr id="23" name="Text 21"/>
          <p:cNvSpPr/>
          <p:nvPr/>
        </p:nvSpPr>
        <p:spPr>
          <a:xfrm>
            <a:off x="7315200" y="4160520"/>
            <a:ext cx="4114800" cy="320040"/>
          </a:xfrm>
          <a:prstGeom prst="rect">
            <a:avLst/>
          </a:prstGeom>
          <a:noFill/>
          <a:ln/>
        </p:spPr>
        <p:txBody>
          <a:bodyPr wrap="square" rtlCol="0" anchor="ctr"/>
          <a:lstStyle/>
          <a:p>
            <a:pPr algn="r" indent="0" marL="0">
              <a:buNone/>
            </a:pPr>
            <a:r>
              <a:rPr lang="en-US" sz="1600" b="1" dirty="0">
                <a:solidFill>
                  <a:srgbClr val="10B981"/>
                </a:solidFill>
                <a:latin typeface="Arial" pitchFamily="34" charset="0"/>
                <a:ea typeface="Arial" pitchFamily="34" charset="-122"/>
                <a:cs typeface="Arial" pitchFamily="34" charset="-120"/>
              </a:rPr>
              <a:t>₹500</a:t>
            </a:r>
            <a:pPr algn="r" indent="0" marL="0">
              <a:buNone/>
            </a:pPr>
            <a:r>
              <a:rPr lang="en-US" sz="1000" dirty="0">
                <a:solidFill>
                  <a:srgbClr val="D1D5DB"/>
                </a:solidFill>
                <a:latin typeface="Arial" pitchFamily="34" charset="0"/>
                <a:ea typeface="Arial" pitchFamily="34" charset="-122"/>
                <a:cs typeface="Arial" pitchFamily="34" charset="-120"/>
              </a:rPr>
              <a:t> /MT  ·  0.52 tCO₂e saved/MT</a:t>
            </a:r>
            <a:endParaRPr lang="en-US" sz="1600" dirty="0"/>
          </a:p>
        </p:txBody>
      </p:sp>
      <p:sp>
        <p:nvSpPr>
          <p:cNvPr id="24" name="Text 22"/>
          <p:cNvSpPr/>
          <p:nvPr/>
        </p:nvSpPr>
        <p:spPr>
          <a:xfrm>
            <a:off x="822960" y="475488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GGBS Cement (50%)</a:t>
            </a:r>
            <a:endParaRPr lang="en-US" sz="850" dirty="0"/>
          </a:p>
        </p:txBody>
      </p:sp>
      <p:sp>
        <p:nvSpPr>
          <p:cNvPr id="25" name="Text 23"/>
          <p:cNvSpPr/>
          <p:nvPr/>
        </p:nvSpPr>
        <p:spPr>
          <a:xfrm>
            <a:off x="4480560" y="475488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Road Base Aggregate (25%)</a:t>
            </a:r>
            <a:endParaRPr lang="en-US" sz="850" dirty="0"/>
          </a:p>
        </p:txBody>
      </p:sp>
      <p:sp>
        <p:nvSpPr>
          <p:cNvPr id="26" name="Text 24"/>
          <p:cNvSpPr/>
          <p:nvPr/>
        </p:nvSpPr>
        <p:spPr>
          <a:xfrm>
            <a:off x="8138160" y="475488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Rock Wool Insulation (15%)</a:t>
            </a:r>
            <a:endParaRPr lang="en-US" sz="850" dirty="0"/>
          </a:p>
        </p:txBody>
      </p:sp>
      <p:sp>
        <p:nvSpPr>
          <p:cNvPr id="27" name="Shape 25"/>
          <p:cNvSpPr/>
          <p:nvPr/>
        </p:nvSpPr>
        <p:spPr>
          <a:xfrm>
            <a:off x="457200" y="5303520"/>
            <a:ext cx="11247120" cy="1143000"/>
          </a:xfrm>
          <a:prstGeom prst="rect">
            <a:avLst>
              <a:gd name="adj" fmla="val 6400"/>
            </a:avLst>
          </a:prstGeom>
          <a:solidFill>
            <a:srgbClr val="1F2937"/>
          </a:solidFill>
          <a:ln w="12700">
            <a:solidFill>
              <a:srgbClr val="F59E0B"/>
            </a:solidFill>
            <a:prstDash val="solid"/>
          </a:ln>
        </p:spPr>
      </p:sp>
      <p:sp>
        <p:nvSpPr>
          <p:cNvPr id="28" name="Text 26"/>
          <p:cNvSpPr/>
          <p:nvPr/>
        </p:nvSpPr>
        <p:spPr>
          <a:xfrm>
            <a:off x="640080" y="5440680"/>
            <a:ext cx="457200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Phosphogypsum</a:t>
            </a:r>
            <a:endParaRPr lang="en-US" sz="1500" dirty="0"/>
          </a:p>
        </p:txBody>
      </p:sp>
      <p:sp>
        <p:nvSpPr>
          <p:cNvPr id="29" name="Text 27"/>
          <p:cNvSpPr/>
          <p:nvPr/>
        </p:nvSpPr>
        <p:spPr>
          <a:xfrm>
            <a:off x="640080" y="5760720"/>
            <a:ext cx="548640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Source: Paradeep Phosphates (Nearby)  ·  Volume: 300,000 MT/yr  ·  pH: 2.5–4.5</a:t>
            </a:r>
            <a:endParaRPr lang="en-US" sz="900" dirty="0"/>
          </a:p>
        </p:txBody>
      </p:sp>
      <p:sp>
        <p:nvSpPr>
          <p:cNvPr id="30" name="Text 28"/>
          <p:cNvSpPr/>
          <p:nvPr/>
        </p:nvSpPr>
        <p:spPr>
          <a:xfrm>
            <a:off x="7315200" y="5440680"/>
            <a:ext cx="4114800" cy="320040"/>
          </a:xfrm>
          <a:prstGeom prst="rect">
            <a:avLst/>
          </a:prstGeom>
          <a:noFill/>
          <a:ln/>
        </p:spPr>
        <p:txBody>
          <a:bodyPr wrap="square" rtlCol="0" anchor="ctr"/>
          <a:lstStyle/>
          <a:p>
            <a:pPr algn="r" indent="0" marL="0">
              <a:buNone/>
            </a:pPr>
            <a:r>
              <a:rPr lang="en-US" sz="1600" b="1" dirty="0">
                <a:solidFill>
                  <a:srgbClr val="10B981"/>
                </a:solidFill>
                <a:latin typeface="Arial" pitchFamily="34" charset="0"/>
                <a:ea typeface="Arial" pitchFamily="34" charset="-122"/>
                <a:cs typeface="Arial" pitchFamily="34" charset="-120"/>
              </a:rPr>
              <a:t>₹180</a:t>
            </a:r>
            <a:pPr algn="r" indent="0" marL="0">
              <a:buNone/>
            </a:pPr>
            <a:r>
              <a:rPr lang="en-US" sz="1000" dirty="0">
                <a:solidFill>
                  <a:srgbClr val="D1D5DB"/>
                </a:solidFill>
                <a:latin typeface="Arial" pitchFamily="34" charset="0"/>
                <a:ea typeface="Arial" pitchFamily="34" charset="-122"/>
                <a:cs typeface="Arial" pitchFamily="34" charset="-120"/>
              </a:rPr>
              <a:t> /MT  ·  0.22 tCO₂e saved/MT</a:t>
            </a:r>
            <a:endParaRPr lang="en-US" sz="1600" dirty="0"/>
          </a:p>
        </p:txBody>
      </p:sp>
      <p:sp>
        <p:nvSpPr>
          <p:cNvPr id="31" name="Text 29"/>
          <p:cNvSpPr/>
          <p:nvPr/>
        </p:nvSpPr>
        <p:spPr>
          <a:xfrm>
            <a:off x="822960" y="603504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Gypsum Plaster &amp; Board (40%)</a:t>
            </a:r>
            <a:endParaRPr lang="en-US" sz="850" dirty="0"/>
          </a:p>
        </p:txBody>
      </p:sp>
      <p:sp>
        <p:nvSpPr>
          <p:cNvPr id="32" name="Text 30"/>
          <p:cNvSpPr/>
          <p:nvPr/>
        </p:nvSpPr>
        <p:spPr>
          <a:xfrm>
            <a:off x="4480560" y="603504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Soil Conditioner (30%)</a:t>
            </a:r>
            <a:endParaRPr lang="en-US" sz="850" dirty="0"/>
          </a:p>
        </p:txBody>
      </p:sp>
      <p:sp>
        <p:nvSpPr>
          <p:cNvPr id="33" name="Text 31"/>
          <p:cNvSpPr/>
          <p:nvPr/>
        </p:nvSpPr>
        <p:spPr>
          <a:xfrm>
            <a:off x="8138160" y="6035040"/>
            <a:ext cx="3566160" cy="274320"/>
          </a:xfrm>
          <a:prstGeom prst="rect">
            <a:avLst/>
          </a:prstGeom>
          <a:noFill/>
          <a:ln/>
        </p:spPr>
        <p:txBody>
          <a:bodyPr wrap="square" rtlCol="0" anchor="ctr"/>
          <a:lstStyle/>
          <a:p>
            <a:pPr indent="0" marL="0">
              <a:buNone/>
            </a:pPr>
            <a:r>
              <a:rPr lang="en-US" sz="850" dirty="0">
                <a:solidFill>
                  <a:srgbClr val="D1D5DB"/>
                </a:solidFill>
                <a:latin typeface="Arial" pitchFamily="34" charset="0"/>
                <a:ea typeface="Arial" pitchFamily="34" charset="-122"/>
                <a:cs typeface="Arial" pitchFamily="34" charset="-120"/>
              </a:rPr>
              <a:t>• Cement Setting Regulator (20%)</a:t>
            </a:r>
            <a:endParaRPr lang="en-US" sz="850" dirty="0"/>
          </a:p>
        </p:txBody>
      </p:sp>
      <p:sp>
        <p:nvSpPr>
          <p:cNvPr id="34" name="Text 32"/>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35" name="Text 33"/>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3B82F6"/>
                </a:solidFill>
                <a:latin typeface="Arial" pitchFamily="34" charset="0"/>
                <a:ea typeface="Arial" pitchFamily="34" charset="-122"/>
                <a:cs typeface="Arial" pitchFamily="34" charset="-120"/>
              </a:rPr>
              <a:t>FEATURE DEEP DIVE</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Residue Ledger — Real-Time Inventory</a:t>
            </a:r>
            <a:endParaRPr lang="en-US" sz="3000" dirty="0"/>
          </a:p>
        </p:txBody>
      </p:sp>
      <p:sp>
        <p:nvSpPr>
          <p:cNvPr id="6" name="Text 4"/>
          <p:cNvSpPr/>
          <p:nvPr/>
        </p:nvSpPr>
        <p:spPr>
          <a:xfrm>
            <a:off x="457200" y="1417320"/>
            <a:ext cx="1124712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Total Stock: 47.2K MT  ·  Available: 32.1K MT  ·  Live IoT Feed: ● ACTIVE</a:t>
            </a:r>
            <a:endParaRPr lang="en-US" sz="1100" dirty="0"/>
          </a:p>
        </p:txBody>
      </p:sp>
      <p:sp>
        <p:nvSpPr>
          <p:cNvPr id="7" name="Shape 5"/>
          <p:cNvSpPr/>
          <p:nvPr/>
        </p:nvSpPr>
        <p:spPr>
          <a:xfrm>
            <a:off x="457200" y="1828800"/>
            <a:ext cx="1463040" cy="320040"/>
          </a:xfrm>
          <a:prstGeom prst="rect">
            <a:avLst/>
          </a:prstGeom>
          <a:solidFill>
            <a:srgbClr val="3B82F6"/>
          </a:solidFill>
          <a:ln/>
        </p:spPr>
      </p:sp>
      <p:sp>
        <p:nvSpPr>
          <p:cNvPr id="8" name="Text 6"/>
          <p:cNvSpPr/>
          <p:nvPr/>
        </p:nvSpPr>
        <p:spPr>
          <a:xfrm>
            <a:off x="457200" y="1828800"/>
            <a:ext cx="146304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Batch ID</a:t>
            </a:r>
            <a:endParaRPr lang="en-US" sz="900" dirty="0"/>
          </a:p>
        </p:txBody>
      </p:sp>
      <p:sp>
        <p:nvSpPr>
          <p:cNvPr id="9" name="Shape 7"/>
          <p:cNvSpPr/>
          <p:nvPr/>
        </p:nvSpPr>
        <p:spPr>
          <a:xfrm>
            <a:off x="1920240" y="1828800"/>
            <a:ext cx="1005840" cy="320040"/>
          </a:xfrm>
          <a:prstGeom prst="rect">
            <a:avLst/>
          </a:prstGeom>
          <a:solidFill>
            <a:srgbClr val="3B82F6"/>
          </a:solidFill>
          <a:ln/>
        </p:spPr>
      </p:sp>
      <p:sp>
        <p:nvSpPr>
          <p:cNvPr id="10" name="Text 8"/>
          <p:cNvSpPr/>
          <p:nvPr/>
        </p:nvSpPr>
        <p:spPr>
          <a:xfrm>
            <a:off x="1920240" y="1828800"/>
            <a:ext cx="100584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Date</a:t>
            </a:r>
            <a:endParaRPr lang="en-US" sz="900" dirty="0"/>
          </a:p>
        </p:txBody>
      </p:sp>
      <p:sp>
        <p:nvSpPr>
          <p:cNvPr id="11" name="Shape 9"/>
          <p:cNvSpPr/>
          <p:nvPr/>
        </p:nvSpPr>
        <p:spPr>
          <a:xfrm>
            <a:off x="2926080" y="1828800"/>
            <a:ext cx="1005840" cy="320040"/>
          </a:xfrm>
          <a:prstGeom prst="rect">
            <a:avLst/>
          </a:prstGeom>
          <a:solidFill>
            <a:srgbClr val="3B82F6"/>
          </a:solidFill>
          <a:ln/>
        </p:spPr>
      </p:sp>
      <p:sp>
        <p:nvSpPr>
          <p:cNvPr id="12" name="Text 10"/>
          <p:cNvSpPr/>
          <p:nvPr/>
        </p:nvSpPr>
        <p:spPr>
          <a:xfrm>
            <a:off x="2926080" y="1828800"/>
            <a:ext cx="100584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Tonnes</a:t>
            </a:r>
            <a:endParaRPr lang="en-US" sz="900" dirty="0"/>
          </a:p>
        </p:txBody>
      </p:sp>
      <p:sp>
        <p:nvSpPr>
          <p:cNvPr id="13" name="Shape 11"/>
          <p:cNvSpPr/>
          <p:nvPr/>
        </p:nvSpPr>
        <p:spPr>
          <a:xfrm>
            <a:off x="3931920" y="1828800"/>
            <a:ext cx="914400" cy="320040"/>
          </a:xfrm>
          <a:prstGeom prst="rect">
            <a:avLst/>
          </a:prstGeom>
          <a:solidFill>
            <a:srgbClr val="3B82F6"/>
          </a:solidFill>
          <a:ln/>
        </p:spPr>
      </p:sp>
      <p:sp>
        <p:nvSpPr>
          <p:cNvPr id="14" name="Text 12"/>
          <p:cNvSpPr/>
          <p:nvPr/>
        </p:nvSpPr>
        <p:spPr>
          <a:xfrm>
            <a:off x="3931920" y="1828800"/>
            <a:ext cx="91440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Moisture</a:t>
            </a:r>
            <a:endParaRPr lang="en-US" sz="900" dirty="0"/>
          </a:p>
        </p:txBody>
      </p:sp>
      <p:sp>
        <p:nvSpPr>
          <p:cNvPr id="15" name="Shape 13"/>
          <p:cNvSpPr/>
          <p:nvPr/>
        </p:nvSpPr>
        <p:spPr>
          <a:xfrm>
            <a:off x="4846320" y="1828800"/>
            <a:ext cx="640080" cy="320040"/>
          </a:xfrm>
          <a:prstGeom prst="rect">
            <a:avLst/>
          </a:prstGeom>
          <a:solidFill>
            <a:srgbClr val="3B82F6"/>
          </a:solidFill>
          <a:ln/>
        </p:spPr>
      </p:sp>
      <p:sp>
        <p:nvSpPr>
          <p:cNvPr id="16" name="Text 14"/>
          <p:cNvSpPr/>
          <p:nvPr/>
        </p:nvSpPr>
        <p:spPr>
          <a:xfrm>
            <a:off x="4846320" y="1828800"/>
            <a:ext cx="6400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t>
            </a:r>
            <a:endParaRPr lang="en-US" sz="900" dirty="0"/>
          </a:p>
        </p:txBody>
      </p:sp>
      <p:sp>
        <p:nvSpPr>
          <p:cNvPr id="17" name="Shape 15"/>
          <p:cNvSpPr/>
          <p:nvPr/>
        </p:nvSpPr>
        <p:spPr>
          <a:xfrm>
            <a:off x="5486400" y="1828800"/>
            <a:ext cx="640080" cy="320040"/>
          </a:xfrm>
          <a:prstGeom prst="rect">
            <a:avLst/>
          </a:prstGeom>
          <a:solidFill>
            <a:srgbClr val="3B82F6"/>
          </a:solidFill>
          <a:ln/>
        </p:spPr>
      </p:sp>
      <p:sp>
        <p:nvSpPr>
          <p:cNvPr id="18" name="Text 16"/>
          <p:cNvSpPr/>
          <p:nvPr/>
        </p:nvSpPr>
        <p:spPr>
          <a:xfrm>
            <a:off x="5486400" y="1828800"/>
            <a:ext cx="6400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Grade</a:t>
            </a:r>
            <a:endParaRPr lang="en-US" sz="900" dirty="0"/>
          </a:p>
        </p:txBody>
      </p:sp>
      <p:sp>
        <p:nvSpPr>
          <p:cNvPr id="19" name="Shape 17"/>
          <p:cNvSpPr/>
          <p:nvPr/>
        </p:nvSpPr>
        <p:spPr>
          <a:xfrm>
            <a:off x="6126480" y="1828800"/>
            <a:ext cx="2194560" cy="320040"/>
          </a:xfrm>
          <a:prstGeom prst="rect">
            <a:avLst/>
          </a:prstGeom>
          <a:solidFill>
            <a:srgbClr val="3B82F6"/>
          </a:solidFill>
          <a:ln/>
        </p:spPr>
      </p:sp>
      <p:sp>
        <p:nvSpPr>
          <p:cNvPr id="20" name="Text 18"/>
          <p:cNvSpPr/>
          <p:nvPr/>
        </p:nvSpPr>
        <p:spPr>
          <a:xfrm>
            <a:off x="6126480" y="1828800"/>
            <a:ext cx="219456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Treatment</a:t>
            </a:r>
            <a:endParaRPr lang="en-US" sz="900" dirty="0"/>
          </a:p>
        </p:txBody>
      </p:sp>
      <p:sp>
        <p:nvSpPr>
          <p:cNvPr id="21" name="Shape 19"/>
          <p:cNvSpPr/>
          <p:nvPr/>
        </p:nvSpPr>
        <p:spPr>
          <a:xfrm>
            <a:off x="8321040" y="1828800"/>
            <a:ext cx="1554480" cy="320040"/>
          </a:xfrm>
          <a:prstGeom prst="rect">
            <a:avLst/>
          </a:prstGeom>
          <a:solidFill>
            <a:srgbClr val="3B82F6"/>
          </a:solidFill>
          <a:ln/>
        </p:spPr>
      </p:sp>
      <p:sp>
        <p:nvSpPr>
          <p:cNvPr id="22" name="Text 20"/>
          <p:cNvSpPr/>
          <p:nvPr/>
        </p:nvSpPr>
        <p:spPr>
          <a:xfrm>
            <a:off x="8321040" y="1828800"/>
            <a:ext cx="15544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Status</a:t>
            </a:r>
            <a:endParaRPr lang="en-US" sz="900" dirty="0"/>
          </a:p>
        </p:txBody>
      </p:sp>
      <p:sp>
        <p:nvSpPr>
          <p:cNvPr id="23" name="Shape 21"/>
          <p:cNvSpPr/>
          <p:nvPr/>
        </p:nvSpPr>
        <p:spPr>
          <a:xfrm>
            <a:off x="457200" y="2148840"/>
            <a:ext cx="1463040" cy="365760"/>
          </a:xfrm>
          <a:prstGeom prst="rect">
            <a:avLst/>
          </a:prstGeom>
          <a:solidFill>
            <a:srgbClr val="1F2937"/>
          </a:solidFill>
          <a:ln/>
        </p:spPr>
      </p:sp>
      <p:sp>
        <p:nvSpPr>
          <p:cNvPr id="24" name="Text 22"/>
          <p:cNvSpPr/>
          <p:nvPr/>
        </p:nvSpPr>
        <p:spPr>
          <a:xfrm>
            <a:off x="457200" y="214884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RM-2025-001</a:t>
            </a:r>
            <a:endParaRPr lang="en-US" sz="900" dirty="0"/>
          </a:p>
        </p:txBody>
      </p:sp>
      <p:sp>
        <p:nvSpPr>
          <p:cNvPr id="25" name="Shape 23"/>
          <p:cNvSpPr/>
          <p:nvPr/>
        </p:nvSpPr>
        <p:spPr>
          <a:xfrm>
            <a:off x="1920240" y="2148840"/>
            <a:ext cx="1005840" cy="365760"/>
          </a:xfrm>
          <a:prstGeom prst="rect">
            <a:avLst/>
          </a:prstGeom>
          <a:solidFill>
            <a:srgbClr val="1F2937"/>
          </a:solidFill>
          <a:ln/>
        </p:spPr>
      </p:sp>
      <p:sp>
        <p:nvSpPr>
          <p:cNvPr id="26" name="Text 24"/>
          <p:cNvSpPr/>
          <p:nvPr/>
        </p:nvSpPr>
        <p:spPr>
          <a:xfrm>
            <a:off x="1920240" y="214884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2025-01-15</a:t>
            </a:r>
            <a:endParaRPr lang="en-US" sz="900" dirty="0"/>
          </a:p>
        </p:txBody>
      </p:sp>
      <p:sp>
        <p:nvSpPr>
          <p:cNvPr id="27" name="Shape 25"/>
          <p:cNvSpPr/>
          <p:nvPr/>
        </p:nvSpPr>
        <p:spPr>
          <a:xfrm>
            <a:off x="2926080" y="2148840"/>
            <a:ext cx="1005840" cy="365760"/>
          </a:xfrm>
          <a:prstGeom prst="rect">
            <a:avLst/>
          </a:prstGeom>
          <a:solidFill>
            <a:srgbClr val="1F2937"/>
          </a:solidFill>
          <a:ln/>
        </p:spPr>
      </p:sp>
      <p:sp>
        <p:nvSpPr>
          <p:cNvPr id="28" name="Text 26"/>
          <p:cNvSpPr/>
          <p:nvPr/>
        </p:nvSpPr>
        <p:spPr>
          <a:xfrm>
            <a:off x="2926080" y="214884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4,500</a:t>
            </a:r>
            <a:endParaRPr lang="en-US" sz="900" dirty="0"/>
          </a:p>
        </p:txBody>
      </p:sp>
      <p:sp>
        <p:nvSpPr>
          <p:cNvPr id="29" name="Shape 27"/>
          <p:cNvSpPr/>
          <p:nvPr/>
        </p:nvSpPr>
        <p:spPr>
          <a:xfrm>
            <a:off x="3931920" y="2148840"/>
            <a:ext cx="914400" cy="365760"/>
          </a:xfrm>
          <a:prstGeom prst="rect">
            <a:avLst/>
          </a:prstGeom>
          <a:solidFill>
            <a:srgbClr val="1F2937"/>
          </a:solidFill>
          <a:ln/>
        </p:spPr>
      </p:sp>
      <p:sp>
        <p:nvSpPr>
          <p:cNvPr id="30" name="Text 28"/>
          <p:cNvSpPr/>
          <p:nvPr/>
        </p:nvSpPr>
        <p:spPr>
          <a:xfrm>
            <a:off x="3931920" y="214884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28.5%</a:t>
            </a:r>
            <a:endParaRPr lang="en-US" sz="900" dirty="0"/>
          </a:p>
        </p:txBody>
      </p:sp>
      <p:sp>
        <p:nvSpPr>
          <p:cNvPr id="31" name="Shape 29"/>
          <p:cNvSpPr/>
          <p:nvPr/>
        </p:nvSpPr>
        <p:spPr>
          <a:xfrm>
            <a:off x="4846320" y="2148840"/>
            <a:ext cx="640080" cy="365760"/>
          </a:xfrm>
          <a:prstGeom prst="rect">
            <a:avLst/>
          </a:prstGeom>
          <a:solidFill>
            <a:srgbClr val="1F2937"/>
          </a:solidFill>
          <a:ln/>
        </p:spPr>
      </p:sp>
      <p:sp>
        <p:nvSpPr>
          <p:cNvPr id="32" name="Text 30"/>
          <p:cNvSpPr/>
          <p:nvPr/>
        </p:nvSpPr>
        <p:spPr>
          <a:xfrm>
            <a:off x="4846320" y="214884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10.2</a:t>
            </a:r>
            <a:endParaRPr lang="en-US" sz="900" dirty="0"/>
          </a:p>
        </p:txBody>
      </p:sp>
      <p:sp>
        <p:nvSpPr>
          <p:cNvPr id="33" name="Shape 31"/>
          <p:cNvSpPr/>
          <p:nvPr/>
        </p:nvSpPr>
        <p:spPr>
          <a:xfrm>
            <a:off x="5486400" y="2148840"/>
            <a:ext cx="640080" cy="365760"/>
          </a:xfrm>
          <a:prstGeom prst="rect">
            <a:avLst/>
          </a:prstGeom>
          <a:solidFill>
            <a:srgbClr val="1F2937"/>
          </a:solidFill>
          <a:ln/>
        </p:spPr>
      </p:sp>
      <p:sp>
        <p:nvSpPr>
          <p:cNvPr id="34" name="Text 32"/>
          <p:cNvSpPr/>
          <p:nvPr/>
        </p:nvSpPr>
        <p:spPr>
          <a:xfrm>
            <a:off x="5486400" y="214884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35" name="Shape 33"/>
          <p:cNvSpPr/>
          <p:nvPr/>
        </p:nvSpPr>
        <p:spPr>
          <a:xfrm>
            <a:off x="6126480" y="2148840"/>
            <a:ext cx="2194560" cy="365760"/>
          </a:xfrm>
          <a:prstGeom prst="rect">
            <a:avLst/>
          </a:prstGeom>
          <a:solidFill>
            <a:srgbClr val="1F2937"/>
          </a:solidFill>
          <a:ln/>
        </p:spPr>
      </p:sp>
      <p:sp>
        <p:nvSpPr>
          <p:cNvPr id="36" name="Text 34"/>
          <p:cNvSpPr/>
          <p:nvPr/>
        </p:nvSpPr>
        <p:spPr>
          <a:xfrm>
            <a:off x="6126480" y="214884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Neutralized</a:t>
            </a:r>
            <a:endParaRPr lang="en-US" sz="900" dirty="0"/>
          </a:p>
        </p:txBody>
      </p:sp>
      <p:sp>
        <p:nvSpPr>
          <p:cNvPr id="37" name="Shape 35"/>
          <p:cNvSpPr/>
          <p:nvPr/>
        </p:nvSpPr>
        <p:spPr>
          <a:xfrm>
            <a:off x="8321040" y="2148840"/>
            <a:ext cx="1554480" cy="365760"/>
          </a:xfrm>
          <a:prstGeom prst="rect">
            <a:avLst/>
          </a:prstGeom>
          <a:solidFill>
            <a:srgbClr val="1F2937"/>
          </a:solidFill>
          <a:ln/>
        </p:spPr>
      </p:sp>
      <p:sp>
        <p:nvSpPr>
          <p:cNvPr id="38" name="Text 36"/>
          <p:cNvSpPr/>
          <p:nvPr/>
        </p:nvSpPr>
        <p:spPr>
          <a:xfrm>
            <a:off x="8321040" y="214884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39" name="Shape 37"/>
          <p:cNvSpPr/>
          <p:nvPr/>
        </p:nvSpPr>
        <p:spPr>
          <a:xfrm>
            <a:off x="457200" y="2514600"/>
            <a:ext cx="1463040" cy="365760"/>
          </a:xfrm>
          <a:prstGeom prst="rect">
            <a:avLst/>
          </a:prstGeom>
          <a:solidFill>
            <a:srgbClr val="111827"/>
          </a:solidFill>
          <a:ln/>
        </p:spPr>
      </p:sp>
      <p:sp>
        <p:nvSpPr>
          <p:cNvPr id="40" name="Text 38"/>
          <p:cNvSpPr/>
          <p:nvPr/>
        </p:nvSpPr>
        <p:spPr>
          <a:xfrm>
            <a:off x="457200" y="251460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RM-2025-002</a:t>
            </a:r>
            <a:endParaRPr lang="en-US" sz="900" dirty="0"/>
          </a:p>
        </p:txBody>
      </p:sp>
      <p:sp>
        <p:nvSpPr>
          <p:cNvPr id="41" name="Shape 39"/>
          <p:cNvSpPr/>
          <p:nvPr/>
        </p:nvSpPr>
        <p:spPr>
          <a:xfrm>
            <a:off x="1920240" y="2514600"/>
            <a:ext cx="1005840" cy="365760"/>
          </a:xfrm>
          <a:prstGeom prst="rect">
            <a:avLst/>
          </a:prstGeom>
          <a:solidFill>
            <a:srgbClr val="111827"/>
          </a:solidFill>
          <a:ln/>
        </p:spPr>
      </p:sp>
      <p:sp>
        <p:nvSpPr>
          <p:cNvPr id="42" name="Text 40"/>
          <p:cNvSpPr/>
          <p:nvPr/>
        </p:nvSpPr>
        <p:spPr>
          <a:xfrm>
            <a:off x="1920240" y="251460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2025-01-18</a:t>
            </a:r>
            <a:endParaRPr lang="en-US" sz="900" dirty="0"/>
          </a:p>
        </p:txBody>
      </p:sp>
      <p:sp>
        <p:nvSpPr>
          <p:cNvPr id="43" name="Shape 41"/>
          <p:cNvSpPr/>
          <p:nvPr/>
        </p:nvSpPr>
        <p:spPr>
          <a:xfrm>
            <a:off x="2926080" y="2514600"/>
            <a:ext cx="1005840" cy="365760"/>
          </a:xfrm>
          <a:prstGeom prst="rect">
            <a:avLst/>
          </a:prstGeom>
          <a:solidFill>
            <a:srgbClr val="111827"/>
          </a:solidFill>
          <a:ln/>
        </p:spPr>
      </p:sp>
      <p:sp>
        <p:nvSpPr>
          <p:cNvPr id="44" name="Text 42"/>
          <p:cNvSpPr/>
          <p:nvPr/>
        </p:nvSpPr>
        <p:spPr>
          <a:xfrm>
            <a:off x="2926080" y="251460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3,200</a:t>
            </a:r>
            <a:endParaRPr lang="en-US" sz="900" dirty="0"/>
          </a:p>
        </p:txBody>
      </p:sp>
      <p:sp>
        <p:nvSpPr>
          <p:cNvPr id="45" name="Shape 43"/>
          <p:cNvSpPr/>
          <p:nvPr/>
        </p:nvSpPr>
        <p:spPr>
          <a:xfrm>
            <a:off x="3931920" y="2514600"/>
            <a:ext cx="914400" cy="365760"/>
          </a:xfrm>
          <a:prstGeom prst="rect">
            <a:avLst/>
          </a:prstGeom>
          <a:solidFill>
            <a:srgbClr val="111827"/>
          </a:solidFill>
          <a:ln/>
        </p:spPr>
      </p:sp>
      <p:sp>
        <p:nvSpPr>
          <p:cNvPr id="46" name="Text 44"/>
          <p:cNvSpPr/>
          <p:nvPr/>
        </p:nvSpPr>
        <p:spPr>
          <a:xfrm>
            <a:off x="3931920" y="251460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31.2%</a:t>
            </a:r>
            <a:endParaRPr lang="en-US" sz="900" dirty="0"/>
          </a:p>
        </p:txBody>
      </p:sp>
      <p:sp>
        <p:nvSpPr>
          <p:cNvPr id="47" name="Shape 45"/>
          <p:cNvSpPr/>
          <p:nvPr/>
        </p:nvSpPr>
        <p:spPr>
          <a:xfrm>
            <a:off x="4846320" y="2514600"/>
            <a:ext cx="640080" cy="365760"/>
          </a:xfrm>
          <a:prstGeom prst="rect">
            <a:avLst/>
          </a:prstGeom>
          <a:solidFill>
            <a:srgbClr val="111827"/>
          </a:solidFill>
          <a:ln/>
        </p:spPr>
      </p:sp>
      <p:sp>
        <p:nvSpPr>
          <p:cNvPr id="48" name="Text 46"/>
          <p:cNvSpPr/>
          <p:nvPr/>
        </p:nvSpPr>
        <p:spPr>
          <a:xfrm>
            <a:off x="4846320" y="251460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11.1</a:t>
            </a:r>
            <a:endParaRPr lang="en-US" sz="900" dirty="0"/>
          </a:p>
        </p:txBody>
      </p:sp>
      <p:sp>
        <p:nvSpPr>
          <p:cNvPr id="49" name="Shape 47"/>
          <p:cNvSpPr/>
          <p:nvPr/>
        </p:nvSpPr>
        <p:spPr>
          <a:xfrm>
            <a:off x="5486400" y="2514600"/>
            <a:ext cx="640080" cy="365760"/>
          </a:xfrm>
          <a:prstGeom prst="rect">
            <a:avLst/>
          </a:prstGeom>
          <a:solidFill>
            <a:srgbClr val="111827"/>
          </a:solidFill>
          <a:ln/>
        </p:spPr>
      </p:sp>
      <p:sp>
        <p:nvSpPr>
          <p:cNvPr id="50" name="Text 48"/>
          <p:cNvSpPr/>
          <p:nvPr/>
        </p:nvSpPr>
        <p:spPr>
          <a:xfrm>
            <a:off x="5486400" y="251460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B</a:t>
            </a:r>
            <a:endParaRPr lang="en-US" sz="900" dirty="0"/>
          </a:p>
        </p:txBody>
      </p:sp>
      <p:sp>
        <p:nvSpPr>
          <p:cNvPr id="51" name="Shape 49"/>
          <p:cNvSpPr/>
          <p:nvPr/>
        </p:nvSpPr>
        <p:spPr>
          <a:xfrm>
            <a:off x="6126480" y="2514600"/>
            <a:ext cx="2194560" cy="365760"/>
          </a:xfrm>
          <a:prstGeom prst="rect">
            <a:avLst/>
          </a:prstGeom>
          <a:solidFill>
            <a:srgbClr val="111827"/>
          </a:solidFill>
          <a:ln/>
        </p:spPr>
      </p:sp>
      <p:sp>
        <p:nvSpPr>
          <p:cNvPr id="52" name="Text 50"/>
          <p:cNvSpPr/>
          <p:nvPr/>
        </p:nvSpPr>
        <p:spPr>
          <a:xfrm>
            <a:off x="6126480" y="251460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Partially Treated</a:t>
            </a:r>
            <a:endParaRPr lang="en-US" sz="900" dirty="0"/>
          </a:p>
        </p:txBody>
      </p:sp>
      <p:sp>
        <p:nvSpPr>
          <p:cNvPr id="53" name="Shape 51"/>
          <p:cNvSpPr/>
          <p:nvPr/>
        </p:nvSpPr>
        <p:spPr>
          <a:xfrm>
            <a:off x="8321040" y="2514600"/>
            <a:ext cx="1554480" cy="365760"/>
          </a:xfrm>
          <a:prstGeom prst="rect">
            <a:avLst/>
          </a:prstGeom>
          <a:solidFill>
            <a:srgbClr val="111827"/>
          </a:solidFill>
          <a:ln/>
        </p:spPr>
      </p:sp>
      <p:sp>
        <p:nvSpPr>
          <p:cNvPr id="54" name="Text 52"/>
          <p:cNvSpPr/>
          <p:nvPr/>
        </p:nvSpPr>
        <p:spPr>
          <a:xfrm>
            <a:off x="8321040" y="251460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55" name="Shape 53"/>
          <p:cNvSpPr/>
          <p:nvPr/>
        </p:nvSpPr>
        <p:spPr>
          <a:xfrm>
            <a:off x="457200" y="2880360"/>
            <a:ext cx="1463040" cy="365760"/>
          </a:xfrm>
          <a:prstGeom prst="rect">
            <a:avLst/>
          </a:prstGeom>
          <a:solidFill>
            <a:srgbClr val="1F2937"/>
          </a:solidFill>
          <a:ln/>
        </p:spPr>
      </p:sp>
      <p:sp>
        <p:nvSpPr>
          <p:cNvPr id="56" name="Text 54"/>
          <p:cNvSpPr/>
          <p:nvPr/>
        </p:nvSpPr>
        <p:spPr>
          <a:xfrm>
            <a:off x="457200" y="288036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RM-2025-003</a:t>
            </a:r>
            <a:endParaRPr lang="en-US" sz="900" dirty="0"/>
          </a:p>
        </p:txBody>
      </p:sp>
      <p:sp>
        <p:nvSpPr>
          <p:cNvPr id="57" name="Shape 55"/>
          <p:cNvSpPr/>
          <p:nvPr/>
        </p:nvSpPr>
        <p:spPr>
          <a:xfrm>
            <a:off x="1920240" y="2880360"/>
            <a:ext cx="1005840" cy="365760"/>
          </a:xfrm>
          <a:prstGeom prst="rect">
            <a:avLst/>
          </a:prstGeom>
          <a:solidFill>
            <a:srgbClr val="1F2937"/>
          </a:solidFill>
          <a:ln/>
        </p:spPr>
      </p:sp>
      <p:sp>
        <p:nvSpPr>
          <p:cNvPr id="58" name="Text 56"/>
          <p:cNvSpPr/>
          <p:nvPr/>
        </p:nvSpPr>
        <p:spPr>
          <a:xfrm>
            <a:off x="1920240" y="288036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2025-01-22</a:t>
            </a:r>
            <a:endParaRPr lang="en-US" sz="900" dirty="0"/>
          </a:p>
        </p:txBody>
      </p:sp>
      <p:sp>
        <p:nvSpPr>
          <p:cNvPr id="59" name="Shape 57"/>
          <p:cNvSpPr/>
          <p:nvPr/>
        </p:nvSpPr>
        <p:spPr>
          <a:xfrm>
            <a:off x="2926080" y="2880360"/>
            <a:ext cx="1005840" cy="365760"/>
          </a:xfrm>
          <a:prstGeom prst="rect">
            <a:avLst/>
          </a:prstGeom>
          <a:solidFill>
            <a:srgbClr val="1F2937"/>
          </a:solidFill>
          <a:ln/>
        </p:spPr>
      </p:sp>
      <p:sp>
        <p:nvSpPr>
          <p:cNvPr id="60" name="Text 58"/>
          <p:cNvSpPr/>
          <p:nvPr/>
        </p:nvSpPr>
        <p:spPr>
          <a:xfrm>
            <a:off x="2926080" y="288036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2,800</a:t>
            </a:r>
            <a:endParaRPr lang="en-US" sz="900" dirty="0"/>
          </a:p>
        </p:txBody>
      </p:sp>
      <p:sp>
        <p:nvSpPr>
          <p:cNvPr id="61" name="Shape 59"/>
          <p:cNvSpPr/>
          <p:nvPr/>
        </p:nvSpPr>
        <p:spPr>
          <a:xfrm>
            <a:off x="3931920" y="2880360"/>
            <a:ext cx="914400" cy="365760"/>
          </a:xfrm>
          <a:prstGeom prst="rect">
            <a:avLst/>
          </a:prstGeom>
          <a:solidFill>
            <a:srgbClr val="1F2937"/>
          </a:solidFill>
          <a:ln/>
        </p:spPr>
      </p:sp>
      <p:sp>
        <p:nvSpPr>
          <p:cNvPr id="62" name="Text 60"/>
          <p:cNvSpPr/>
          <p:nvPr/>
        </p:nvSpPr>
        <p:spPr>
          <a:xfrm>
            <a:off x="3931920" y="288036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25.8%</a:t>
            </a:r>
            <a:endParaRPr lang="en-US" sz="900" dirty="0"/>
          </a:p>
        </p:txBody>
      </p:sp>
      <p:sp>
        <p:nvSpPr>
          <p:cNvPr id="63" name="Shape 61"/>
          <p:cNvSpPr/>
          <p:nvPr/>
        </p:nvSpPr>
        <p:spPr>
          <a:xfrm>
            <a:off x="4846320" y="2880360"/>
            <a:ext cx="640080" cy="365760"/>
          </a:xfrm>
          <a:prstGeom prst="rect">
            <a:avLst/>
          </a:prstGeom>
          <a:solidFill>
            <a:srgbClr val="1F2937"/>
          </a:solidFill>
          <a:ln/>
        </p:spPr>
      </p:sp>
      <p:sp>
        <p:nvSpPr>
          <p:cNvPr id="64" name="Text 62"/>
          <p:cNvSpPr/>
          <p:nvPr/>
        </p:nvSpPr>
        <p:spPr>
          <a:xfrm>
            <a:off x="4846320" y="288036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9.8</a:t>
            </a:r>
            <a:endParaRPr lang="en-US" sz="900" dirty="0"/>
          </a:p>
        </p:txBody>
      </p:sp>
      <p:sp>
        <p:nvSpPr>
          <p:cNvPr id="65" name="Shape 63"/>
          <p:cNvSpPr/>
          <p:nvPr/>
        </p:nvSpPr>
        <p:spPr>
          <a:xfrm>
            <a:off x="5486400" y="2880360"/>
            <a:ext cx="640080" cy="365760"/>
          </a:xfrm>
          <a:prstGeom prst="rect">
            <a:avLst/>
          </a:prstGeom>
          <a:solidFill>
            <a:srgbClr val="1F2937"/>
          </a:solidFill>
          <a:ln/>
        </p:spPr>
      </p:sp>
      <p:sp>
        <p:nvSpPr>
          <p:cNvPr id="66" name="Text 64"/>
          <p:cNvSpPr/>
          <p:nvPr/>
        </p:nvSpPr>
        <p:spPr>
          <a:xfrm>
            <a:off x="5486400" y="288036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67" name="Shape 65"/>
          <p:cNvSpPr/>
          <p:nvPr/>
        </p:nvSpPr>
        <p:spPr>
          <a:xfrm>
            <a:off x="6126480" y="2880360"/>
            <a:ext cx="2194560" cy="365760"/>
          </a:xfrm>
          <a:prstGeom prst="rect">
            <a:avLst/>
          </a:prstGeom>
          <a:solidFill>
            <a:srgbClr val="1F2937"/>
          </a:solidFill>
          <a:ln/>
        </p:spPr>
      </p:sp>
      <p:sp>
        <p:nvSpPr>
          <p:cNvPr id="68" name="Text 66"/>
          <p:cNvSpPr/>
          <p:nvPr/>
        </p:nvSpPr>
        <p:spPr>
          <a:xfrm>
            <a:off x="6126480" y="288036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Neutralized</a:t>
            </a:r>
            <a:endParaRPr lang="en-US" sz="900" dirty="0"/>
          </a:p>
        </p:txBody>
      </p:sp>
      <p:sp>
        <p:nvSpPr>
          <p:cNvPr id="69" name="Shape 67"/>
          <p:cNvSpPr/>
          <p:nvPr/>
        </p:nvSpPr>
        <p:spPr>
          <a:xfrm>
            <a:off x="8321040" y="2880360"/>
            <a:ext cx="1554480" cy="365760"/>
          </a:xfrm>
          <a:prstGeom prst="rect">
            <a:avLst/>
          </a:prstGeom>
          <a:solidFill>
            <a:srgbClr val="1F2937"/>
          </a:solidFill>
          <a:ln/>
        </p:spPr>
      </p:sp>
      <p:sp>
        <p:nvSpPr>
          <p:cNvPr id="70" name="Text 68"/>
          <p:cNvSpPr/>
          <p:nvPr/>
        </p:nvSpPr>
        <p:spPr>
          <a:xfrm>
            <a:off x="8321040" y="288036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Reserved</a:t>
            </a:r>
            <a:endParaRPr lang="en-US" sz="900" dirty="0"/>
          </a:p>
        </p:txBody>
      </p:sp>
      <p:sp>
        <p:nvSpPr>
          <p:cNvPr id="71" name="Shape 69"/>
          <p:cNvSpPr/>
          <p:nvPr/>
        </p:nvSpPr>
        <p:spPr>
          <a:xfrm>
            <a:off x="457200" y="3246120"/>
            <a:ext cx="1463040" cy="365760"/>
          </a:xfrm>
          <a:prstGeom prst="rect">
            <a:avLst/>
          </a:prstGeom>
          <a:solidFill>
            <a:srgbClr val="111827"/>
          </a:solidFill>
          <a:ln/>
        </p:spPr>
      </p:sp>
      <p:sp>
        <p:nvSpPr>
          <p:cNvPr id="72" name="Text 70"/>
          <p:cNvSpPr/>
          <p:nvPr/>
        </p:nvSpPr>
        <p:spPr>
          <a:xfrm>
            <a:off x="457200" y="324612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RM-2025-004</a:t>
            </a:r>
            <a:endParaRPr lang="en-US" sz="900" dirty="0"/>
          </a:p>
        </p:txBody>
      </p:sp>
      <p:sp>
        <p:nvSpPr>
          <p:cNvPr id="73" name="Shape 71"/>
          <p:cNvSpPr/>
          <p:nvPr/>
        </p:nvSpPr>
        <p:spPr>
          <a:xfrm>
            <a:off x="1920240" y="3246120"/>
            <a:ext cx="1005840" cy="365760"/>
          </a:xfrm>
          <a:prstGeom prst="rect">
            <a:avLst/>
          </a:prstGeom>
          <a:solidFill>
            <a:srgbClr val="111827"/>
          </a:solidFill>
          <a:ln/>
        </p:spPr>
      </p:sp>
      <p:sp>
        <p:nvSpPr>
          <p:cNvPr id="74" name="Text 72"/>
          <p:cNvSpPr/>
          <p:nvPr/>
        </p:nvSpPr>
        <p:spPr>
          <a:xfrm>
            <a:off x="1920240" y="324612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2025-02-01</a:t>
            </a:r>
            <a:endParaRPr lang="en-US" sz="900" dirty="0"/>
          </a:p>
        </p:txBody>
      </p:sp>
      <p:sp>
        <p:nvSpPr>
          <p:cNvPr id="75" name="Shape 73"/>
          <p:cNvSpPr/>
          <p:nvPr/>
        </p:nvSpPr>
        <p:spPr>
          <a:xfrm>
            <a:off x="2926080" y="3246120"/>
            <a:ext cx="1005840" cy="365760"/>
          </a:xfrm>
          <a:prstGeom prst="rect">
            <a:avLst/>
          </a:prstGeom>
          <a:solidFill>
            <a:srgbClr val="111827"/>
          </a:solidFill>
          <a:ln/>
        </p:spPr>
      </p:sp>
      <p:sp>
        <p:nvSpPr>
          <p:cNvPr id="76" name="Text 74"/>
          <p:cNvSpPr/>
          <p:nvPr/>
        </p:nvSpPr>
        <p:spPr>
          <a:xfrm>
            <a:off x="2926080" y="324612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5,100</a:t>
            </a:r>
            <a:endParaRPr lang="en-US" sz="900" dirty="0"/>
          </a:p>
        </p:txBody>
      </p:sp>
      <p:sp>
        <p:nvSpPr>
          <p:cNvPr id="77" name="Shape 75"/>
          <p:cNvSpPr/>
          <p:nvPr/>
        </p:nvSpPr>
        <p:spPr>
          <a:xfrm>
            <a:off x="3931920" y="3246120"/>
            <a:ext cx="914400" cy="365760"/>
          </a:xfrm>
          <a:prstGeom prst="rect">
            <a:avLst/>
          </a:prstGeom>
          <a:solidFill>
            <a:srgbClr val="111827"/>
          </a:solidFill>
          <a:ln/>
        </p:spPr>
      </p:sp>
      <p:sp>
        <p:nvSpPr>
          <p:cNvPr id="78" name="Text 76"/>
          <p:cNvSpPr/>
          <p:nvPr/>
        </p:nvSpPr>
        <p:spPr>
          <a:xfrm>
            <a:off x="3931920" y="324612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33.1%</a:t>
            </a:r>
            <a:endParaRPr lang="en-US" sz="900" dirty="0"/>
          </a:p>
        </p:txBody>
      </p:sp>
      <p:sp>
        <p:nvSpPr>
          <p:cNvPr id="79" name="Shape 77"/>
          <p:cNvSpPr/>
          <p:nvPr/>
        </p:nvSpPr>
        <p:spPr>
          <a:xfrm>
            <a:off x="4846320" y="3246120"/>
            <a:ext cx="640080" cy="365760"/>
          </a:xfrm>
          <a:prstGeom prst="rect">
            <a:avLst/>
          </a:prstGeom>
          <a:solidFill>
            <a:srgbClr val="111827"/>
          </a:solidFill>
          <a:ln/>
        </p:spPr>
      </p:sp>
      <p:sp>
        <p:nvSpPr>
          <p:cNvPr id="80" name="Text 78"/>
          <p:cNvSpPr/>
          <p:nvPr/>
        </p:nvSpPr>
        <p:spPr>
          <a:xfrm>
            <a:off x="4846320" y="324612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11.5</a:t>
            </a:r>
            <a:endParaRPr lang="en-US" sz="900" dirty="0"/>
          </a:p>
        </p:txBody>
      </p:sp>
      <p:sp>
        <p:nvSpPr>
          <p:cNvPr id="81" name="Shape 79"/>
          <p:cNvSpPr/>
          <p:nvPr/>
        </p:nvSpPr>
        <p:spPr>
          <a:xfrm>
            <a:off x="5486400" y="3246120"/>
            <a:ext cx="640080" cy="365760"/>
          </a:xfrm>
          <a:prstGeom prst="rect">
            <a:avLst/>
          </a:prstGeom>
          <a:solidFill>
            <a:srgbClr val="111827"/>
          </a:solidFill>
          <a:ln/>
        </p:spPr>
      </p:sp>
      <p:sp>
        <p:nvSpPr>
          <p:cNvPr id="82" name="Text 80"/>
          <p:cNvSpPr/>
          <p:nvPr/>
        </p:nvSpPr>
        <p:spPr>
          <a:xfrm>
            <a:off x="5486400" y="324612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C</a:t>
            </a:r>
            <a:endParaRPr lang="en-US" sz="900" dirty="0"/>
          </a:p>
        </p:txBody>
      </p:sp>
      <p:sp>
        <p:nvSpPr>
          <p:cNvPr id="83" name="Shape 81"/>
          <p:cNvSpPr/>
          <p:nvPr/>
        </p:nvSpPr>
        <p:spPr>
          <a:xfrm>
            <a:off x="6126480" y="3246120"/>
            <a:ext cx="2194560" cy="365760"/>
          </a:xfrm>
          <a:prstGeom prst="rect">
            <a:avLst/>
          </a:prstGeom>
          <a:solidFill>
            <a:srgbClr val="111827"/>
          </a:solidFill>
          <a:ln/>
        </p:spPr>
      </p:sp>
      <p:sp>
        <p:nvSpPr>
          <p:cNvPr id="84" name="Text 82"/>
          <p:cNvSpPr/>
          <p:nvPr/>
        </p:nvSpPr>
        <p:spPr>
          <a:xfrm>
            <a:off x="6126480" y="324612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Raw</a:t>
            </a:r>
            <a:endParaRPr lang="en-US" sz="900" dirty="0"/>
          </a:p>
        </p:txBody>
      </p:sp>
      <p:sp>
        <p:nvSpPr>
          <p:cNvPr id="85" name="Shape 83"/>
          <p:cNvSpPr/>
          <p:nvPr/>
        </p:nvSpPr>
        <p:spPr>
          <a:xfrm>
            <a:off x="8321040" y="3246120"/>
            <a:ext cx="1554480" cy="365760"/>
          </a:xfrm>
          <a:prstGeom prst="rect">
            <a:avLst/>
          </a:prstGeom>
          <a:solidFill>
            <a:srgbClr val="111827"/>
          </a:solidFill>
          <a:ln/>
        </p:spPr>
      </p:sp>
      <p:sp>
        <p:nvSpPr>
          <p:cNvPr id="86" name="Text 84"/>
          <p:cNvSpPr/>
          <p:nvPr/>
        </p:nvSpPr>
        <p:spPr>
          <a:xfrm>
            <a:off x="8321040" y="324612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87" name="Shape 85"/>
          <p:cNvSpPr/>
          <p:nvPr/>
        </p:nvSpPr>
        <p:spPr>
          <a:xfrm>
            <a:off x="457200" y="3611880"/>
            <a:ext cx="1463040" cy="365760"/>
          </a:xfrm>
          <a:prstGeom prst="rect">
            <a:avLst/>
          </a:prstGeom>
          <a:solidFill>
            <a:srgbClr val="1F2937"/>
          </a:solidFill>
          <a:ln/>
        </p:spPr>
      </p:sp>
      <p:sp>
        <p:nvSpPr>
          <p:cNvPr id="88" name="Text 86"/>
          <p:cNvSpPr/>
          <p:nvPr/>
        </p:nvSpPr>
        <p:spPr>
          <a:xfrm>
            <a:off x="457200" y="361188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RM-2025-005</a:t>
            </a:r>
            <a:endParaRPr lang="en-US" sz="900" dirty="0"/>
          </a:p>
        </p:txBody>
      </p:sp>
      <p:sp>
        <p:nvSpPr>
          <p:cNvPr id="89" name="Shape 87"/>
          <p:cNvSpPr/>
          <p:nvPr/>
        </p:nvSpPr>
        <p:spPr>
          <a:xfrm>
            <a:off x="1920240" y="3611880"/>
            <a:ext cx="1005840" cy="365760"/>
          </a:xfrm>
          <a:prstGeom prst="rect">
            <a:avLst/>
          </a:prstGeom>
          <a:solidFill>
            <a:srgbClr val="1F2937"/>
          </a:solidFill>
          <a:ln/>
        </p:spPr>
      </p:sp>
      <p:sp>
        <p:nvSpPr>
          <p:cNvPr id="90" name="Text 88"/>
          <p:cNvSpPr/>
          <p:nvPr/>
        </p:nvSpPr>
        <p:spPr>
          <a:xfrm>
            <a:off x="1920240" y="361188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2025-02-08</a:t>
            </a:r>
            <a:endParaRPr lang="en-US" sz="900" dirty="0"/>
          </a:p>
        </p:txBody>
      </p:sp>
      <p:sp>
        <p:nvSpPr>
          <p:cNvPr id="91" name="Shape 89"/>
          <p:cNvSpPr/>
          <p:nvPr/>
        </p:nvSpPr>
        <p:spPr>
          <a:xfrm>
            <a:off x="2926080" y="3611880"/>
            <a:ext cx="1005840" cy="365760"/>
          </a:xfrm>
          <a:prstGeom prst="rect">
            <a:avLst/>
          </a:prstGeom>
          <a:solidFill>
            <a:srgbClr val="1F2937"/>
          </a:solidFill>
          <a:ln/>
        </p:spPr>
      </p:sp>
      <p:sp>
        <p:nvSpPr>
          <p:cNvPr id="92" name="Text 90"/>
          <p:cNvSpPr/>
          <p:nvPr/>
        </p:nvSpPr>
        <p:spPr>
          <a:xfrm>
            <a:off x="2926080" y="361188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3,900</a:t>
            </a:r>
            <a:endParaRPr lang="en-US" sz="900" dirty="0"/>
          </a:p>
        </p:txBody>
      </p:sp>
      <p:sp>
        <p:nvSpPr>
          <p:cNvPr id="93" name="Shape 91"/>
          <p:cNvSpPr/>
          <p:nvPr/>
        </p:nvSpPr>
        <p:spPr>
          <a:xfrm>
            <a:off x="3931920" y="3611880"/>
            <a:ext cx="914400" cy="365760"/>
          </a:xfrm>
          <a:prstGeom prst="rect">
            <a:avLst/>
          </a:prstGeom>
          <a:solidFill>
            <a:srgbClr val="1F2937"/>
          </a:solidFill>
          <a:ln/>
        </p:spPr>
      </p:sp>
      <p:sp>
        <p:nvSpPr>
          <p:cNvPr id="94" name="Text 92"/>
          <p:cNvSpPr/>
          <p:nvPr/>
        </p:nvSpPr>
        <p:spPr>
          <a:xfrm>
            <a:off x="3931920" y="361188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27.4%</a:t>
            </a:r>
            <a:endParaRPr lang="en-US" sz="900" dirty="0"/>
          </a:p>
        </p:txBody>
      </p:sp>
      <p:sp>
        <p:nvSpPr>
          <p:cNvPr id="95" name="Shape 93"/>
          <p:cNvSpPr/>
          <p:nvPr/>
        </p:nvSpPr>
        <p:spPr>
          <a:xfrm>
            <a:off x="4846320" y="3611880"/>
            <a:ext cx="640080" cy="365760"/>
          </a:xfrm>
          <a:prstGeom prst="rect">
            <a:avLst/>
          </a:prstGeom>
          <a:solidFill>
            <a:srgbClr val="1F2937"/>
          </a:solidFill>
          <a:ln/>
        </p:spPr>
      </p:sp>
      <p:sp>
        <p:nvSpPr>
          <p:cNvPr id="96" name="Text 94"/>
          <p:cNvSpPr/>
          <p:nvPr/>
        </p:nvSpPr>
        <p:spPr>
          <a:xfrm>
            <a:off x="4846320" y="361188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10</a:t>
            </a:r>
            <a:endParaRPr lang="en-US" sz="900" dirty="0"/>
          </a:p>
        </p:txBody>
      </p:sp>
      <p:sp>
        <p:nvSpPr>
          <p:cNvPr id="97" name="Shape 95"/>
          <p:cNvSpPr/>
          <p:nvPr/>
        </p:nvSpPr>
        <p:spPr>
          <a:xfrm>
            <a:off x="5486400" y="3611880"/>
            <a:ext cx="640080" cy="365760"/>
          </a:xfrm>
          <a:prstGeom prst="rect">
            <a:avLst/>
          </a:prstGeom>
          <a:solidFill>
            <a:srgbClr val="1F2937"/>
          </a:solidFill>
          <a:ln/>
        </p:spPr>
      </p:sp>
      <p:sp>
        <p:nvSpPr>
          <p:cNvPr id="98" name="Text 96"/>
          <p:cNvSpPr/>
          <p:nvPr/>
        </p:nvSpPr>
        <p:spPr>
          <a:xfrm>
            <a:off x="5486400" y="361188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99" name="Shape 97"/>
          <p:cNvSpPr/>
          <p:nvPr/>
        </p:nvSpPr>
        <p:spPr>
          <a:xfrm>
            <a:off x="6126480" y="3611880"/>
            <a:ext cx="2194560" cy="365760"/>
          </a:xfrm>
          <a:prstGeom prst="rect">
            <a:avLst/>
          </a:prstGeom>
          <a:solidFill>
            <a:srgbClr val="1F2937"/>
          </a:solidFill>
          <a:ln/>
        </p:spPr>
      </p:sp>
      <p:sp>
        <p:nvSpPr>
          <p:cNvPr id="100" name="Text 98"/>
          <p:cNvSpPr/>
          <p:nvPr/>
        </p:nvSpPr>
        <p:spPr>
          <a:xfrm>
            <a:off x="6126480" y="361188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Neutralized</a:t>
            </a:r>
            <a:endParaRPr lang="en-US" sz="900" dirty="0"/>
          </a:p>
        </p:txBody>
      </p:sp>
      <p:sp>
        <p:nvSpPr>
          <p:cNvPr id="101" name="Shape 99"/>
          <p:cNvSpPr/>
          <p:nvPr/>
        </p:nvSpPr>
        <p:spPr>
          <a:xfrm>
            <a:off x="8321040" y="3611880"/>
            <a:ext cx="1554480" cy="365760"/>
          </a:xfrm>
          <a:prstGeom prst="rect">
            <a:avLst/>
          </a:prstGeom>
          <a:solidFill>
            <a:srgbClr val="1F2937"/>
          </a:solidFill>
          <a:ln/>
        </p:spPr>
      </p:sp>
      <p:sp>
        <p:nvSpPr>
          <p:cNvPr id="102" name="Text 100"/>
          <p:cNvSpPr/>
          <p:nvPr/>
        </p:nvSpPr>
        <p:spPr>
          <a:xfrm>
            <a:off x="8321040" y="361188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In Transit</a:t>
            </a:r>
            <a:endParaRPr lang="en-US" sz="900" dirty="0"/>
          </a:p>
        </p:txBody>
      </p:sp>
      <p:sp>
        <p:nvSpPr>
          <p:cNvPr id="103" name="Shape 101"/>
          <p:cNvSpPr/>
          <p:nvPr/>
        </p:nvSpPr>
        <p:spPr>
          <a:xfrm>
            <a:off x="457200" y="3977640"/>
            <a:ext cx="1463040" cy="365760"/>
          </a:xfrm>
          <a:prstGeom prst="rect">
            <a:avLst/>
          </a:prstGeom>
          <a:solidFill>
            <a:srgbClr val="111827"/>
          </a:solidFill>
          <a:ln/>
        </p:spPr>
      </p:sp>
      <p:sp>
        <p:nvSpPr>
          <p:cNvPr id="104" name="Text 102"/>
          <p:cNvSpPr/>
          <p:nvPr/>
        </p:nvSpPr>
        <p:spPr>
          <a:xfrm>
            <a:off x="457200" y="397764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RM-2025-006</a:t>
            </a:r>
            <a:endParaRPr lang="en-US" sz="900" dirty="0"/>
          </a:p>
        </p:txBody>
      </p:sp>
      <p:sp>
        <p:nvSpPr>
          <p:cNvPr id="105" name="Shape 103"/>
          <p:cNvSpPr/>
          <p:nvPr/>
        </p:nvSpPr>
        <p:spPr>
          <a:xfrm>
            <a:off x="1920240" y="3977640"/>
            <a:ext cx="1005840" cy="365760"/>
          </a:xfrm>
          <a:prstGeom prst="rect">
            <a:avLst/>
          </a:prstGeom>
          <a:solidFill>
            <a:srgbClr val="111827"/>
          </a:solidFill>
          <a:ln/>
        </p:spPr>
      </p:sp>
      <p:sp>
        <p:nvSpPr>
          <p:cNvPr id="106" name="Text 104"/>
          <p:cNvSpPr/>
          <p:nvPr/>
        </p:nvSpPr>
        <p:spPr>
          <a:xfrm>
            <a:off x="1920240" y="397764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2025-02-14</a:t>
            </a:r>
            <a:endParaRPr lang="en-US" sz="900" dirty="0"/>
          </a:p>
        </p:txBody>
      </p:sp>
      <p:sp>
        <p:nvSpPr>
          <p:cNvPr id="107" name="Shape 105"/>
          <p:cNvSpPr/>
          <p:nvPr/>
        </p:nvSpPr>
        <p:spPr>
          <a:xfrm>
            <a:off x="2926080" y="3977640"/>
            <a:ext cx="1005840" cy="365760"/>
          </a:xfrm>
          <a:prstGeom prst="rect">
            <a:avLst/>
          </a:prstGeom>
          <a:solidFill>
            <a:srgbClr val="111827"/>
          </a:solidFill>
          <a:ln/>
        </p:spPr>
      </p:sp>
      <p:sp>
        <p:nvSpPr>
          <p:cNvPr id="108" name="Text 106"/>
          <p:cNvSpPr/>
          <p:nvPr/>
        </p:nvSpPr>
        <p:spPr>
          <a:xfrm>
            <a:off x="2926080" y="397764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2,200</a:t>
            </a:r>
            <a:endParaRPr lang="en-US" sz="900" dirty="0"/>
          </a:p>
        </p:txBody>
      </p:sp>
      <p:sp>
        <p:nvSpPr>
          <p:cNvPr id="109" name="Shape 107"/>
          <p:cNvSpPr/>
          <p:nvPr/>
        </p:nvSpPr>
        <p:spPr>
          <a:xfrm>
            <a:off x="3931920" y="3977640"/>
            <a:ext cx="914400" cy="365760"/>
          </a:xfrm>
          <a:prstGeom prst="rect">
            <a:avLst/>
          </a:prstGeom>
          <a:solidFill>
            <a:srgbClr val="111827"/>
          </a:solidFill>
          <a:ln/>
        </p:spPr>
      </p:sp>
      <p:sp>
        <p:nvSpPr>
          <p:cNvPr id="110" name="Text 108"/>
          <p:cNvSpPr/>
          <p:nvPr/>
        </p:nvSpPr>
        <p:spPr>
          <a:xfrm>
            <a:off x="3931920" y="397764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29.7%</a:t>
            </a:r>
            <a:endParaRPr lang="en-US" sz="900" dirty="0"/>
          </a:p>
        </p:txBody>
      </p:sp>
      <p:sp>
        <p:nvSpPr>
          <p:cNvPr id="111" name="Shape 109"/>
          <p:cNvSpPr/>
          <p:nvPr/>
        </p:nvSpPr>
        <p:spPr>
          <a:xfrm>
            <a:off x="4846320" y="3977640"/>
            <a:ext cx="640080" cy="365760"/>
          </a:xfrm>
          <a:prstGeom prst="rect">
            <a:avLst/>
          </a:prstGeom>
          <a:solidFill>
            <a:srgbClr val="111827"/>
          </a:solidFill>
          <a:ln/>
        </p:spPr>
      </p:sp>
      <p:sp>
        <p:nvSpPr>
          <p:cNvPr id="112" name="Text 110"/>
          <p:cNvSpPr/>
          <p:nvPr/>
        </p:nvSpPr>
        <p:spPr>
          <a:xfrm>
            <a:off x="4846320" y="397764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10.8</a:t>
            </a:r>
            <a:endParaRPr lang="en-US" sz="900" dirty="0"/>
          </a:p>
        </p:txBody>
      </p:sp>
      <p:sp>
        <p:nvSpPr>
          <p:cNvPr id="113" name="Shape 111"/>
          <p:cNvSpPr/>
          <p:nvPr/>
        </p:nvSpPr>
        <p:spPr>
          <a:xfrm>
            <a:off x="5486400" y="3977640"/>
            <a:ext cx="640080" cy="365760"/>
          </a:xfrm>
          <a:prstGeom prst="rect">
            <a:avLst/>
          </a:prstGeom>
          <a:solidFill>
            <a:srgbClr val="111827"/>
          </a:solidFill>
          <a:ln/>
        </p:spPr>
      </p:sp>
      <p:sp>
        <p:nvSpPr>
          <p:cNvPr id="114" name="Text 112"/>
          <p:cNvSpPr/>
          <p:nvPr/>
        </p:nvSpPr>
        <p:spPr>
          <a:xfrm>
            <a:off x="5486400" y="397764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B</a:t>
            </a:r>
            <a:endParaRPr lang="en-US" sz="900" dirty="0"/>
          </a:p>
        </p:txBody>
      </p:sp>
      <p:sp>
        <p:nvSpPr>
          <p:cNvPr id="115" name="Shape 113"/>
          <p:cNvSpPr/>
          <p:nvPr/>
        </p:nvSpPr>
        <p:spPr>
          <a:xfrm>
            <a:off x="6126480" y="3977640"/>
            <a:ext cx="2194560" cy="365760"/>
          </a:xfrm>
          <a:prstGeom prst="rect">
            <a:avLst/>
          </a:prstGeom>
          <a:solidFill>
            <a:srgbClr val="111827"/>
          </a:solidFill>
          <a:ln/>
        </p:spPr>
      </p:sp>
      <p:sp>
        <p:nvSpPr>
          <p:cNvPr id="116" name="Text 114"/>
          <p:cNvSpPr/>
          <p:nvPr/>
        </p:nvSpPr>
        <p:spPr>
          <a:xfrm>
            <a:off x="6126480" y="397764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Partially Treated</a:t>
            </a:r>
            <a:endParaRPr lang="en-US" sz="900" dirty="0"/>
          </a:p>
        </p:txBody>
      </p:sp>
      <p:sp>
        <p:nvSpPr>
          <p:cNvPr id="117" name="Shape 115"/>
          <p:cNvSpPr/>
          <p:nvPr/>
        </p:nvSpPr>
        <p:spPr>
          <a:xfrm>
            <a:off x="8321040" y="3977640"/>
            <a:ext cx="1554480" cy="365760"/>
          </a:xfrm>
          <a:prstGeom prst="rect">
            <a:avLst/>
          </a:prstGeom>
          <a:solidFill>
            <a:srgbClr val="111827"/>
          </a:solidFill>
          <a:ln/>
        </p:spPr>
      </p:sp>
      <p:sp>
        <p:nvSpPr>
          <p:cNvPr id="118" name="Text 116"/>
          <p:cNvSpPr/>
          <p:nvPr/>
        </p:nvSpPr>
        <p:spPr>
          <a:xfrm>
            <a:off x="8321040" y="397764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Delivered</a:t>
            </a:r>
            <a:endParaRPr lang="en-US" sz="900" dirty="0"/>
          </a:p>
        </p:txBody>
      </p:sp>
      <p:sp>
        <p:nvSpPr>
          <p:cNvPr id="119" name="Shape 117"/>
          <p:cNvSpPr/>
          <p:nvPr/>
        </p:nvSpPr>
        <p:spPr>
          <a:xfrm>
            <a:off x="457200" y="4343400"/>
            <a:ext cx="1463040" cy="365760"/>
          </a:xfrm>
          <a:prstGeom prst="rect">
            <a:avLst/>
          </a:prstGeom>
          <a:solidFill>
            <a:srgbClr val="1F2937"/>
          </a:solidFill>
          <a:ln/>
        </p:spPr>
      </p:sp>
      <p:sp>
        <p:nvSpPr>
          <p:cNvPr id="120" name="Text 118"/>
          <p:cNvSpPr/>
          <p:nvPr/>
        </p:nvSpPr>
        <p:spPr>
          <a:xfrm>
            <a:off x="457200" y="434340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RM-2025-007</a:t>
            </a:r>
            <a:endParaRPr lang="en-US" sz="900" dirty="0"/>
          </a:p>
        </p:txBody>
      </p:sp>
      <p:sp>
        <p:nvSpPr>
          <p:cNvPr id="121" name="Shape 119"/>
          <p:cNvSpPr/>
          <p:nvPr/>
        </p:nvSpPr>
        <p:spPr>
          <a:xfrm>
            <a:off x="1920240" y="4343400"/>
            <a:ext cx="1005840" cy="365760"/>
          </a:xfrm>
          <a:prstGeom prst="rect">
            <a:avLst/>
          </a:prstGeom>
          <a:solidFill>
            <a:srgbClr val="1F2937"/>
          </a:solidFill>
          <a:ln/>
        </p:spPr>
      </p:sp>
      <p:sp>
        <p:nvSpPr>
          <p:cNvPr id="122" name="Text 120"/>
          <p:cNvSpPr/>
          <p:nvPr/>
        </p:nvSpPr>
        <p:spPr>
          <a:xfrm>
            <a:off x="1920240" y="434340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2025-02-20</a:t>
            </a:r>
            <a:endParaRPr lang="en-US" sz="900" dirty="0"/>
          </a:p>
        </p:txBody>
      </p:sp>
      <p:sp>
        <p:nvSpPr>
          <p:cNvPr id="123" name="Shape 121"/>
          <p:cNvSpPr/>
          <p:nvPr/>
        </p:nvSpPr>
        <p:spPr>
          <a:xfrm>
            <a:off x="2926080" y="4343400"/>
            <a:ext cx="1005840" cy="365760"/>
          </a:xfrm>
          <a:prstGeom prst="rect">
            <a:avLst/>
          </a:prstGeom>
          <a:solidFill>
            <a:srgbClr val="1F2937"/>
          </a:solidFill>
          <a:ln/>
        </p:spPr>
      </p:sp>
      <p:sp>
        <p:nvSpPr>
          <p:cNvPr id="124" name="Text 122"/>
          <p:cNvSpPr/>
          <p:nvPr/>
        </p:nvSpPr>
        <p:spPr>
          <a:xfrm>
            <a:off x="2926080" y="434340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6,700</a:t>
            </a:r>
            <a:endParaRPr lang="en-US" sz="900" dirty="0"/>
          </a:p>
        </p:txBody>
      </p:sp>
      <p:sp>
        <p:nvSpPr>
          <p:cNvPr id="125" name="Shape 123"/>
          <p:cNvSpPr/>
          <p:nvPr/>
        </p:nvSpPr>
        <p:spPr>
          <a:xfrm>
            <a:off x="3931920" y="4343400"/>
            <a:ext cx="914400" cy="365760"/>
          </a:xfrm>
          <a:prstGeom prst="rect">
            <a:avLst/>
          </a:prstGeom>
          <a:solidFill>
            <a:srgbClr val="1F2937"/>
          </a:solidFill>
          <a:ln/>
        </p:spPr>
      </p:sp>
      <p:sp>
        <p:nvSpPr>
          <p:cNvPr id="126" name="Text 124"/>
          <p:cNvSpPr/>
          <p:nvPr/>
        </p:nvSpPr>
        <p:spPr>
          <a:xfrm>
            <a:off x="3931920" y="434340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26.3%</a:t>
            </a:r>
            <a:endParaRPr lang="en-US" sz="900" dirty="0"/>
          </a:p>
        </p:txBody>
      </p:sp>
      <p:sp>
        <p:nvSpPr>
          <p:cNvPr id="127" name="Shape 125"/>
          <p:cNvSpPr/>
          <p:nvPr/>
        </p:nvSpPr>
        <p:spPr>
          <a:xfrm>
            <a:off x="4846320" y="4343400"/>
            <a:ext cx="640080" cy="365760"/>
          </a:xfrm>
          <a:prstGeom prst="rect">
            <a:avLst/>
          </a:prstGeom>
          <a:solidFill>
            <a:srgbClr val="1F2937"/>
          </a:solidFill>
          <a:ln/>
        </p:spPr>
      </p:sp>
      <p:sp>
        <p:nvSpPr>
          <p:cNvPr id="128" name="Text 126"/>
          <p:cNvSpPr/>
          <p:nvPr/>
        </p:nvSpPr>
        <p:spPr>
          <a:xfrm>
            <a:off x="4846320" y="434340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9.5</a:t>
            </a:r>
            <a:endParaRPr lang="en-US" sz="900" dirty="0"/>
          </a:p>
        </p:txBody>
      </p:sp>
      <p:sp>
        <p:nvSpPr>
          <p:cNvPr id="129" name="Shape 127"/>
          <p:cNvSpPr/>
          <p:nvPr/>
        </p:nvSpPr>
        <p:spPr>
          <a:xfrm>
            <a:off x="5486400" y="4343400"/>
            <a:ext cx="640080" cy="365760"/>
          </a:xfrm>
          <a:prstGeom prst="rect">
            <a:avLst/>
          </a:prstGeom>
          <a:solidFill>
            <a:srgbClr val="1F2937"/>
          </a:solidFill>
          <a:ln/>
        </p:spPr>
      </p:sp>
      <p:sp>
        <p:nvSpPr>
          <p:cNvPr id="130" name="Text 128"/>
          <p:cNvSpPr/>
          <p:nvPr/>
        </p:nvSpPr>
        <p:spPr>
          <a:xfrm>
            <a:off x="5486400" y="434340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131" name="Shape 129"/>
          <p:cNvSpPr/>
          <p:nvPr/>
        </p:nvSpPr>
        <p:spPr>
          <a:xfrm>
            <a:off x="6126480" y="4343400"/>
            <a:ext cx="2194560" cy="365760"/>
          </a:xfrm>
          <a:prstGeom prst="rect">
            <a:avLst/>
          </a:prstGeom>
          <a:solidFill>
            <a:srgbClr val="1F2937"/>
          </a:solidFill>
          <a:ln/>
        </p:spPr>
      </p:sp>
      <p:sp>
        <p:nvSpPr>
          <p:cNvPr id="132" name="Text 130"/>
          <p:cNvSpPr/>
          <p:nvPr/>
        </p:nvSpPr>
        <p:spPr>
          <a:xfrm>
            <a:off x="6126480" y="434340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Neutralized</a:t>
            </a:r>
            <a:endParaRPr lang="en-US" sz="900" dirty="0"/>
          </a:p>
        </p:txBody>
      </p:sp>
      <p:sp>
        <p:nvSpPr>
          <p:cNvPr id="133" name="Shape 131"/>
          <p:cNvSpPr/>
          <p:nvPr/>
        </p:nvSpPr>
        <p:spPr>
          <a:xfrm>
            <a:off x="8321040" y="4343400"/>
            <a:ext cx="1554480" cy="365760"/>
          </a:xfrm>
          <a:prstGeom prst="rect">
            <a:avLst/>
          </a:prstGeom>
          <a:solidFill>
            <a:srgbClr val="1F2937"/>
          </a:solidFill>
          <a:ln/>
        </p:spPr>
      </p:sp>
      <p:sp>
        <p:nvSpPr>
          <p:cNvPr id="134" name="Text 132"/>
          <p:cNvSpPr/>
          <p:nvPr/>
        </p:nvSpPr>
        <p:spPr>
          <a:xfrm>
            <a:off x="8321040" y="434340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135" name="Shape 133"/>
          <p:cNvSpPr/>
          <p:nvPr/>
        </p:nvSpPr>
        <p:spPr>
          <a:xfrm>
            <a:off x="457200" y="4709160"/>
            <a:ext cx="1463040" cy="365760"/>
          </a:xfrm>
          <a:prstGeom prst="rect">
            <a:avLst/>
          </a:prstGeom>
          <a:solidFill>
            <a:srgbClr val="111827"/>
          </a:solidFill>
          <a:ln/>
        </p:spPr>
      </p:sp>
      <p:sp>
        <p:nvSpPr>
          <p:cNvPr id="136" name="Text 134"/>
          <p:cNvSpPr/>
          <p:nvPr/>
        </p:nvSpPr>
        <p:spPr>
          <a:xfrm>
            <a:off x="457200" y="470916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RM-2025-008</a:t>
            </a:r>
            <a:endParaRPr lang="en-US" sz="900" dirty="0"/>
          </a:p>
        </p:txBody>
      </p:sp>
      <p:sp>
        <p:nvSpPr>
          <p:cNvPr id="137" name="Shape 135"/>
          <p:cNvSpPr/>
          <p:nvPr/>
        </p:nvSpPr>
        <p:spPr>
          <a:xfrm>
            <a:off x="1920240" y="4709160"/>
            <a:ext cx="1005840" cy="365760"/>
          </a:xfrm>
          <a:prstGeom prst="rect">
            <a:avLst/>
          </a:prstGeom>
          <a:solidFill>
            <a:srgbClr val="111827"/>
          </a:solidFill>
          <a:ln/>
        </p:spPr>
      </p:sp>
      <p:sp>
        <p:nvSpPr>
          <p:cNvPr id="138" name="Text 136"/>
          <p:cNvSpPr/>
          <p:nvPr/>
        </p:nvSpPr>
        <p:spPr>
          <a:xfrm>
            <a:off x="1920240" y="470916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2025-03-01</a:t>
            </a:r>
            <a:endParaRPr lang="en-US" sz="900" dirty="0"/>
          </a:p>
        </p:txBody>
      </p:sp>
      <p:sp>
        <p:nvSpPr>
          <p:cNvPr id="139" name="Shape 137"/>
          <p:cNvSpPr/>
          <p:nvPr/>
        </p:nvSpPr>
        <p:spPr>
          <a:xfrm>
            <a:off x="2926080" y="4709160"/>
            <a:ext cx="1005840" cy="365760"/>
          </a:xfrm>
          <a:prstGeom prst="rect">
            <a:avLst/>
          </a:prstGeom>
          <a:solidFill>
            <a:srgbClr val="111827"/>
          </a:solidFill>
          <a:ln/>
        </p:spPr>
      </p:sp>
      <p:sp>
        <p:nvSpPr>
          <p:cNvPr id="140" name="Text 138"/>
          <p:cNvSpPr/>
          <p:nvPr/>
        </p:nvSpPr>
        <p:spPr>
          <a:xfrm>
            <a:off x="2926080" y="470916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4,100</a:t>
            </a:r>
            <a:endParaRPr lang="en-US" sz="900" dirty="0"/>
          </a:p>
        </p:txBody>
      </p:sp>
      <p:sp>
        <p:nvSpPr>
          <p:cNvPr id="141" name="Shape 139"/>
          <p:cNvSpPr/>
          <p:nvPr/>
        </p:nvSpPr>
        <p:spPr>
          <a:xfrm>
            <a:off x="3931920" y="4709160"/>
            <a:ext cx="914400" cy="365760"/>
          </a:xfrm>
          <a:prstGeom prst="rect">
            <a:avLst/>
          </a:prstGeom>
          <a:solidFill>
            <a:srgbClr val="111827"/>
          </a:solidFill>
          <a:ln/>
        </p:spPr>
      </p:sp>
      <p:sp>
        <p:nvSpPr>
          <p:cNvPr id="142" name="Text 140"/>
          <p:cNvSpPr/>
          <p:nvPr/>
        </p:nvSpPr>
        <p:spPr>
          <a:xfrm>
            <a:off x="3931920" y="470916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30.9%</a:t>
            </a:r>
            <a:endParaRPr lang="en-US" sz="900" dirty="0"/>
          </a:p>
        </p:txBody>
      </p:sp>
      <p:sp>
        <p:nvSpPr>
          <p:cNvPr id="143" name="Shape 141"/>
          <p:cNvSpPr/>
          <p:nvPr/>
        </p:nvSpPr>
        <p:spPr>
          <a:xfrm>
            <a:off x="4846320" y="4709160"/>
            <a:ext cx="640080" cy="365760"/>
          </a:xfrm>
          <a:prstGeom prst="rect">
            <a:avLst/>
          </a:prstGeom>
          <a:solidFill>
            <a:srgbClr val="111827"/>
          </a:solidFill>
          <a:ln/>
        </p:spPr>
      </p:sp>
      <p:sp>
        <p:nvSpPr>
          <p:cNvPr id="144" name="Text 142"/>
          <p:cNvSpPr/>
          <p:nvPr/>
        </p:nvSpPr>
        <p:spPr>
          <a:xfrm>
            <a:off x="4846320" y="470916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10.6</a:t>
            </a:r>
            <a:endParaRPr lang="en-US" sz="900" dirty="0"/>
          </a:p>
        </p:txBody>
      </p:sp>
      <p:sp>
        <p:nvSpPr>
          <p:cNvPr id="145" name="Shape 143"/>
          <p:cNvSpPr/>
          <p:nvPr/>
        </p:nvSpPr>
        <p:spPr>
          <a:xfrm>
            <a:off x="5486400" y="4709160"/>
            <a:ext cx="640080" cy="365760"/>
          </a:xfrm>
          <a:prstGeom prst="rect">
            <a:avLst/>
          </a:prstGeom>
          <a:solidFill>
            <a:srgbClr val="111827"/>
          </a:solidFill>
          <a:ln/>
        </p:spPr>
      </p:sp>
      <p:sp>
        <p:nvSpPr>
          <p:cNvPr id="146" name="Text 144"/>
          <p:cNvSpPr/>
          <p:nvPr/>
        </p:nvSpPr>
        <p:spPr>
          <a:xfrm>
            <a:off x="5486400" y="470916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B</a:t>
            </a:r>
            <a:endParaRPr lang="en-US" sz="900" dirty="0"/>
          </a:p>
        </p:txBody>
      </p:sp>
      <p:sp>
        <p:nvSpPr>
          <p:cNvPr id="147" name="Shape 145"/>
          <p:cNvSpPr/>
          <p:nvPr/>
        </p:nvSpPr>
        <p:spPr>
          <a:xfrm>
            <a:off x="6126480" y="4709160"/>
            <a:ext cx="2194560" cy="365760"/>
          </a:xfrm>
          <a:prstGeom prst="rect">
            <a:avLst/>
          </a:prstGeom>
          <a:solidFill>
            <a:srgbClr val="111827"/>
          </a:solidFill>
          <a:ln/>
        </p:spPr>
      </p:sp>
      <p:sp>
        <p:nvSpPr>
          <p:cNvPr id="148" name="Text 146"/>
          <p:cNvSpPr/>
          <p:nvPr/>
        </p:nvSpPr>
        <p:spPr>
          <a:xfrm>
            <a:off x="6126480" y="470916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Partially Treated</a:t>
            </a:r>
            <a:endParaRPr lang="en-US" sz="900" dirty="0"/>
          </a:p>
        </p:txBody>
      </p:sp>
      <p:sp>
        <p:nvSpPr>
          <p:cNvPr id="149" name="Shape 147"/>
          <p:cNvSpPr/>
          <p:nvPr/>
        </p:nvSpPr>
        <p:spPr>
          <a:xfrm>
            <a:off x="8321040" y="4709160"/>
            <a:ext cx="1554480" cy="365760"/>
          </a:xfrm>
          <a:prstGeom prst="rect">
            <a:avLst/>
          </a:prstGeom>
          <a:solidFill>
            <a:srgbClr val="111827"/>
          </a:solidFill>
          <a:ln/>
        </p:spPr>
      </p:sp>
      <p:sp>
        <p:nvSpPr>
          <p:cNvPr id="150" name="Text 148"/>
          <p:cNvSpPr/>
          <p:nvPr/>
        </p:nvSpPr>
        <p:spPr>
          <a:xfrm>
            <a:off x="8321040" y="470916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151" name="Shape 149"/>
          <p:cNvSpPr/>
          <p:nvPr/>
        </p:nvSpPr>
        <p:spPr>
          <a:xfrm>
            <a:off x="457200" y="5074920"/>
            <a:ext cx="1463040" cy="365760"/>
          </a:xfrm>
          <a:prstGeom prst="rect">
            <a:avLst/>
          </a:prstGeom>
          <a:solidFill>
            <a:srgbClr val="1F2937"/>
          </a:solidFill>
          <a:ln/>
        </p:spPr>
      </p:sp>
      <p:sp>
        <p:nvSpPr>
          <p:cNvPr id="152" name="Text 150"/>
          <p:cNvSpPr/>
          <p:nvPr/>
        </p:nvSpPr>
        <p:spPr>
          <a:xfrm>
            <a:off x="457200" y="507492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FA-2025-001</a:t>
            </a:r>
            <a:endParaRPr lang="en-US" sz="900" dirty="0"/>
          </a:p>
        </p:txBody>
      </p:sp>
      <p:sp>
        <p:nvSpPr>
          <p:cNvPr id="153" name="Shape 151"/>
          <p:cNvSpPr/>
          <p:nvPr/>
        </p:nvSpPr>
        <p:spPr>
          <a:xfrm>
            <a:off x="1920240" y="5074920"/>
            <a:ext cx="1005840" cy="365760"/>
          </a:xfrm>
          <a:prstGeom prst="rect">
            <a:avLst/>
          </a:prstGeom>
          <a:solidFill>
            <a:srgbClr val="1F2937"/>
          </a:solidFill>
          <a:ln/>
        </p:spPr>
      </p:sp>
      <p:sp>
        <p:nvSpPr>
          <p:cNvPr id="154" name="Text 152"/>
          <p:cNvSpPr/>
          <p:nvPr/>
        </p:nvSpPr>
        <p:spPr>
          <a:xfrm>
            <a:off x="1920240" y="507492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2025-01-10</a:t>
            </a:r>
            <a:endParaRPr lang="en-US" sz="900" dirty="0"/>
          </a:p>
        </p:txBody>
      </p:sp>
      <p:sp>
        <p:nvSpPr>
          <p:cNvPr id="155" name="Shape 153"/>
          <p:cNvSpPr/>
          <p:nvPr/>
        </p:nvSpPr>
        <p:spPr>
          <a:xfrm>
            <a:off x="2926080" y="5074920"/>
            <a:ext cx="1005840" cy="365760"/>
          </a:xfrm>
          <a:prstGeom prst="rect">
            <a:avLst/>
          </a:prstGeom>
          <a:solidFill>
            <a:srgbClr val="1F2937"/>
          </a:solidFill>
          <a:ln/>
        </p:spPr>
      </p:sp>
      <p:sp>
        <p:nvSpPr>
          <p:cNvPr id="156" name="Text 154"/>
          <p:cNvSpPr/>
          <p:nvPr/>
        </p:nvSpPr>
        <p:spPr>
          <a:xfrm>
            <a:off x="2926080" y="507492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8,500</a:t>
            </a:r>
            <a:endParaRPr lang="en-US" sz="900" dirty="0"/>
          </a:p>
        </p:txBody>
      </p:sp>
      <p:sp>
        <p:nvSpPr>
          <p:cNvPr id="157" name="Shape 155"/>
          <p:cNvSpPr/>
          <p:nvPr/>
        </p:nvSpPr>
        <p:spPr>
          <a:xfrm>
            <a:off x="3931920" y="5074920"/>
            <a:ext cx="914400" cy="365760"/>
          </a:xfrm>
          <a:prstGeom prst="rect">
            <a:avLst/>
          </a:prstGeom>
          <a:solidFill>
            <a:srgbClr val="1F2937"/>
          </a:solidFill>
          <a:ln/>
        </p:spPr>
      </p:sp>
      <p:sp>
        <p:nvSpPr>
          <p:cNvPr id="158" name="Text 156"/>
          <p:cNvSpPr/>
          <p:nvPr/>
        </p:nvSpPr>
        <p:spPr>
          <a:xfrm>
            <a:off x="3931920" y="507492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2.1%</a:t>
            </a:r>
            <a:endParaRPr lang="en-US" sz="900" dirty="0"/>
          </a:p>
        </p:txBody>
      </p:sp>
      <p:sp>
        <p:nvSpPr>
          <p:cNvPr id="159" name="Shape 157"/>
          <p:cNvSpPr/>
          <p:nvPr/>
        </p:nvSpPr>
        <p:spPr>
          <a:xfrm>
            <a:off x="4846320" y="5074920"/>
            <a:ext cx="640080" cy="365760"/>
          </a:xfrm>
          <a:prstGeom prst="rect">
            <a:avLst/>
          </a:prstGeom>
          <a:solidFill>
            <a:srgbClr val="1F2937"/>
          </a:solidFill>
          <a:ln/>
        </p:spPr>
      </p:sp>
      <p:sp>
        <p:nvSpPr>
          <p:cNvPr id="160" name="Text 158"/>
          <p:cNvSpPr/>
          <p:nvPr/>
        </p:nvSpPr>
        <p:spPr>
          <a:xfrm>
            <a:off x="4846320" y="507492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8.5</a:t>
            </a:r>
            <a:endParaRPr lang="en-US" sz="900" dirty="0"/>
          </a:p>
        </p:txBody>
      </p:sp>
      <p:sp>
        <p:nvSpPr>
          <p:cNvPr id="161" name="Shape 159"/>
          <p:cNvSpPr/>
          <p:nvPr/>
        </p:nvSpPr>
        <p:spPr>
          <a:xfrm>
            <a:off x="5486400" y="5074920"/>
            <a:ext cx="640080" cy="365760"/>
          </a:xfrm>
          <a:prstGeom prst="rect">
            <a:avLst/>
          </a:prstGeom>
          <a:solidFill>
            <a:srgbClr val="1F2937"/>
          </a:solidFill>
          <a:ln/>
        </p:spPr>
      </p:sp>
      <p:sp>
        <p:nvSpPr>
          <p:cNvPr id="162" name="Text 160"/>
          <p:cNvSpPr/>
          <p:nvPr/>
        </p:nvSpPr>
        <p:spPr>
          <a:xfrm>
            <a:off x="5486400" y="507492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163" name="Shape 161"/>
          <p:cNvSpPr/>
          <p:nvPr/>
        </p:nvSpPr>
        <p:spPr>
          <a:xfrm>
            <a:off x="6126480" y="5074920"/>
            <a:ext cx="2194560" cy="365760"/>
          </a:xfrm>
          <a:prstGeom prst="rect">
            <a:avLst/>
          </a:prstGeom>
          <a:solidFill>
            <a:srgbClr val="1F2937"/>
          </a:solidFill>
          <a:ln/>
        </p:spPr>
      </p:sp>
      <p:sp>
        <p:nvSpPr>
          <p:cNvPr id="164" name="Text 162"/>
          <p:cNvSpPr/>
          <p:nvPr/>
        </p:nvSpPr>
        <p:spPr>
          <a:xfrm>
            <a:off x="6126480" y="507492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Class F</a:t>
            </a:r>
            <a:endParaRPr lang="en-US" sz="900" dirty="0"/>
          </a:p>
        </p:txBody>
      </p:sp>
      <p:sp>
        <p:nvSpPr>
          <p:cNvPr id="165" name="Shape 163"/>
          <p:cNvSpPr/>
          <p:nvPr/>
        </p:nvSpPr>
        <p:spPr>
          <a:xfrm>
            <a:off x="8321040" y="5074920"/>
            <a:ext cx="1554480" cy="365760"/>
          </a:xfrm>
          <a:prstGeom prst="rect">
            <a:avLst/>
          </a:prstGeom>
          <a:solidFill>
            <a:srgbClr val="1F2937"/>
          </a:solidFill>
          <a:ln/>
        </p:spPr>
      </p:sp>
      <p:sp>
        <p:nvSpPr>
          <p:cNvPr id="166" name="Text 164"/>
          <p:cNvSpPr/>
          <p:nvPr/>
        </p:nvSpPr>
        <p:spPr>
          <a:xfrm>
            <a:off x="8321040" y="507492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Available</a:t>
            </a:r>
            <a:endParaRPr lang="en-US" sz="900" dirty="0"/>
          </a:p>
        </p:txBody>
      </p:sp>
      <p:sp>
        <p:nvSpPr>
          <p:cNvPr id="167" name="Shape 165"/>
          <p:cNvSpPr/>
          <p:nvPr/>
        </p:nvSpPr>
        <p:spPr>
          <a:xfrm>
            <a:off x="457200" y="5440680"/>
            <a:ext cx="1463040" cy="365760"/>
          </a:xfrm>
          <a:prstGeom prst="rect">
            <a:avLst/>
          </a:prstGeom>
          <a:solidFill>
            <a:srgbClr val="111827"/>
          </a:solidFill>
          <a:ln/>
        </p:spPr>
      </p:sp>
      <p:sp>
        <p:nvSpPr>
          <p:cNvPr id="168" name="Text 166"/>
          <p:cNvSpPr/>
          <p:nvPr/>
        </p:nvSpPr>
        <p:spPr>
          <a:xfrm>
            <a:off x="457200" y="5440680"/>
            <a:ext cx="1463040" cy="365760"/>
          </a:xfrm>
          <a:prstGeom prst="rect">
            <a:avLst/>
          </a:prstGeom>
          <a:noFill/>
          <a:ln/>
        </p:spPr>
        <p:txBody>
          <a:bodyPr wrap="square"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FA-2025-002</a:t>
            </a:r>
            <a:endParaRPr lang="en-US" sz="900" dirty="0"/>
          </a:p>
        </p:txBody>
      </p:sp>
      <p:sp>
        <p:nvSpPr>
          <p:cNvPr id="169" name="Shape 167"/>
          <p:cNvSpPr/>
          <p:nvPr/>
        </p:nvSpPr>
        <p:spPr>
          <a:xfrm>
            <a:off x="1920240" y="5440680"/>
            <a:ext cx="1005840" cy="365760"/>
          </a:xfrm>
          <a:prstGeom prst="rect">
            <a:avLst/>
          </a:prstGeom>
          <a:solidFill>
            <a:srgbClr val="111827"/>
          </a:solidFill>
          <a:ln/>
        </p:spPr>
      </p:sp>
      <p:sp>
        <p:nvSpPr>
          <p:cNvPr id="170" name="Text 168"/>
          <p:cNvSpPr/>
          <p:nvPr/>
        </p:nvSpPr>
        <p:spPr>
          <a:xfrm>
            <a:off x="1920240" y="544068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2025-02-05</a:t>
            </a:r>
            <a:endParaRPr lang="en-US" sz="900" dirty="0"/>
          </a:p>
        </p:txBody>
      </p:sp>
      <p:sp>
        <p:nvSpPr>
          <p:cNvPr id="171" name="Shape 169"/>
          <p:cNvSpPr/>
          <p:nvPr/>
        </p:nvSpPr>
        <p:spPr>
          <a:xfrm>
            <a:off x="2926080" y="5440680"/>
            <a:ext cx="1005840" cy="365760"/>
          </a:xfrm>
          <a:prstGeom prst="rect">
            <a:avLst/>
          </a:prstGeom>
          <a:solidFill>
            <a:srgbClr val="111827"/>
          </a:solidFill>
          <a:ln/>
        </p:spPr>
      </p:sp>
      <p:sp>
        <p:nvSpPr>
          <p:cNvPr id="172" name="Text 170"/>
          <p:cNvSpPr/>
          <p:nvPr/>
        </p:nvSpPr>
        <p:spPr>
          <a:xfrm>
            <a:off x="2926080" y="5440680"/>
            <a:ext cx="100584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6,200</a:t>
            </a:r>
            <a:endParaRPr lang="en-US" sz="900" dirty="0"/>
          </a:p>
        </p:txBody>
      </p:sp>
      <p:sp>
        <p:nvSpPr>
          <p:cNvPr id="173" name="Shape 171"/>
          <p:cNvSpPr/>
          <p:nvPr/>
        </p:nvSpPr>
        <p:spPr>
          <a:xfrm>
            <a:off x="3931920" y="5440680"/>
            <a:ext cx="914400" cy="365760"/>
          </a:xfrm>
          <a:prstGeom prst="rect">
            <a:avLst/>
          </a:prstGeom>
          <a:solidFill>
            <a:srgbClr val="111827"/>
          </a:solidFill>
          <a:ln/>
        </p:spPr>
      </p:sp>
      <p:sp>
        <p:nvSpPr>
          <p:cNvPr id="174" name="Text 172"/>
          <p:cNvSpPr/>
          <p:nvPr/>
        </p:nvSpPr>
        <p:spPr>
          <a:xfrm>
            <a:off x="3931920" y="5440680"/>
            <a:ext cx="91440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1.8%</a:t>
            </a:r>
            <a:endParaRPr lang="en-US" sz="900" dirty="0"/>
          </a:p>
        </p:txBody>
      </p:sp>
      <p:sp>
        <p:nvSpPr>
          <p:cNvPr id="175" name="Shape 173"/>
          <p:cNvSpPr/>
          <p:nvPr/>
        </p:nvSpPr>
        <p:spPr>
          <a:xfrm>
            <a:off x="4846320" y="5440680"/>
            <a:ext cx="640080" cy="365760"/>
          </a:xfrm>
          <a:prstGeom prst="rect">
            <a:avLst/>
          </a:prstGeom>
          <a:solidFill>
            <a:srgbClr val="111827"/>
          </a:solidFill>
          <a:ln/>
        </p:spPr>
      </p:sp>
      <p:sp>
        <p:nvSpPr>
          <p:cNvPr id="176" name="Text 174"/>
          <p:cNvSpPr/>
          <p:nvPr/>
        </p:nvSpPr>
        <p:spPr>
          <a:xfrm>
            <a:off x="4846320" y="544068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8.2</a:t>
            </a:r>
            <a:endParaRPr lang="en-US" sz="900" dirty="0"/>
          </a:p>
        </p:txBody>
      </p:sp>
      <p:sp>
        <p:nvSpPr>
          <p:cNvPr id="177" name="Shape 175"/>
          <p:cNvSpPr/>
          <p:nvPr/>
        </p:nvSpPr>
        <p:spPr>
          <a:xfrm>
            <a:off x="5486400" y="5440680"/>
            <a:ext cx="640080" cy="365760"/>
          </a:xfrm>
          <a:prstGeom prst="rect">
            <a:avLst/>
          </a:prstGeom>
          <a:solidFill>
            <a:srgbClr val="111827"/>
          </a:solidFill>
          <a:ln/>
        </p:spPr>
      </p:sp>
      <p:sp>
        <p:nvSpPr>
          <p:cNvPr id="178" name="Text 176"/>
          <p:cNvSpPr/>
          <p:nvPr/>
        </p:nvSpPr>
        <p:spPr>
          <a:xfrm>
            <a:off x="5486400" y="5440680"/>
            <a:ext cx="6400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A</a:t>
            </a:r>
            <a:endParaRPr lang="en-US" sz="900" dirty="0"/>
          </a:p>
        </p:txBody>
      </p:sp>
      <p:sp>
        <p:nvSpPr>
          <p:cNvPr id="179" name="Shape 177"/>
          <p:cNvSpPr/>
          <p:nvPr/>
        </p:nvSpPr>
        <p:spPr>
          <a:xfrm>
            <a:off x="6126480" y="5440680"/>
            <a:ext cx="2194560" cy="365760"/>
          </a:xfrm>
          <a:prstGeom prst="rect">
            <a:avLst/>
          </a:prstGeom>
          <a:solidFill>
            <a:srgbClr val="111827"/>
          </a:solidFill>
          <a:ln/>
        </p:spPr>
      </p:sp>
      <p:sp>
        <p:nvSpPr>
          <p:cNvPr id="180" name="Text 178"/>
          <p:cNvSpPr/>
          <p:nvPr/>
        </p:nvSpPr>
        <p:spPr>
          <a:xfrm>
            <a:off x="6126480" y="5440680"/>
            <a:ext cx="219456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Class F</a:t>
            </a:r>
            <a:endParaRPr lang="en-US" sz="900" dirty="0"/>
          </a:p>
        </p:txBody>
      </p:sp>
      <p:sp>
        <p:nvSpPr>
          <p:cNvPr id="181" name="Shape 179"/>
          <p:cNvSpPr/>
          <p:nvPr/>
        </p:nvSpPr>
        <p:spPr>
          <a:xfrm>
            <a:off x="8321040" y="5440680"/>
            <a:ext cx="1554480" cy="365760"/>
          </a:xfrm>
          <a:prstGeom prst="rect">
            <a:avLst/>
          </a:prstGeom>
          <a:solidFill>
            <a:srgbClr val="111827"/>
          </a:solidFill>
          <a:ln/>
        </p:spPr>
      </p:sp>
      <p:sp>
        <p:nvSpPr>
          <p:cNvPr id="182" name="Text 180"/>
          <p:cNvSpPr/>
          <p:nvPr/>
        </p:nvSpPr>
        <p:spPr>
          <a:xfrm>
            <a:off x="8321040" y="5440680"/>
            <a:ext cx="1554480" cy="365760"/>
          </a:xfrm>
          <a:prstGeom prst="rect">
            <a:avLst/>
          </a:prstGeom>
          <a:noFill/>
          <a:ln/>
        </p:spPr>
        <p:txBody>
          <a:bodyPr wrap="square" rtlCol="0" anchor="ctr"/>
          <a:lstStyle/>
          <a:p>
            <a:pPr algn="ctr" indent="0" marL="0">
              <a:buNone/>
            </a:pPr>
            <a:r>
              <a:rPr lang="en-US" sz="900" dirty="0">
                <a:solidFill>
                  <a:srgbClr val="D1D5DB"/>
                </a:solidFill>
                <a:latin typeface="Arial" pitchFamily="34" charset="0"/>
                <a:ea typeface="Arial" pitchFamily="34" charset="-122"/>
                <a:cs typeface="Arial" pitchFamily="34" charset="-120"/>
              </a:rPr>
              <a:t>Reserved</a:t>
            </a:r>
            <a:endParaRPr lang="en-US" sz="900" dirty="0"/>
          </a:p>
        </p:txBody>
      </p:sp>
      <p:sp>
        <p:nvSpPr>
          <p:cNvPr id="183" name="Text 181"/>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184" name="Text 182"/>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3B82F6"/>
                </a:solidFill>
                <a:latin typeface="Arial" pitchFamily="34" charset="0"/>
                <a:ea typeface="Arial" pitchFamily="34" charset="-122"/>
                <a:cs typeface="Arial" pitchFamily="34" charset="-120"/>
              </a:rPr>
              <a:t>SMART LOGISTICS</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Automated Route Mapping</a:t>
            </a:r>
            <a:endParaRPr lang="en-US" sz="3400" dirty="0"/>
          </a:p>
        </p:txBody>
      </p:sp>
      <p:sp>
        <p:nvSpPr>
          <p:cNvPr id="6" name="Text 4"/>
          <p:cNvSpPr/>
          <p:nvPr/>
        </p:nvSpPr>
        <p:spPr>
          <a:xfrm>
            <a:off x="457200" y="1554480"/>
            <a:ext cx="11247120" cy="457200"/>
          </a:xfrm>
          <a:prstGeom prst="rect">
            <a:avLst/>
          </a:prstGeom>
          <a:noFill/>
          <a:ln/>
        </p:spPr>
        <p:txBody>
          <a:bodyPr wrap="square" rtlCol="0" anchor="ctr"/>
          <a:lstStyle/>
          <a:p>
            <a:pPr indent="0" marL="0">
              <a:buNone/>
            </a:pPr>
            <a:r>
              <a:rPr lang="en-US" sz="1100" dirty="0">
                <a:solidFill>
                  <a:srgbClr val="D1D5DB"/>
                </a:solidFill>
                <a:latin typeface="Arial" pitchFamily="34" charset="0"/>
                <a:ea typeface="Arial" pitchFamily="34" charset="-122"/>
                <a:cs typeface="Arial" pitchFamily="34" charset="-120"/>
              </a:rPr>
              <a:t>PostGIS-powered engine finds the nearest national highway construction site from Damanjodi, calculates freight cost, and estimates carbon emissions for every route.</a:t>
            </a:r>
            <a:endParaRPr lang="en-US" sz="1100" dirty="0"/>
          </a:p>
        </p:txBody>
      </p:sp>
      <p:sp>
        <p:nvSpPr>
          <p:cNvPr id="7" name="Shape 5"/>
          <p:cNvSpPr/>
          <p:nvPr/>
        </p:nvSpPr>
        <p:spPr>
          <a:xfrm>
            <a:off x="457200" y="2194560"/>
            <a:ext cx="11247120" cy="548640"/>
          </a:xfrm>
          <a:prstGeom prst="rect">
            <a:avLst>
              <a:gd name="adj" fmla="val 13333"/>
            </a:avLst>
          </a:prstGeom>
          <a:solidFill>
            <a:srgbClr val="1F2937"/>
          </a:solidFill>
          <a:ln w="6350">
            <a:solidFill>
              <a:srgbClr val="3B82F6"/>
            </a:solidFill>
            <a:prstDash val="solid"/>
          </a:ln>
        </p:spPr>
      </p:sp>
      <p:sp>
        <p:nvSpPr>
          <p:cNvPr id="8" name="Text 6"/>
          <p:cNvSpPr/>
          <p:nvPr/>
        </p:nvSpPr>
        <p:spPr>
          <a:xfrm>
            <a:off x="640080" y="2194560"/>
            <a:ext cx="3200400" cy="5486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Damanjodi  →  Bhubaneswar</a:t>
            </a:r>
            <a:endParaRPr lang="en-US" sz="1100" dirty="0"/>
          </a:p>
        </p:txBody>
      </p:sp>
      <p:sp>
        <p:nvSpPr>
          <p:cNvPr id="9" name="Text 7"/>
          <p:cNvSpPr/>
          <p:nvPr/>
        </p:nvSpPr>
        <p:spPr>
          <a:xfrm>
            <a:off x="3840480" y="2194560"/>
            <a:ext cx="2743200" cy="548640"/>
          </a:xfrm>
          <a:prstGeom prst="rect">
            <a:avLst/>
          </a:prstGeom>
          <a:noFill/>
          <a:ln/>
        </p:spPr>
        <p:txBody>
          <a:bodyPr wrap="square" rtlCol="0" anchor="ctr"/>
          <a:lstStyle/>
          <a:p>
            <a:pPr indent="0" marL="0">
              <a:buNone/>
            </a:pPr>
            <a:r>
              <a:rPr lang="en-US" sz="900" dirty="0">
                <a:solidFill>
                  <a:srgbClr val="3B82F6"/>
                </a:solidFill>
                <a:latin typeface="Arial" pitchFamily="34" charset="0"/>
                <a:ea typeface="Arial" pitchFamily="34" charset="-122"/>
                <a:cs typeface="Arial" pitchFamily="34" charset="-120"/>
              </a:rPr>
              <a:t>🛣️ NH-26 → NH-16</a:t>
            </a:r>
            <a:endParaRPr lang="en-US" sz="900" dirty="0"/>
          </a:p>
        </p:txBody>
      </p:sp>
      <p:sp>
        <p:nvSpPr>
          <p:cNvPr id="10" name="Text 8"/>
          <p:cNvSpPr/>
          <p:nvPr/>
        </p:nvSpPr>
        <p:spPr>
          <a:xfrm>
            <a:off x="6583680" y="2194560"/>
            <a:ext cx="914400" cy="54864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350 km</a:t>
            </a:r>
            <a:endParaRPr lang="en-US" sz="1000" dirty="0"/>
          </a:p>
        </p:txBody>
      </p:sp>
      <p:sp>
        <p:nvSpPr>
          <p:cNvPr id="11" name="Text 9"/>
          <p:cNvSpPr/>
          <p:nvPr/>
        </p:nvSpPr>
        <p:spPr>
          <a:xfrm>
            <a:off x="7680960" y="2194560"/>
            <a:ext cx="1188720" cy="548640"/>
          </a:xfrm>
          <a:prstGeom prst="rect">
            <a:avLst/>
          </a:prstGeom>
          <a:noFill/>
          <a:ln/>
        </p:spPr>
        <p:txBody>
          <a:bodyPr wrap="square"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₹15.8L</a:t>
            </a:r>
            <a:endParaRPr lang="en-US" sz="1000" dirty="0"/>
          </a:p>
        </p:txBody>
      </p:sp>
      <p:sp>
        <p:nvSpPr>
          <p:cNvPr id="12" name="Text 10"/>
          <p:cNvSpPr/>
          <p:nvPr/>
        </p:nvSpPr>
        <p:spPr>
          <a:xfrm>
            <a:off x="8961120" y="2194560"/>
            <a:ext cx="1554480" cy="548640"/>
          </a:xfrm>
          <a:prstGeom prst="rect">
            <a:avLst/>
          </a:prstGeom>
          <a:noFill/>
          <a:ln/>
        </p:spPr>
        <p:txBody>
          <a:bodyPr wrap="square" rtlCol="0" anchor="ctr"/>
          <a:lstStyle/>
          <a:p>
            <a:pPr algn="ctr" indent="0" marL="0">
              <a:buNone/>
            </a:pPr>
            <a:r>
              <a:rPr lang="en-US" sz="1000" dirty="0">
                <a:solidFill>
                  <a:srgbClr val="EF4444"/>
                </a:solidFill>
                <a:latin typeface="Arial" pitchFamily="34" charset="0"/>
                <a:ea typeface="Arial" pitchFamily="34" charset="-122"/>
                <a:cs typeface="Arial" pitchFamily="34" charset="-120"/>
              </a:rPr>
              <a:t>938 kg CO₂</a:t>
            </a:r>
            <a:endParaRPr lang="en-US" sz="1000" dirty="0"/>
          </a:p>
        </p:txBody>
      </p:sp>
      <p:sp>
        <p:nvSpPr>
          <p:cNvPr id="13" name="Text 11"/>
          <p:cNvSpPr/>
          <p:nvPr/>
        </p:nvSpPr>
        <p:spPr>
          <a:xfrm>
            <a:off x="10515600" y="2194560"/>
            <a:ext cx="1188720" cy="54864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8 hrs</a:t>
            </a:r>
            <a:endParaRPr lang="en-US" sz="900" dirty="0"/>
          </a:p>
        </p:txBody>
      </p:sp>
      <p:sp>
        <p:nvSpPr>
          <p:cNvPr id="14" name="Shape 12"/>
          <p:cNvSpPr/>
          <p:nvPr/>
        </p:nvSpPr>
        <p:spPr>
          <a:xfrm>
            <a:off x="457200" y="2834640"/>
            <a:ext cx="11247120" cy="548640"/>
          </a:xfrm>
          <a:prstGeom prst="rect">
            <a:avLst>
              <a:gd name="adj" fmla="val 13333"/>
            </a:avLst>
          </a:prstGeom>
          <a:solidFill>
            <a:srgbClr val="1F2937"/>
          </a:solidFill>
          <a:ln w="6350">
            <a:solidFill>
              <a:srgbClr val="3B82F6"/>
            </a:solidFill>
            <a:prstDash val="solid"/>
          </a:ln>
        </p:spPr>
      </p:sp>
      <p:sp>
        <p:nvSpPr>
          <p:cNvPr id="15" name="Text 13"/>
          <p:cNvSpPr/>
          <p:nvPr/>
        </p:nvSpPr>
        <p:spPr>
          <a:xfrm>
            <a:off x="640080" y="2834640"/>
            <a:ext cx="3200400" cy="5486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Damanjodi  →  Cuttack</a:t>
            </a:r>
            <a:endParaRPr lang="en-US" sz="1100" dirty="0"/>
          </a:p>
        </p:txBody>
      </p:sp>
      <p:sp>
        <p:nvSpPr>
          <p:cNvPr id="16" name="Text 14"/>
          <p:cNvSpPr/>
          <p:nvPr/>
        </p:nvSpPr>
        <p:spPr>
          <a:xfrm>
            <a:off x="3840480" y="2834640"/>
            <a:ext cx="2743200" cy="548640"/>
          </a:xfrm>
          <a:prstGeom prst="rect">
            <a:avLst/>
          </a:prstGeom>
          <a:noFill/>
          <a:ln/>
        </p:spPr>
        <p:txBody>
          <a:bodyPr wrap="square" rtlCol="0" anchor="ctr"/>
          <a:lstStyle/>
          <a:p>
            <a:pPr indent="0" marL="0">
              <a:buNone/>
            </a:pPr>
            <a:r>
              <a:rPr lang="en-US" sz="900" dirty="0">
                <a:solidFill>
                  <a:srgbClr val="3B82F6"/>
                </a:solidFill>
                <a:latin typeface="Arial" pitchFamily="34" charset="0"/>
                <a:ea typeface="Arial" pitchFamily="34" charset="-122"/>
                <a:cs typeface="Arial" pitchFamily="34" charset="-120"/>
              </a:rPr>
              <a:t>🛣️ NH-26 → NH-16</a:t>
            </a:r>
            <a:endParaRPr lang="en-US" sz="900" dirty="0"/>
          </a:p>
        </p:txBody>
      </p:sp>
      <p:sp>
        <p:nvSpPr>
          <p:cNvPr id="17" name="Text 15"/>
          <p:cNvSpPr/>
          <p:nvPr/>
        </p:nvSpPr>
        <p:spPr>
          <a:xfrm>
            <a:off x="6583680" y="2834640"/>
            <a:ext cx="914400" cy="54864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380 km</a:t>
            </a:r>
            <a:endParaRPr lang="en-US" sz="1000" dirty="0"/>
          </a:p>
        </p:txBody>
      </p:sp>
      <p:sp>
        <p:nvSpPr>
          <p:cNvPr id="18" name="Text 16"/>
          <p:cNvSpPr/>
          <p:nvPr/>
        </p:nvSpPr>
        <p:spPr>
          <a:xfrm>
            <a:off x="7680960" y="2834640"/>
            <a:ext cx="1188720" cy="548640"/>
          </a:xfrm>
          <a:prstGeom prst="rect">
            <a:avLst/>
          </a:prstGeom>
          <a:noFill/>
          <a:ln/>
        </p:spPr>
        <p:txBody>
          <a:bodyPr wrap="square"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₹17.1L</a:t>
            </a:r>
            <a:endParaRPr lang="en-US" sz="1000" dirty="0"/>
          </a:p>
        </p:txBody>
      </p:sp>
      <p:sp>
        <p:nvSpPr>
          <p:cNvPr id="19" name="Text 17"/>
          <p:cNvSpPr/>
          <p:nvPr/>
        </p:nvSpPr>
        <p:spPr>
          <a:xfrm>
            <a:off x="8961120" y="2834640"/>
            <a:ext cx="1554480" cy="548640"/>
          </a:xfrm>
          <a:prstGeom prst="rect">
            <a:avLst/>
          </a:prstGeom>
          <a:noFill/>
          <a:ln/>
        </p:spPr>
        <p:txBody>
          <a:bodyPr wrap="square" rtlCol="0" anchor="ctr"/>
          <a:lstStyle/>
          <a:p>
            <a:pPr algn="ctr" indent="0" marL="0">
              <a:buNone/>
            </a:pPr>
            <a:r>
              <a:rPr lang="en-US" sz="1000" dirty="0">
                <a:solidFill>
                  <a:srgbClr val="EF4444"/>
                </a:solidFill>
                <a:latin typeface="Arial" pitchFamily="34" charset="0"/>
                <a:ea typeface="Arial" pitchFamily="34" charset="-122"/>
                <a:cs typeface="Arial" pitchFamily="34" charset="-120"/>
              </a:rPr>
              <a:t>1019 kg CO₂</a:t>
            </a:r>
            <a:endParaRPr lang="en-US" sz="1000" dirty="0"/>
          </a:p>
        </p:txBody>
      </p:sp>
      <p:sp>
        <p:nvSpPr>
          <p:cNvPr id="20" name="Text 18"/>
          <p:cNvSpPr/>
          <p:nvPr/>
        </p:nvSpPr>
        <p:spPr>
          <a:xfrm>
            <a:off x="10515600" y="2834640"/>
            <a:ext cx="1188720" cy="54864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9 hrs</a:t>
            </a:r>
            <a:endParaRPr lang="en-US" sz="900" dirty="0"/>
          </a:p>
        </p:txBody>
      </p:sp>
      <p:sp>
        <p:nvSpPr>
          <p:cNvPr id="21" name="Shape 19"/>
          <p:cNvSpPr/>
          <p:nvPr/>
        </p:nvSpPr>
        <p:spPr>
          <a:xfrm>
            <a:off x="457200" y="3474720"/>
            <a:ext cx="11247120" cy="548640"/>
          </a:xfrm>
          <a:prstGeom prst="rect">
            <a:avLst>
              <a:gd name="adj" fmla="val 13333"/>
            </a:avLst>
          </a:prstGeom>
          <a:solidFill>
            <a:srgbClr val="1F2937"/>
          </a:solidFill>
          <a:ln w="6350">
            <a:solidFill>
              <a:srgbClr val="3B82F6"/>
            </a:solidFill>
            <a:prstDash val="solid"/>
          </a:ln>
        </p:spPr>
      </p:sp>
      <p:sp>
        <p:nvSpPr>
          <p:cNvPr id="22" name="Text 20"/>
          <p:cNvSpPr/>
          <p:nvPr/>
        </p:nvSpPr>
        <p:spPr>
          <a:xfrm>
            <a:off x="640080" y="3474720"/>
            <a:ext cx="3200400" cy="5486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Damanjodi  →  Koraput</a:t>
            </a:r>
            <a:endParaRPr lang="en-US" sz="1100" dirty="0"/>
          </a:p>
        </p:txBody>
      </p:sp>
      <p:sp>
        <p:nvSpPr>
          <p:cNvPr id="23" name="Text 21"/>
          <p:cNvSpPr/>
          <p:nvPr/>
        </p:nvSpPr>
        <p:spPr>
          <a:xfrm>
            <a:off x="3840480" y="3474720"/>
            <a:ext cx="2743200" cy="548640"/>
          </a:xfrm>
          <a:prstGeom prst="rect">
            <a:avLst/>
          </a:prstGeom>
          <a:noFill/>
          <a:ln/>
        </p:spPr>
        <p:txBody>
          <a:bodyPr wrap="square" rtlCol="0" anchor="ctr"/>
          <a:lstStyle/>
          <a:p>
            <a:pPr indent="0" marL="0">
              <a:buNone/>
            </a:pPr>
            <a:r>
              <a:rPr lang="en-US" sz="900" dirty="0">
                <a:solidFill>
                  <a:srgbClr val="3B82F6"/>
                </a:solidFill>
                <a:latin typeface="Arial" pitchFamily="34" charset="0"/>
                <a:ea typeface="Arial" pitchFamily="34" charset="-122"/>
                <a:cs typeface="Arial" pitchFamily="34" charset="-120"/>
              </a:rPr>
              <a:t>🛣️ NH-26</a:t>
            </a:r>
            <a:endParaRPr lang="en-US" sz="900" dirty="0"/>
          </a:p>
        </p:txBody>
      </p:sp>
      <p:sp>
        <p:nvSpPr>
          <p:cNvPr id="24" name="Text 22"/>
          <p:cNvSpPr/>
          <p:nvPr/>
        </p:nvSpPr>
        <p:spPr>
          <a:xfrm>
            <a:off x="6583680" y="3474720"/>
            <a:ext cx="914400" cy="54864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80 km</a:t>
            </a:r>
            <a:endParaRPr lang="en-US" sz="1000" dirty="0"/>
          </a:p>
        </p:txBody>
      </p:sp>
      <p:sp>
        <p:nvSpPr>
          <p:cNvPr id="25" name="Text 23"/>
          <p:cNvSpPr/>
          <p:nvPr/>
        </p:nvSpPr>
        <p:spPr>
          <a:xfrm>
            <a:off x="7680960" y="3474720"/>
            <a:ext cx="1188720" cy="548640"/>
          </a:xfrm>
          <a:prstGeom prst="rect">
            <a:avLst/>
          </a:prstGeom>
          <a:noFill/>
          <a:ln/>
        </p:spPr>
        <p:txBody>
          <a:bodyPr wrap="square"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₹3.6L</a:t>
            </a:r>
            <a:endParaRPr lang="en-US" sz="1000" dirty="0"/>
          </a:p>
        </p:txBody>
      </p:sp>
      <p:sp>
        <p:nvSpPr>
          <p:cNvPr id="26" name="Text 24"/>
          <p:cNvSpPr/>
          <p:nvPr/>
        </p:nvSpPr>
        <p:spPr>
          <a:xfrm>
            <a:off x="8961120" y="3474720"/>
            <a:ext cx="1554480" cy="548640"/>
          </a:xfrm>
          <a:prstGeom prst="rect">
            <a:avLst/>
          </a:prstGeom>
          <a:noFill/>
          <a:ln/>
        </p:spPr>
        <p:txBody>
          <a:bodyPr wrap="square" rtlCol="0" anchor="ctr"/>
          <a:lstStyle/>
          <a:p>
            <a:pPr algn="ctr" indent="0" marL="0">
              <a:buNone/>
            </a:pPr>
            <a:r>
              <a:rPr lang="en-US" sz="1000" dirty="0">
                <a:solidFill>
                  <a:srgbClr val="EF4444"/>
                </a:solidFill>
                <a:latin typeface="Arial" pitchFamily="34" charset="0"/>
                <a:ea typeface="Arial" pitchFamily="34" charset="-122"/>
                <a:cs typeface="Arial" pitchFamily="34" charset="-120"/>
              </a:rPr>
              <a:t>214 kg CO₂</a:t>
            </a:r>
            <a:endParaRPr lang="en-US" sz="1000" dirty="0"/>
          </a:p>
        </p:txBody>
      </p:sp>
      <p:sp>
        <p:nvSpPr>
          <p:cNvPr id="27" name="Text 25"/>
          <p:cNvSpPr/>
          <p:nvPr/>
        </p:nvSpPr>
        <p:spPr>
          <a:xfrm>
            <a:off x="10515600" y="3474720"/>
            <a:ext cx="1188720" cy="54864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2 hrs</a:t>
            </a:r>
            <a:endParaRPr lang="en-US" sz="900" dirty="0"/>
          </a:p>
        </p:txBody>
      </p:sp>
      <p:sp>
        <p:nvSpPr>
          <p:cNvPr id="28" name="Shape 26"/>
          <p:cNvSpPr/>
          <p:nvPr/>
        </p:nvSpPr>
        <p:spPr>
          <a:xfrm>
            <a:off x="457200" y="4114800"/>
            <a:ext cx="11247120" cy="548640"/>
          </a:xfrm>
          <a:prstGeom prst="rect">
            <a:avLst>
              <a:gd name="adj" fmla="val 13333"/>
            </a:avLst>
          </a:prstGeom>
          <a:solidFill>
            <a:srgbClr val="1F2937"/>
          </a:solidFill>
          <a:ln w="6350">
            <a:solidFill>
              <a:srgbClr val="3B82F6"/>
            </a:solidFill>
            <a:prstDash val="solid"/>
          </a:ln>
        </p:spPr>
      </p:sp>
      <p:sp>
        <p:nvSpPr>
          <p:cNvPr id="29" name="Text 27"/>
          <p:cNvSpPr/>
          <p:nvPr/>
        </p:nvSpPr>
        <p:spPr>
          <a:xfrm>
            <a:off x="640080" y="4114800"/>
            <a:ext cx="3200400" cy="5486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Damanjodi  →  Rourkela</a:t>
            </a:r>
            <a:endParaRPr lang="en-US" sz="1100" dirty="0"/>
          </a:p>
        </p:txBody>
      </p:sp>
      <p:sp>
        <p:nvSpPr>
          <p:cNvPr id="30" name="Text 28"/>
          <p:cNvSpPr/>
          <p:nvPr/>
        </p:nvSpPr>
        <p:spPr>
          <a:xfrm>
            <a:off x="3840480" y="4114800"/>
            <a:ext cx="2743200" cy="548640"/>
          </a:xfrm>
          <a:prstGeom prst="rect">
            <a:avLst/>
          </a:prstGeom>
          <a:noFill/>
          <a:ln/>
        </p:spPr>
        <p:txBody>
          <a:bodyPr wrap="square" rtlCol="0" anchor="ctr"/>
          <a:lstStyle/>
          <a:p>
            <a:pPr indent="0" marL="0">
              <a:buNone/>
            </a:pPr>
            <a:r>
              <a:rPr lang="en-US" sz="900" dirty="0">
                <a:solidFill>
                  <a:srgbClr val="3B82F6"/>
                </a:solidFill>
                <a:latin typeface="Arial" pitchFamily="34" charset="0"/>
                <a:ea typeface="Arial" pitchFamily="34" charset="-122"/>
                <a:cs typeface="Arial" pitchFamily="34" charset="-120"/>
              </a:rPr>
              <a:t>🛣️ NH-26 → NH-143</a:t>
            </a:r>
            <a:endParaRPr lang="en-US" sz="900" dirty="0"/>
          </a:p>
        </p:txBody>
      </p:sp>
      <p:sp>
        <p:nvSpPr>
          <p:cNvPr id="31" name="Text 29"/>
          <p:cNvSpPr/>
          <p:nvPr/>
        </p:nvSpPr>
        <p:spPr>
          <a:xfrm>
            <a:off x="6583680" y="4114800"/>
            <a:ext cx="914400" cy="54864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310 km</a:t>
            </a:r>
            <a:endParaRPr lang="en-US" sz="1000" dirty="0"/>
          </a:p>
        </p:txBody>
      </p:sp>
      <p:sp>
        <p:nvSpPr>
          <p:cNvPr id="32" name="Text 30"/>
          <p:cNvSpPr/>
          <p:nvPr/>
        </p:nvSpPr>
        <p:spPr>
          <a:xfrm>
            <a:off x="7680960" y="4114800"/>
            <a:ext cx="1188720" cy="548640"/>
          </a:xfrm>
          <a:prstGeom prst="rect">
            <a:avLst/>
          </a:prstGeom>
          <a:noFill/>
          <a:ln/>
        </p:spPr>
        <p:txBody>
          <a:bodyPr wrap="square"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₹13.9L</a:t>
            </a:r>
            <a:endParaRPr lang="en-US" sz="1000" dirty="0"/>
          </a:p>
        </p:txBody>
      </p:sp>
      <p:sp>
        <p:nvSpPr>
          <p:cNvPr id="33" name="Text 31"/>
          <p:cNvSpPr/>
          <p:nvPr/>
        </p:nvSpPr>
        <p:spPr>
          <a:xfrm>
            <a:off x="8961120" y="4114800"/>
            <a:ext cx="1554480" cy="548640"/>
          </a:xfrm>
          <a:prstGeom prst="rect">
            <a:avLst/>
          </a:prstGeom>
          <a:noFill/>
          <a:ln/>
        </p:spPr>
        <p:txBody>
          <a:bodyPr wrap="square" rtlCol="0" anchor="ctr"/>
          <a:lstStyle/>
          <a:p>
            <a:pPr algn="ctr" indent="0" marL="0">
              <a:buNone/>
            </a:pPr>
            <a:r>
              <a:rPr lang="en-US" sz="1000" dirty="0">
                <a:solidFill>
                  <a:srgbClr val="EF4444"/>
                </a:solidFill>
                <a:latin typeface="Arial" pitchFamily="34" charset="0"/>
                <a:ea typeface="Arial" pitchFamily="34" charset="-122"/>
                <a:cs typeface="Arial" pitchFamily="34" charset="-120"/>
              </a:rPr>
              <a:t>830 kg CO₂</a:t>
            </a:r>
            <a:endParaRPr lang="en-US" sz="1000" dirty="0"/>
          </a:p>
        </p:txBody>
      </p:sp>
      <p:sp>
        <p:nvSpPr>
          <p:cNvPr id="34" name="Text 32"/>
          <p:cNvSpPr/>
          <p:nvPr/>
        </p:nvSpPr>
        <p:spPr>
          <a:xfrm>
            <a:off x="10515600" y="4114800"/>
            <a:ext cx="1188720" cy="54864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7 hrs</a:t>
            </a:r>
            <a:endParaRPr lang="en-US" sz="900" dirty="0"/>
          </a:p>
        </p:txBody>
      </p:sp>
      <p:sp>
        <p:nvSpPr>
          <p:cNvPr id="35" name="Shape 33"/>
          <p:cNvSpPr/>
          <p:nvPr/>
        </p:nvSpPr>
        <p:spPr>
          <a:xfrm>
            <a:off x="457200" y="4754880"/>
            <a:ext cx="11247120" cy="548640"/>
          </a:xfrm>
          <a:prstGeom prst="rect">
            <a:avLst>
              <a:gd name="adj" fmla="val 13333"/>
            </a:avLst>
          </a:prstGeom>
          <a:solidFill>
            <a:srgbClr val="1F2937"/>
          </a:solidFill>
          <a:ln w="6350">
            <a:solidFill>
              <a:srgbClr val="3B82F6"/>
            </a:solidFill>
            <a:prstDash val="solid"/>
          </a:ln>
        </p:spPr>
      </p:sp>
      <p:sp>
        <p:nvSpPr>
          <p:cNvPr id="36" name="Text 34"/>
          <p:cNvSpPr/>
          <p:nvPr/>
        </p:nvSpPr>
        <p:spPr>
          <a:xfrm>
            <a:off x="640080" y="4754880"/>
            <a:ext cx="3200400" cy="5486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Damanjodi  →  Visakhapatnam</a:t>
            </a:r>
            <a:endParaRPr lang="en-US" sz="1100" dirty="0"/>
          </a:p>
        </p:txBody>
      </p:sp>
      <p:sp>
        <p:nvSpPr>
          <p:cNvPr id="37" name="Text 35"/>
          <p:cNvSpPr/>
          <p:nvPr/>
        </p:nvSpPr>
        <p:spPr>
          <a:xfrm>
            <a:off x="3840480" y="4754880"/>
            <a:ext cx="2743200" cy="548640"/>
          </a:xfrm>
          <a:prstGeom prst="rect">
            <a:avLst/>
          </a:prstGeom>
          <a:noFill/>
          <a:ln/>
        </p:spPr>
        <p:txBody>
          <a:bodyPr wrap="square" rtlCol="0" anchor="ctr"/>
          <a:lstStyle/>
          <a:p>
            <a:pPr indent="0" marL="0">
              <a:buNone/>
            </a:pPr>
            <a:r>
              <a:rPr lang="en-US" sz="900" dirty="0">
                <a:solidFill>
                  <a:srgbClr val="3B82F6"/>
                </a:solidFill>
                <a:latin typeface="Arial" pitchFamily="34" charset="0"/>
                <a:ea typeface="Arial" pitchFamily="34" charset="-122"/>
                <a:cs typeface="Arial" pitchFamily="34" charset="-120"/>
              </a:rPr>
              <a:t>🛣️ NH-26 → NH-16 → NH-43</a:t>
            </a:r>
            <a:endParaRPr lang="en-US" sz="900" dirty="0"/>
          </a:p>
        </p:txBody>
      </p:sp>
      <p:sp>
        <p:nvSpPr>
          <p:cNvPr id="38" name="Text 36"/>
          <p:cNvSpPr/>
          <p:nvPr/>
        </p:nvSpPr>
        <p:spPr>
          <a:xfrm>
            <a:off x="6583680" y="4754880"/>
            <a:ext cx="914400" cy="54864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520 km</a:t>
            </a:r>
            <a:endParaRPr lang="en-US" sz="1000" dirty="0"/>
          </a:p>
        </p:txBody>
      </p:sp>
      <p:sp>
        <p:nvSpPr>
          <p:cNvPr id="39" name="Text 37"/>
          <p:cNvSpPr/>
          <p:nvPr/>
        </p:nvSpPr>
        <p:spPr>
          <a:xfrm>
            <a:off x="7680960" y="4754880"/>
            <a:ext cx="1188720" cy="548640"/>
          </a:xfrm>
          <a:prstGeom prst="rect">
            <a:avLst/>
          </a:prstGeom>
          <a:noFill/>
          <a:ln/>
        </p:spPr>
        <p:txBody>
          <a:bodyPr wrap="square"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₹23.4L</a:t>
            </a:r>
            <a:endParaRPr lang="en-US" sz="1000" dirty="0"/>
          </a:p>
        </p:txBody>
      </p:sp>
      <p:sp>
        <p:nvSpPr>
          <p:cNvPr id="40" name="Text 38"/>
          <p:cNvSpPr/>
          <p:nvPr/>
        </p:nvSpPr>
        <p:spPr>
          <a:xfrm>
            <a:off x="8961120" y="4754880"/>
            <a:ext cx="1554480" cy="548640"/>
          </a:xfrm>
          <a:prstGeom prst="rect">
            <a:avLst/>
          </a:prstGeom>
          <a:noFill/>
          <a:ln/>
        </p:spPr>
        <p:txBody>
          <a:bodyPr wrap="square" rtlCol="0" anchor="ctr"/>
          <a:lstStyle/>
          <a:p>
            <a:pPr algn="ctr" indent="0" marL="0">
              <a:buNone/>
            </a:pPr>
            <a:r>
              <a:rPr lang="en-US" sz="1000" dirty="0">
                <a:solidFill>
                  <a:srgbClr val="EF4444"/>
                </a:solidFill>
                <a:latin typeface="Arial" pitchFamily="34" charset="0"/>
                <a:ea typeface="Arial" pitchFamily="34" charset="-122"/>
                <a:cs typeface="Arial" pitchFamily="34" charset="-120"/>
              </a:rPr>
              <a:t>1394 kg CO₂</a:t>
            </a:r>
            <a:endParaRPr lang="en-US" sz="1000" dirty="0"/>
          </a:p>
        </p:txBody>
      </p:sp>
      <p:sp>
        <p:nvSpPr>
          <p:cNvPr id="41" name="Text 39"/>
          <p:cNvSpPr/>
          <p:nvPr/>
        </p:nvSpPr>
        <p:spPr>
          <a:xfrm>
            <a:off x="10515600" y="4754880"/>
            <a:ext cx="1188720" cy="54864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12 hrs</a:t>
            </a:r>
            <a:endParaRPr lang="en-US" sz="900" dirty="0"/>
          </a:p>
        </p:txBody>
      </p:sp>
      <p:sp>
        <p:nvSpPr>
          <p:cNvPr id="42" name="Shape 40"/>
          <p:cNvSpPr/>
          <p:nvPr/>
        </p:nvSpPr>
        <p:spPr>
          <a:xfrm>
            <a:off x="457200" y="5486400"/>
            <a:ext cx="11247120" cy="731520"/>
          </a:xfrm>
          <a:prstGeom prst="rect">
            <a:avLst>
              <a:gd name="adj" fmla="val 10000"/>
            </a:avLst>
          </a:prstGeom>
          <a:solidFill>
            <a:srgbClr val="1F2937"/>
          </a:solidFill>
          <a:ln w="6350">
            <a:solidFill>
              <a:srgbClr val="10B981"/>
            </a:solidFill>
            <a:prstDash val="solid"/>
          </a:ln>
        </p:spPr>
      </p:sp>
      <p:sp>
        <p:nvSpPr>
          <p:cNvPr id="43" name="Text 41"/>
          <p:cNvSpPr/>
          <p:nvPr/>
        </p:nvSpPr>
        <p:spPr>
          <a:xfrm>
            <a:off x="640080" y="5623560"/>
            <a:ext cx="10881360" cy="457200"/>
          </a:xfrm>
          <a:prstGeom prst="rect">
            <a:avLst/>
          </a:prstGeom>
          <a:noFill/>
          <a:ln/>
        </p:spPr>
        <p:txBody>
          <a:bodyPr wrap="square" rtlCol="0" anchor="ctr"/>
          <a:lstStyle/>
          <a:p>
            <a:pPr indent="0" marL="0">
              <a:buNone/>
            </a:pPr>
            <a:r>
              <a:rPr lang="en-US" sz="1000" dirty="0">
                <a:solidFill>
                  <a:srgbClr val="10B981"/>
                </a:solidFill>
                <a:latin typeface="Consolas" pitchFamily="34" charset="0"/>
                <a:ea typeface="Consolas" pitchFamily="34" charset="-122"/>
                <a:cs typeface="Consolas" pitchFamily="34" charset="-120"/>
              </a:rPr>
              <a:t>FREIGHT CALCULATION:  freight = distance_km × ₹4.5/tonne/km   ·   co2_emission = distance_km × 2.68 kg/km   ·   PostGIS: ST_Distance(damanjodi, buyer)</a:t>
            </a:r>
            <a:endParaRPr lang="en-US" sz="1000" dirty="0"/>
          </a:p>
        </p:txBody>
      </p:sp>
      <p:sp>
        <p:nvSpPr>
          <p:cNvPr id="44" name="Text 42"/>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45" name="Text 43"/>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8B5CF6"/>
                </a:solidFill>
                <a:latin typeface="Arial" pitchFamily="34" charset="0"/>
                <a:ea typeface="Arial" pitchFamily="34" charset="-122"/>
                <a:cs typeface="Arial" pitchFamily="34" charset="-120"/>
              </a:rPr>
              <a:t>CARBON CREDITS</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200" b="1" dirty="0">
                <a:solidFill>
                  <a:srgbClr val="FFFFFF"/>
                </a:solidFill>
                <a:latin typeface="Arial" pitchFamily="34" charset="0"/>
                <a:ea typeface="Arial" pitchFamily="34" charset="-122"/>
                <a:cs typeface="Arial" pitchFamily="34" charset="-120"/>
              </a:rPr>
              <a:t>ISO-Certified CO₂ Offset Tracking</a:t>
            </a:r>
            <a:endParaRPr lang="en-US" sz="3200" dirty="0"/>
          </a:p>
        </p:txBody>
      </p:sp>
      <p:sp>
        <p:nvSpPr>
          <p:cNvPr id="6" name="Text 4"/>
          <p:cNvSpPr/>
          <p:nvPr/>
        </p:nvSpPr>
        <p:spPr>
          <a:xfrm>
            <a:off x="457200" y="1554480"/>
            <a:ext cx="11247120" cy="548640"/>
          </a:xfrm>
          <a:prstGeom prst="rect">
            <a:avLst/>
          </a:prstGeom>
          <a:noFill/>
          <a:ln/>
        </p:spPr>
        <p:txBody>
          <a:bodyPr wrap="square" rtlCol="0" anchor="ctr"/>
          <a:lstStyle/>
          <a:p>
            <a:pPr indent="0" marL="0">
              <a:buNone/>
            </a:pPr>
            <a:r>
              <a:rPr lang="en-US" sz="1100" dirty="0">
                <a:solidFill>
                  <a:srgbClr val="D1D5DB"/>
                </a:solidFill>
                <a:latin typeface="Arial" pitchFamily="34" charset="0"/>
                <a:ea typeface="Arial" pitchFamily="34" charset="-122"/>
                <a:cs typeface="Arial" pitchFamily="34" charset="-120"/>
              </a:rPr>
              <a:t>Every tonne of red mud reused offsets between 0.15 and 0.52 tCO₂e compared to virgin raw material extraction. These savings are tracked, verified, and registered with the Indian Carbon Market under CCTS.</a:t>
            </a:r>
            <a:endParaRPr lang="en-US" sz="1100" dirty="0"/>
          </a:p>
        </p:txBody>
      </p:sp>
      <p:sp>
        <p:nvSpPr>
          <p:cNvPr id="7" name="Text 5"/>
          <p:cNvSpPr/>
          <p:nvPr/>
        </p:nvSpPr>
        <p:spPr>
          <a:xfrm>
            <a:off x="457200" y="2286000"/>
            <a:ext cx="4572000" cy="274320"/>
          </a:xfrm>
          <a:prstGeom prst="rect">
            <a:avLst/>
          </a:prstGeom>
          <a:noFill/>
          <a:ln/>
        </p:spPr>
        <p:txBody>
          <a:bodyPr wrap="square" rtlCol="0" anchor="ctr"/>
          <a:lstStyle/>
          <a:p>
            <a:pPr indent="0" marL="0">
              <a:buNone/>
            </a:pPr>
            <a:r>
              <a:rPr lang="en-US" sz="1100" b="1" dirty="0">
                <a:solidFill>
                  <a:srgbClr val="8B5CF6"/>
                </a:solidFill>
                <a:latin typeface="Arial" pitchFamily="34" charset="0"/>
                <a:ea typeface="Arial" pitchFamily="34" charset="-122"/>
                <a:cs typeface="Arial" pitchFamily="34" charset="-120"/>
              </a:rPr>
              <a:t>EMISSION FACTORS (tCO₂e / MT)</a:t>
            </a:r>
            <a:endParaRPr lang="en-US" sz="1100" dirty="0"/>
          </a:p>
        </p:txBody>
      </p:sp>
      <p:sp>
        <p:nvSpPr>
          <p:cNvPr id="8" name="Shape 6"/>
          <p:cNvSpPr/>
          <p:nvPr/>
        </p:nvSpPr>
        <p:spPr>
          <a:xfrm>
            <a:off x="457200" y="2651760"/>
            <a:ext cx="5029200" cy="320040"/>
          </a:xfrm>
          <a:prstGeom prst="rect">
            <a:avLst>
              <a:gd name="adj" fmla="val 14286"/>
            </a:avLst>
          </a:prstGeom>
          <a:solidFill>
            <a:srgbClr val="1F2937"/>
          </a:solidFill>
          <a:ln/>
        </p:spPr>
      </p:sp>
      <p:sp>
        <p:nvSpPr>
          <p:cNvPr id="9" name="Text 7"/>
          <p:cNvSpPr/>
          <p:nvPr/>
        </p:nvSpPr>
        <p:spPr>
          <a:xfrm>
            <a:off x="640080" y="265176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Cement</a:t>
            </a:r>
            <a:endParaRPr lang="en-US" sz="1000" dirty="0"/>
          </a:p>
        </p:txBody>
      </p:sp>
      <p:sp>
        <p:nvSpPr>
          <p:cNvPr id="10" name="Text 8"/>
          <p:cNvSpPr/>
          <p:nvPr/>
        </p:nvSpPr>
        <p:spPr>
          <a:xfrm>
            <a:off x="4114800" y="265176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0.44</a:t>
            </a:r>
            <a:endParaRPr lang="en-US" sz="1100" dirty="0"/>
          </a:p>
        </p:txBody>
      </p:sp>
      <p:sp>
        <p:nvSpPr>
          <p:cNvPr id="11" name="Shape 9"/>
          <p:cNvSpPr/>
          <p:nvPr/>
        </p:nvSpPr>
        <p:spPr>
          <a:xfrm>
            <a:off x="457200" y="3017520"/>
            <a:ext cx="5029200" cy="320040"/>
          </a:xfrm>
          <a:prstGeom prst="rect">
            <a:avLst>
              <a:gd name="adj" fmla="val 14286"/>
            </a:avLst>
          </a:prstGeom>
          <a:solidFill>
            <a:srgbClr val="1F2937"/>
          </a:solidFill>
          <a:ln/>
        </p:spPr>
      </p:sp>
      <p:sp>
        <p:nvSpPr>
          <p:cNvPr id="12" name="Text 10"/>
          <p:cNvSpPr/>
          <p:nvPr/>
        </p:nvSpPr>
        <p:spPr>
          <a:xfrm>
            <a:off x="640080" y="301752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Brick</a:t>
            </a:r>
            <a:endParaRPr lang="en-US" sz="1000" dirty="0"/>
          </a:p>
        </p:txBody>
      </p:sp>
      <p:sp>
        <p:nvSpPr>
          <p:cNvPr id="13" name="Text 11"/>
          <p:cNvSpPr/>
          <p:nvPr/>
        </p:nvSpPr>
        <p:spPr>
          <a:xfrm>
            <a:off x="4114800" y="301752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0.38</a:t>
            </a:r>
            <a:endParaRPr lang="en-US" sz="1100" dirty="0"/>
          </a:p>
        </p:txBody>
      </p:sp>
      <p:sp>
        <p:nvSpPr>
          <p:cNvPr id="14" name="Shape 12"/>
          <p:cNvSpPr/>
          <p:nvPr/>
        </p:nvSpPr>
        <p:spPr>
          <a:xfrm>
            <a:off x="457200" y="3383280"/>
            <a:ext cx="5029200" cy="320040"/>
          </a:xfrm>
          <a:prstGeom prst="rect">
            <a:avLst>
              <a:gd name="adj" fmla="val 14286"/>
            </a:avLst>
          </a:prstGeom>
          <a:solidFill>
            <a:srgbClr val="1F2937"/>
          </a:solidFill>
          <a:ln/>
        </p:spPr>
      </p:sp>
      <p:sp>
        <p:nvSpPr>
          <p:cNvPr id="15" name="Text 13"/>
          <p:cNvSpPr/>
          <p:nvPr/>
        </p:nvSpPr>
        <p:spPr>
          <a:xfrm>
            <a:off x="640080" y="338328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Road</a:t>
            </a:r>
            <a:endParaRPr lang="en-US" sz="1000" dirty="0"/>
          </a:p>
        </p:txBody>
      </p:sp>
      <p:sp>
        <p:nvSpPr>
          <p:cNvPr id="16" name="Text 14"/>
          <p:cNvSpPr/>
          <p:nvPr/>
        </p:nvSpPr>
        <p:spPr>
          <a:xfrm>
            <a:off x="4114800" y="338328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0.29</a:t>
            </a:r>
            <a:endParaRPr lang="en-US" sz="1100" dirty="0"/>
          </a:p>
        </p:txBody>
      </p:sp>
      <p:sp>
        <p:nvSpPr>
          <p:cNvPr id="17" name="Shape 15"/>
          <p:cNvSpPr/>
          <p:nvPr/>
        </p:nvSpPr>
        <p:spPr>
          <a:xfrm>
            <a:off x="457200" y="3749040"/>
            <a:ext cx="5029200" cy="320040"/>
          </a:xfrm>
          <a:prstGeom prst="rect">
            <a:avLst>
              <a:gd name="adj" fmla="val 14286"/>
            </a:avLst>
          </a:prstGeom>
          <a:solidFill>
            <a:srgbClr val="1F2937"/>
          </a:solidFill>
          <a:ln/>
        </p:spPr>
      </p:sp>
      <p:sp>
        <p:nvSpPr>
          <p:cNvPr id="18" name="Text 16"/>
          <p:cNvSpPr/>
          <p:nvPr/>
        </p:nvSpPr>
        <p:spPr>
          <a:xfrm>
            <a:off x="640080" y="374904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Geopolymer</a:t>
            </a:r>
            <a:endParaRPr lang="en-US" sz="1000" dirty="0"/>
          </a:p>
        </p:txBody>
      </p:sp>
      <p:sp>
        <p:nvSpPr>
          <p:cNvPr id="19" name="Text 17"/>
          <p:cNvSpPr/>
          <p:nvPr/>
        </p:nvSpPr>
        <p:spPr>
          <a:xfrm>
            <a:off x="4114800" y="374904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0.52</a:t>
            </a:r>
            <a:endParaRPr lang="en-US" sz="1100" dirty="0"/>
          </a:p>
        </p:txBody>
      </p:sp>
      <p:sp>
        <p:nvSpPr>
          <p:cNvPr id="20" name="Shape 18"/>
          <p:cNvSpPr/>
          <p:nvPr/>
        </p:nvSpPr>
        <p:spPr>
          <a:xfrm>
            <a:off x="457200" y="4114800"/>
            <a:ext cx="5029200" cy="320040"/>
          </a:xfrm>
          <a:prstGeom prst="rect">
            <a:avLst>
              <a:gd name="adj" fmla="val 14286"/>
            </a:avLst>
          </a:prstGeom>
          <a:solidFill>
            <a:srgbClr val="1F2937"/>
          </a:solidFill>
          <a:ln/>
        </p:spPr>
      </p:sp>
      <p:sp>
        <p:nvSpPr>
          <p:cNvPr id="21" name="Text 19"/>
          <p:cNvSpPr/>
          <p:nvPr/>
        </p:nvSpPr>
        <p:spPr>
          <a:xfrm>
            <a:off x="640080" y="411480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RareEarth</a:t>
            </a:r>
            <a:endParaRPr lang="en-US" sz="1000" dirty="0"/>
          </a:p>
        </p:txBody>
      </p:sp>
      <p:sp>
        <p:nvSpPr>
          <p:cNvPr id="22" name="Text 20"/>
          <p:cNvSpPr/>
          <p:nvPr/>
        </p:nvSpPr>
        <p:spPr>
          <a:xfrm>
            <a:off x="4114800" y="411480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0.15</a:t>
            </a:r>
            <a:endParaRPr lang="en-US" sz="1100" dirty="0"/>
          </a:p>
        </p:txBody>
      </p:sp>
      <p:sp>
        <p:nvSpPr>
          <p:cNvPr id="23" name="Shape 21"/>
          <p:cNvSpPr/>
          <p:nvPr/>
        </p:nvSpPr>
        <p:spPr>
          <a:xfrm>
            <a:off x="457200" y="4480560"/>
            <a:ext cx="5029200" cy="320040"/>
          </a:xfrm>
          <a:prstGeom prst="rect">
            <a:avLst>
              <a:gd name="adj" fmla="val 14286"/>
            </a:avLst>
          </a:prstGeom>
          <a:solidFill>
            <a:srgbClr val="1F2937"/>
          </a:solidFill>
          <a:ln/>
        </p:spPr>
      </p:sp>
      <p:sp>
        <p:nvSpPr>
          <p:cNvPr id="24" name="Text 22"/>
          <p:cNvSpPr/>
          <p:nvPr/>
        </p:nvSpPr>
        <p:spPr>
          <a:xfrm>
            <a:off x="640080" y="4480560"/>
            <a:ext cx="32004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WaterTreatment</a:t>
            </a:r>
            <a:endParaRPr lang="en-US" sz="1000" dirty="0"/>
          </a:p>
        </p:txBody>
      </p:sp>
      <p:sp>
        <p:nvSpPr>
          <p:cNvPr id="25" name="Text 23"/>
          <p:cNvSpPr/>
          <p:nvPr/>
        </p:nvSpPr>
        <p:spPr>
          <a:xfrm>
            <a:off x="4114800" y="4480560"/>
            <a:ext cx="1371600" cy="32004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0.22</a:t>
            </a:r>
            <a:endParaRPr lang="en-US" sz="1100" dirty="0"/>
          </a:p>
        </p:txBody>
      </p:sp>
      <p:sp>
        <p:nvSpPr>
          <p:cNvPr id="26" name="Text 24"/>
          <p:cNvSpPr/>
          <p:nvPr/>
        </p:nvSpPr>
        <p:spPr>
          <a:xfrm>
            <a:off x="5943600" y="2286000"/>
            <a:ext cx="548640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MONTHLY CO₂ SAVINGS (tCO₂e)</a:t>
            </a:r>
            <a:endParaRPr lang="en-US" sz="1100" dirty="0"/>
          </a:p>
        </p:txBody>
      </p:sp>
      <p:sp>
        <p:nvSpPr>
          <p:cNvPr id="27" name="Shape 25"/>
          <p:cNvSpPr/>
          <p:nvPr/>
        </p:nvSpPr>
        <p:spPr>
          <a:xfrm>
            <a:off x="5943600" y="2651760"/>
            <a:ext cx="5760720" cy="3200400"/>
          </a:xfrm>
          <a:prstGeom prst="rect">
            <a:avLst>
              <a:gd name="adj" fmla="val 2857"/>
            </a:avLst>
          </a:prstGeom>
          <a:solidFill>
            <a:srgbClr val="1F2937"/>
          </a:solidFill>
          <a:ln/>
        </p:spPr>
      </p:sp>
      <p:sp>
        <p:nvSpPr>
          <p:cNvPr id="28" name="Text 26"/>
          <p:cNvSpPr/>
          <p:nvPr/>
        </p:nvSpPr>
        <p:spPr>
          <a:xfrm>
            <a:off x="6035040" y="2788920"/>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Jan</a:t>
            </a:r>
            <a:endParaRPr lang="en-US" sz="800" dirty="0"/>
          </a:p>
        </p:txBody>
      </p:sp>
      <p:sp>
        <p:nvSpPr>
          <p:cNvPr id="29" name="Shape 27"/>
          <p:cNvSpPr/>
          <p:nvPr/>
        </p:nvSpPr>
        <p:spPr>
          <a:xfrm>
            <a:off x="6675120" y="2816352"/>
            <a:ext cx="1093808" cy="182880"/>
          </a:xfrm>
          <a:prstGeom prst="rect">
            <a:avLst>
              <a:gd name="adj" fmla="val 25000"/>
            </a:avLst>
          </a:prstGeom>
          <a:solidFill>
            <a:srgbClr val="10B981"/>
          </a:solidFill>
          <a:ln/>
        </p:spPr>
      </p:sp>
      <p:sp>
        <p:nvSpPr>
          <p:cNvPr id="30" name="Text 28"/>
          <p:cNvSpPr/>
          <p:nvPr/>
        </p:nvSpPr>
        <p:spPr>
          <a:xfrm>
            <a:off x="10972800" y="2788920"/>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420</a:t>
            </a:r>
            <a:endParaRPr lang="en-US" sz="800" dirty="0"/>
          </a:p>
        </p:txBody>
      </p:sp>
      <p:sp>
        <p:nvSpPr>
          <p:cNvPr id="31" name="Text 29"/>
          <p:cNvSpPr/>
          <p:nvPr/>
        </p:nvSpPr>
        <p:spPr>
          <a:xfrm>
            <a:off x="6035040" y="3044952"/>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Feb</a:t>
            </a:r>
            <a:endParaRPr lang="en-US" sz="800" dirty="0"/>
          </a:p>
        </p:txBody>
      </p:sp>
      <p:sp>
        <p:nvSpPr>
          <p:cNvPr id="32" name="Shape 30"/>
          <p:cNvSpPr/>
          <p:nvPr/>
        </p:nvSpPr>
        <p:spPr>
          <a:xfrm>
            <a:off x="6675120" y="3072384"/>
            <a:ext cx="1510496" cy="182880"/>
          </a:xfrm>
          <a:prstGeom prst="rect">
            <a:avLst>
              <a:gd name="adj" fmla="val 25000"/>
            </a:avLst>
          </a:prstGeom>
          <a:solidFill>
            <a:srgbClr val="10B981"/>
          </a:solidFill>
          <a:ln/>
        </p:spPr>
      </p:sp>
      <p:sp>
        <p:nvSpPr>
          <p:cNvPr id="33" name="Text 31"/>
          <p:cNvSpPr/>
          <p:nvPr/>
        </p:nvSpPr>
        <p:spPr>
          <a:xfrm>
            <a:off x="10972800" y="3044952"/>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580</a:t>
            </a:r>
            <a:endParaRPr lang="en-US" sz="800" dirty="0"/>
          </a:p>
        </p:txBody>
      </p:sp>
      <p:sp>
        <p:nvSpPr>
          <p:cNvPr id="34" name="Text 32"/>
          <p:cNvSpPr/>
          <p:nvPr/>
        </p:nvSpPr>
        <p:spPr>
          <a:xfrm>
            <a:off x="6035040" y="3300984"/>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Mar</a:t>
            </a:r>
            <a:endParaRPr lang="en-US" sz="800" dirty="0"/>
          </a:p>
        </p:txBody>
      </p:sp>
      <p:sp>
        <p:nvSpPr>
          <p:cNvPr id="35" name="Shape 33"/>
          <p:cNvSpPr/>
          <p:nvPr/>
        </p:nvSpPr>
        <p:spPr>
          <a:xfrm>
            <a:off x="6675120" y="3328416"/>
            <a:ext cx="1692797" cy="182880"/>
          </a:xfrm>
          <a:prstGeom prst="rect">
            <a:avLst>
              <a:gd name="adj" fmla="val 25000"/>
            </a:avLst>
          </a:prstGeom>
          <a:solidFill>
            <a:srgbClr val="10B981"/>
          </a:solidFill>
          <a:ln/>
        </p:spPr>
      </p:sp>
      <p:sp>
        <p:nvSpPr>
          <p:cNvPr id="36" name="Text 34"/>
          <p:cNvSpPr/>
          <p:nvPr/>
        </p:nvSpPr>
        <p:spPr>
          <a:xfrm>
            <a:off x="10972800" y="3300984"/>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650</a:t>
            </a:r>
            <a:endParaRPr lang="en-US" sz="800" dirty="0"/>
          </a:p>
        </p:txBody>
      </p:sp>
      <p:sp>
        <p:nvSpPr>
          <p:cNvPr id="37" name="Text 35"/>
          <p:cNvSpPr/>
          <p:nvPr/>
        </p:nvSpPr>
        <p:spPr>
          <a:xfrm>
            <a:off x="6035040" y="3557016"/>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Apr</a:t>
            </a:r>
            <a:endParaRPr lang="en-US" sz="800" dirty="0"/>
          </a:p>
        </p:txBody>
      </p:sp>
      <p:sp>
        <p:nvSpPr>
          <p:cNvPr id="38" name="Shape 36"/>
          <p:cNvSpPr/>
          <p:nvPr/>
        </p:nvSpPr>
        <p:spPr>
          <a:xfrm>
            <a:off x="6675120" y="3584448"/>
            <a:ext cx="1849056" cy="182880"/>
          </a:xfrm>
          <a:prstGeom prst="rect">
            <a:avLst>
              <a:gd name="adj" fmla="val 25000"/>
            </a:avLst>
          </a:prstGeom>
          <a:solidFill>
            <a:srgbClr val="10B981"/>
          </a:solidFill>
          <a:ln/>
        </p:spPr>
      </p:sp>
      <p:sp>
        <p:nvSpPr>
          <p:cNvPr id="39" name="Text 37"/>
          <p:cNvSpPr/>
          <p:nvPr/>
        </p:nvSpPr>
        <p:spPr>
          <a:xfrm>
            <a:off x="10972800" y="3557016"/>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710</a:t>
            </a:r>
            <a:endParaRPr lang="en-US" sz="800" dirty="0"/>
          </a:p>
        </p:txBody>
      </p:sp>
      <p:sp>
        <p:nvSpPr>
          <p:cNvPr id="40" name="Text 38"/>
          <p:cNvSpPr/>
          <p:nvPr/>
        </p:nvSpPr>
        <p:spPr>
          <a:xfrm>
            <a:off x="6035040" y="3813048"/>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May</a:t>
            </a:r>
            <a:endParaRPr lang="en-US" sz="800" dirty="0"/>
          </a:p>
        </p:txBody>
      </p:sp>
      <p:sp>
        <p:nvSpPr>
          <p:cNvPr id="41" name="Shape 39"/>
          <p:cNvSpPr/>
          <p:nvPr/>
        </p:nvSpPr>
        <p:spPr>
          <a:xfrm>
            <a:off x="6675120" y="3840480"/>
            <a:ext cx="2161572" cy="182880"/>
          </a:xfrm>
          <a:prstGeom prst="rect">
            <a:avLst>
              <a:gd name="adj" fmla="val 25000"/>
            </a:avLst>
          </a:prstGeom>
          <a:solidFill>
            <a:srgbClr val="10B981"/>
          </a:solidFill>
          <a:ln/>
        </p:spPr>
      </p:sp>
      <p:sp>
        <p:nvSpPr>
          <p:cNvPr id="42" name="Text 40"/>
          <p:cNvSpPr/>
          <p:nvPr/>
        </p:nvSpPr>
        <p:spPr>
          <a:xfrm>
            <a:off x="10972800" y="3813048"/>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830</a:t>
            </a:r>
            <a:endParaRPr lang="en-US" sz="800" dirty="0"/>
          </a:p>
        </p:txBody>
      </p:sp>
      <p:sp>
        <p:nvSpPr>
          <p:cNvPr id="43" name="Text 41"/>
          <p:cNvSpPr/>
          <p:nvPr/>
        </p:nvSpPr>
        <p:spPr>
          <a:xfrm>
            <a:off x="6035040" y="4069080"/>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Jun</a:t>
            </a:r>
            <a:endParaRPr lang="en-US" sz="800" dirty="0"/>
          </a:p>
        </p:txBody>
      </p:sp>
      <p:sp>
        <p:nvSpPr>
          <p:cNvPr id="44" name="Shape 42"/>
          <p:cNvSpPr/>
          <p:nvPr/>
        </p:nvSpPr>
        <p:spPr>
          <a:xfrm>
            <a:off x="6675120" y="4096512"/>
            <a:ext cx="2395959" cy="182880"/>
          </a:xfrm>
          <a:prstGeom prst="rect">
            <a:avLst>
              <a:gd name="adj" fmla="val 25000"/>
            </a:avLst>
          </a:prstGeom>
          <a:solidFill>
            <a:srgbClr val="10B981"/>
          </a:solidFill>
          <a:ln/>
        </p:spPr>
      </p:sp>
      <p:sp>
        <p:nvSpPr>
          <p:cNvPr id="45" name="Text 43"/>
          <p:cNvSpPr/>
          <p:nvPr/>
        </p:nvSpPr>
        <p:spPr>
          <a:xfrm>
            <a:off x="10972800" y="4069080"/>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920</a:t>
            </a:r>
            <a:endParaRPr lang="en-US" sz="800" dirty="0"/>
          </a:p>
        </p:txBody>
      </p:sp>
      <p:sp>
        <p:nvSpPr>
          <p:cNvPr id="46" name="Text 44"/>
          <p:cNvSpPr/>
          <p:nvPr/>
        </p:nvSpPr>
        <p:spPr>
          <a:xfrm>
            <a:off x="6035040" y="4325112"/>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Jul</a:t>
            </a:r>
            <a:endParaRPr lang="en-US" sz="800" dirty="0"/>
          </a:p>
        </p:txBody>
      </p:sp>
      <p:sp>
        <p:nvSpPr>
          <p:cNvPr id="47" name="Shape 45"/>
          <p:cNvSpPr/>
          <p:nvPr/>
        </p:nvSpPr>
        <p:spPr>
          <a:xfrm>
            <a:off x="6675120" y="4352544"/>
            <a:ext cx="2734519" cy="182880"/>
          </a:xfrm>
          <a:prstGeom prst="rect">
            <a:avLst>
              <a:gd name="adj" fmla="val 25000"/>
            </a:avLst>
          </a:prstGeom>
          <a:solidFill>
            <a:srgbClr val="10B981"/>
          </a:solidFill>
          <a:ln/>
        </p:spPr>
      </p:sp>
      <p:sp>
        <p:nvSpPr>
          <p:cNvPr id="48" name="Text 46"/>
          <p:cNvSpPr/>
          <p:nvPr/>
        </p:nvSpPr>
        <p:spPr>
          <a:xfrm>
            <a:off x="10972800" y="4325112"/>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1050</a:t>
            </a:r>
            <a:endParaRPr lang="en-US" sz="800" dirty="0"/>
          </a:p>
        </p:txBody>
      </p:sp>
      <p:sp>
        <p:nvSpPr>
          <p:cNvPr id="49" name="Text 47"/>
          <p:cNvSpPr/>
          <p:nvPr/>
        </p:nvSpPr>
        <p:spPr>
          <a:xfrm>
            <a:off x="6035040" y="4581144"/>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Aug</a:t>
            </a:r>
            <a:endParaRPr lang="en-US" sz="800" dirty="0"/>
          </a:p>
        </p:txBody>
      </p:sp>
      <p:sp>
        <p:nvSpPr>
          <p:cNvPr id="50" name="Shape 48"/>
          <p:cNvSpPr/>
          <p:nvPr/>
        </p:nvSpPr>
        <p:spPr>
          <a:xfrm>
            <a:off x="6675120" y="4608576"/>
            <a:ext cx="3073078" cy="182880"/>
          </a:xfrm>
          <a:prstGeom prst="rect">
            <a:avLst>
              <a:gd name="adj" fmla="val 25000"/>
            </a:avLst>
          </a:prstGeom>
          <a:solidFill>
            <a:srgbClr val="10B981"/>
          </a:solidFill>
          <a:ln/>
        </p:spPr>
      </p:sp>
      <p:sp>
        <p:nvSpPr>
          <p:cNvPr id="51" name="Text 49"/>
          <p:cNvSpPr/>
          <p:nvPr/>
        </p:nvSpPr>
        <p:spPr>
          <a:xfrm>
            <a:off x="10972800" y="4581144"/>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1180</a:t>
            </a:r>
            <a:endParaRPr lang="en-US" sz="800" dirty="0"/>
          </a:p>
        </p:txBody>
      </p:sp>
      <p:sp>
        <p:nvSpPr>
          <p:cNvPr id="52" name="Text 50"/>
          <p:cNvSpPr/>
          <p:nvPr/>
        </p:nvSpPr>
        <p:spPr>
          <a:xfrm>
            <a:off x="6035040" y="4837176"/>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Sep</a:t>
            </a:r>
            <a:endParaRPr lang="en-US" sz="800" dirty="0"/>
          </a:p>
        </p:txBody>
      </p:sp>
      <p:sp>
        <p:nvSpPr>
          <p:cNvPr id="53" name="Shape 51"/>
          <p:cNvSpPr/>
          <p:nvPr/>
        </p:nvSpPr>
        <p:spPr>
          <a:xfrm>
            <a:off x="6675120" y="4864608"/>
            <a:ext cx="3229337" cy="182880"/>
          </a:xfrm>
          <a:prstGeom prst="rect">
            <a:avLst>
              <a:gd name="adj" fmla="val 25000"/>
            </a:avLst>
          </a:prstGeom>
          <a:solidFill>
            <a:srgbClr val="10B981"/>
          </a:solidFill>
          <a:ln/>
        </p:spPr>
      </p:sp>
      <p:sp>
        <p:nvSpPr>
          <p:cNvPr id="54" name="Text 52"/>
          <p:cNvSpPr/>
          <p:nvPr/>
        </p:nvSpPr>
        <p:spPr>
          <a:xfrm>
            <a:off x="10972800" y="4837176"/>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1240</a:t>
            </a:r>
            <a:endParaRPr lang="en-US" sz="800" dirty="0"/>
          </a:p>
        </p:txBody>
      </p:sp>
      <p:sp>
        <p:nvSpPr>
          <p:cNvPr id="55" name="Text 53"/>
          <p:cNvSpPr/>
          <p:nvPr/>
        </p:nvSpPr>
        <p:spPr>
          <a:xfrm>
            <a:off x="6035040" y="5093208"/>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Oct</a:t>
            </a:r>
            <a:endParaRPr lang="en-US" sz="800" dirty="0"/>
          </a:p>
        </p:txBody>
      </p:sp>
      <p:sp>
        <p:nvSpPr>
          <p:cNvPr id="56" name="Shape 54"/>
          <p:cNvSpPr/>
          <p:nvPr/>
        </p:nvSpPr>
        <p:spPr>
          <a:xfrm>
            <a:off x="6675120" y="5120640"/>
            <a:ext cx="3593939" cy="182880"/>
          </a:xfrm>
          <a:prstGeom prst="rect">
            <a:avLst>
              <a:gd name="adj" fmla="val 25000"/>
            </a:avLst>
          </a:prstGeom>
          <a:solidFill>
            <a:srgbClr val="10B981"/>
          </a:solidFill>
          <a:ln/>
        </p:spPr>
      </p:sp>
      <p:sp>
        <p:nvSpPr>
          <p:cNvPr id="57" name="Text 55"/>
          <p:cNvSpPr/>
          <p:nvPr/>
        </p:nvSpPr>
        <p:spPr>
          <a:xfrm>
            <a:off x="10972800" y="5093208"/>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1380</a:t>
            </a:r>
            <a:endParaRPr lang="en-US" sz="800" dirty="0"/>
          </a:p>
        </p:txBody>
      </p:sp>
      <p:sp>
        <p:nvSpPr>
          <p:cNvPr id="58" name="Text 56"/>
          <p:cNvSpPr/>
          <p:nvPr/>
        </p:nvSpPr>
        <p:spPr>
          <a:xfrm>
            <a:off x="6035040" y="5349240"/>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Nov</a:t>
            </a:r>
            <a:endParaRPr lang="en-US" sz="800" dirty="0"/>
          </a:p>
        </p:txBody>
      </p:sp>
      <p:sp>
        <p:nvSpPr>
          <p:cNvPr id="59" name="Shape 57"/>
          <p:cNvSpPr/>
          <p:nvPr/>
        </p:nvSpPr>
        <p:spPr>
          <a:xfrm>
            <a:off x="6675120" y="5376672"/>
            <a:ext cx="3776241" cy="182880"/>
          </a:xfrm>
          <a:prstGeom prst="rect">
            <a:avLst>
              <a:gd name="adj" fmla="val 25000"/>
            </a:avLst>
          </a:prstGeom>
          <a:solidFill>
            <a:srgbClr val="10B981"/>
          </a:solidFill>
          <a:ln/>
        </p:spPr>
      </p:sp>
      <p:sp>
        <p:nvSpPr>
          <p:cNvPr id="60" name="Text 58"/>
          <p:cNvSpPr/>
          <p:nvPr/>
        </p:nvSpPr>
        <p:spPr>
          <a:xfrm>
            <a:off x="10972800" y="5349240"/>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1450</a:t>
            </a:r>
            <a:endParaRPr lang="en-US" sz="800" dirty="0"/>
          </a:p>
        </p:txBody>
      </p:sp>
      <p:sp>
        <p:nvSpPr>
          <p:cNvPr id="61" name="Text 59"/>
          <p:cNvSpPr/>
          <p:nvPr/>
        </p:nvSpPr>
        <p:spPr>
          <a:xfrm>
            <a:off x="6035040" y="5605272"/>
            <a:ext cx="548640" cy="22860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Dec</a:t>
            </a:r>
            <a:endParaRPr lang="en-US" sz="800" dirty="0"/>
          </a:p>
        </p:txBody>
      </p:sp>
      <p:sp>
        <p:nvSpPr>
          <p:cNvPr id="62" name="Shape 60"/>
          <p:cNvSpPr/>
          <p:nvPr/>
        </p:nvSpPr>
        <p:spPr>
          <a:xfrm>
            <a:off x="6675120" y="5632704"/>
            <a:ext cx="4114800" cy="182880"/>
          </a:xfrm>
          <a:prstGeom prst="rect">
            <a:avLst>
              <a:gd name="adj" fmla="val 25000"/>
            </a:avLst>
          </a:prstGeom>
          <a:solidFill>
            <a:srgbClr val="10B981"/>
          </a:solidFill>
          <a:ln/>
        </p:spPr>
      </p:sp>
      <p:sp>
        <p:nvSpPr>
          <p:cNvPr id="63" name="Text 61"/>
          <p:cNvSpPr/>
          <p:nvPr/>
        </p:nvSpPr>
        <p:spPr>
          <a:xfrm>
            <a:off x="10972800" y="5605272"/>
            <a:ext cx="64008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1580</a:t>
            </a:r>
            <a:endParaRPr lang="en-US" sz="800" dirty="0"/>
          </a:p>
        </p:txBody>
      </p:sp>
      <p:sp>
        <p:nvSpPr>
          <p:cNvPr id="64" name="Shape 62"/>
          <p:cNvSpPr/>
          <p:nvPr/>
        </p:nvSpPr>
        <p:spPr>
          <a:xfrm>
            <a:off x="457200" y="5303520"/>
            <a:ext cx="3657600" cy="914400"/>
          </a:xfrm>
          <a:prstGeom prst="rect">
            <a:avLst>
              <a:gd name="adj" fmla="val 8000"/>
            </a:avLst>
          </a:prstGeom>
          <a:solidFill>
            <a:srgbClr val="1F2937"/>
          </a:solidFill>
          <a:ln w="12700">
            <a:solidFill>
              <a:srgbClr val="8B5CF6"/>
            </a:solidFill>
            <a:prstDash val="solid"/>
          </a:ln>
        </p:spPr>
      </p:sp>
      <p:sp>
        <p:nvSpPr>
          <p:cNvPr id="65" name="Text 63"/>
          <p:cNvSpPr/>
          <p:nvPr/>
        </p:nvSpPr>
        <p:spPr>
          <a:xfrm>
            <a:off x="457200" y="5440680"/>
            <a:ext cx="3657600" cy="365760"/>
          </a:xfrm>
          <a:prstGeom prst="rect">
            <a:avLst/>
          </a:prstGeom>
          <a:noFill/>
          <a:ln/>
        </p:spPr>
        <p:txBody>
          <a:bodyPr wrap="square" rtlCol="0" anchor="ctr"/>
          <a:lstStyle/>
          <a:p>
            <a:pPr algn="ctr" indent="0" marL="0">
              <a:buNone/>
            </a:pPr>
            <a:r>
              <a:rPr lang="en-US" sz="1400" b="1" dirty="0">
                <a:solidFill>
                  <a:srgbClr val="8B5CF6"/>
                </a:solidFill>
                <a:latin typeface="Arial" pitchFamily="34" charset="0"/>
                <a:ea typeface="Arial" pitchFamily="34" charset="-122"/>
                <a:cs typeface="Arial" pitchFamily="34" charset="-120"/>
              </a:rPr>
              <a:t>₹1,500 /tCO₂e on CCTS</a:t>
            </a:r>
            <a:endParaRPr lang="en-US" sz="1400" dirty="0"/>
          </a:p>
        </p:txBody>
      </p:sp>
      <p:sp>
        <p:nvSpPr>
          <p:cNvPr id="66" name="Text 64"/>
          <p:cNvSpPr/>
          <p:nvPr/>
        </p:nvSpPr>
        <p:spPr>
          <a:xfrm>
            <a:off x="457200" y="5806440"/>
            <a:ext cx="36576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Carbon Credit Price</a:t>
            </a:r>
            <a:endParaRPr lang="en-US" sz="900" dirty="0"/>
          </a:p>
        </p:txBody>
      </p:sp>
      <p:sp>
        <p:nvSpPr>
          <p:cNvPr id="67" name="Shape 65"/>
          <p:cNvSpPr/>
          <p:nvPr/>
        </p:nvSpPr>
        <p:spPr>
          <a:xfrm>
            <a:off x="4297680" y="5303520"/>
            <a:ext cx="3657600" cy="914400"/>
          </a:xfrm>
          <a:prstGeom prst="rect">
            <a:avLst>
              <a:gd name="adj" fmla="val 8000"/>
            </a:avLst>
          </a:prstGeom>
          <a:solidFill>
            <a:srgbClr val="1F2937"/>
          </a:solidFill>
          <a:ln w="12700">
            <a:solidFill>
              <a:srgbClr val="10B981"/>
            </a:solidFill>
            <a:prstDash val="solid"/>
          </a:ln>
        </p:spPr>
      </p:sp>
      <p:sp>
        <p:nvSpPr>
          <p:cNvPr id="68" name="Text 66"/>
          <p:cNvSpPr/>
          <p:nvPr/>
        </p:nvSpPr>
        <p:spPr>
          <a:xfrm>
            <a:off x="4297680" y="5440680"/>
            <a:ext cx="3657600" cy="365760"/>
          </a:xfrm>
          <a:prstGeom prst="rect">
            <a:avLst/>
          </a:prstGeom>
          <a:noFill/>
          <a:ln/>
        </p:spPr>
        <p:txBody>
          <a:bodyPr wrap="square" rtlCol="0" anchor="ctr"/>
          <a:lstStyle/>
          <a:p>
            <a:pPr algn="ctr" indent="0" marL="0">
              <a:buNone/>
            </a:pPr>
            <a:r>
              <a:rPr lang="en-US" sz="1400" b="1" dirty="0">
                <a:solidFill>
                  <a:srgbClr val="10B981"/>
                </a:solidFill>
                <a:latin typeface="Arial" pitchFamily="34" charset="0"/>
                <a:ea typeface="Arial" pitchFamily="34" charset="-122"/>
                <a:cs typeface="Arial" pitchFamily="34" charset="-120"/>
              </a:rPr>
              <a:t>ISO-14064-2:2019</a:t>
            </a:r>
            <a:endParaRPr lang="en-US" sz="1400" dirty="0"/>
          </a:p>
        </p:txBody>
      </p:sp>
      <p:sp>
        <p:nvSpPr>
          <p:cNvPr id="69" name="Text 67"/>
          <p:cNvSpPr/>
          <p:nvPr/>
        </p:nvSpPr>
        <p:spPr>
          <a:xfrm>
            <a:off x="4297680" y="5806440"/>
            <a:ext cx="36576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Certified Methodology</a:t>
            </a:r>
            <a:endParaRPr lang="en-US" sz="900" dirty="0"/>
          </a:p>
        </p:txBody>
      </p:sp>
      <p:sp>
        <p:nvSpPr>
          <p:cNvPr id="70" name="Shape 68"/>
          <p:cNvSpPr/>
          <p:nvPr/>
        </p:nvSpPr>
        <p:spPr>
          <a:xfrm>
            <a:off x="8138160" y="5303520"/>
            <a:ext cx="3657600" cy="914400"/>
          </a:xfrm>
          <a:prstGeom prst="rect">
            <a:avLst>
              <a:gd name="adj" fmla="val 8000"/>
            </a:avLst>
          </a:prstGeom>
          <a:solidFill>
            <a:srgbClr val="1F2937"/>
          </a:solidFill>
          <a:ln w="12700">
            <a:solidFill>
              <a:srgbClr val="F59E0B"/>
            </a:solidFill>
            <a:prstDash val="solid"/>
          </a:ln>
        </p:spPr>
      </p:sp>
      <p:sp>
        <p:nvSpPr>
          <p:cNvPr id="71" name="Text 69"/>
          <p:cNvSpPr/>
          <p:nvPr/>
        </p:nvSpPr>
        <p:spPr>
          <a:xfrm>
            <a:off x="8138160" y="5440680"/>
            <a:ext cx="3657600" cy="365760"/>
          </a:xfrm>
          <a:prstGeom prst="rect">
            <a:avLst/>
          </a:prstGeom>
          <a:noFill/>
          <a:ln/>
        </p:spPr>
        <p:txBody>
          <a:bodyPr wrap="square" rtlCol="0" anchor="ctr"/>
          <a:lstStyle/>
          <a:p>
            <a:pPr algn="ctr" indent="0" marL="0">
              <a:buNone/>
            </a:pPr>
            <a:r>
              <a:rPr lang="en-US" sz="1400" b="1" dirty="0">
                <a:solidFill>
                  <a:srgbClr val="F59E0B"/>
                </a:solidFill>
                <a:latin typeface="Arial" pitchFamily="34" charset="0"/>
                <a:ea typeface="Arial" pitchFamily="34" charset="-122"/>
                <a:cs typeface="Arial" pitchFamily="34" charset="-120"/>
              </a:rPr>
              <a:t>₹2.37 Cr/year</a:t>
            </a:r>
            <a:endParaRPr lang="en-US" sz="1400" dirty="0"/>
          </a:p>
        </p:txBody>
      </p:sp>
      <p:sp>
        <p:nvSpPr>
          <p:cNvPr id="72" name="Text 70"/>
          <p:cNvSpPr/>
          <p:nvPr/>
        </p:nvSpPr>
        <p:spPr>
          <a:xfrm>
            <a:off x="8138160" y="5806440"/>
            <a:ext cx="36576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Year 1 Carbon Revenue</a:t>
            </a:r>
            <a:endParaRPr lang="en-US" sz="900" dirty="0"/>
          </a:p>
        </p:txBody>
      </p:sp>
      <p:sp>
        <p:nvSpPr>
          <p:cNvPr id="73" name="Text 71"/>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74" name="Text 72"/>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F59E0B"/>
                </a:solidFill>
                <a:latin typeface="Arial" pitchFamily="34" charset="0"/>
                <a:ea typeface="Arial" pitchFamily="34" charset="-122"/>
                <a:cs typeface="Arial" pitchFamily="34" charset="-120"/>
              </a:rPr>
              <a:t>MARKET SIZE</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200" b="1" dirty="0">
                <a:solidFill>
                  <a:srgbClr val="FFFFFF"/>
                </a:solidFill>
                <a:latin typeface="Arial" pitchFamily="34" charset="0"/>
                <a:ea typeface="Arial" pitchFamily="34" charset="-122"/>
                <a:cs typeface="Arial" pitchFamily="34" charset="-120"/>
              </a:rPr>
              <a:t>₹8,500 Cr Total Addressable Market</a:t>
            </a:r>
            <a:endParaRPr lang="en-US" sz="3200" dirty="0"/>
          </a:p>
        </p:txBody>
      </p:sp>
      <p:sp>
        <p:nvSpPr>
          <p:cNvPr id="6" name="Text 4"/>
          <p:cNvSpPr/>
          <p:nvPr/>
        </p:nvSpPr>
        <p:spPr>
          <a:xfrm>
            <a:off x="457200" y="1554480"/>
            <a:ext cx="457200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Total Addressable Market: ₹8,500 Cr</a:t>
            </a:r>
            <a:endParaRPr lang="en-US" sz="1100" dirty="0"/>
          </a:p>
        </p:txBody>
      </p:sp>
      <p:sp>
        <p:nvSpPr>
          <p:cNvPr id="7" name="Shape 5"/>
          <p:cNvSpPr/>
          <p:nvPr/>
        </p:nvSpPr>
        <p:spPr>
          <a:xfrm>
            <a:off x="457200" y="1874520"/>
            <a:ext cx="11247120" cy="228600"/>
          </a:xfrm>
          <a:prstGeom prst="rect">
            <a:avLst>
              <a:gd name="adj" fmla="val 40000"/>
            </a:avLst>
          </a:prstGeom>
          <a:solidFill>
            <a:srgbClr val="1F2937"/>
          </a:solidFill>
          <a:ln/>
        </p:spPr>
      </p:sp>
      <p:sp>
        <p:nvSpPr>
          <p:cNvPr id="8" name="Shape 6"/>
          <p:cNvSpPr/>
          <p:nvPr/>
        </p:nvSpPr>
        <p:spPr>
          <a:xfrm>
            <a:off x="457200" y="1874520"/>
            <a:ext cx="11247120" cy="228600"/>
          </a:xfrm>
          <a:prstGeom prst="rect">
            <a:avLst>
              <a:gd name="adj" fmla="val 40000"/>
            </a:avLst>
          </a:prstGeom>
          <a:solidFill>
            <a:srgbClr val="F59E0B"/>
          </a:solidFill>
          <a:ln/>
        </p:spPr>
      </p:sp>
      <p:sp>
        <p:nvSpPr>
          <p:cNvPr id="9" name="Text 7"/>
          <p:cNvSpPr/>
          <p:nvPr/>
        </p:nvSpPr>
        <p:spPr>
          <a:xfrm>
            <a:off x="457200" y="2286000"/>
            <a:ext cx="457200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Serviceable Market: ₹2,100 Cr</a:t>
            </a:r>
            <a:endParaRPr lang="en-US" sz="1100" dirty="0"/>
          </a:p>
        </p:txBody>
      </p:sp>
      <p:sp>
        <p:nvSpPr>
          <p:cNvPr id="10" name="Shape 8"/>
          <p:cNvSpPr/>
          <p:nvPr/>
        </p:nvSpPr>
        <p:spPr>
          <a:xfrm>
            <a:off x="457200" y="2606040"/>
            <a:ext cx="11247120" cy="228600"/>
          </a:xfrm>
          <a:prstGeom prst="rect">
            <a:avLst>
              <a:gd name="adj" fmla="val 40000"/>
            </a:avLst>
          </a:prstGeom>
          <a:solidFill>
            <a:srgbClr val="1F2937"/>
          </a:solidFill>
          <a:ln/>
        </p:spPr>
      </p:sp>
      <p:sp>
        <p:nvSpPr>
          <p:cNvPr id="11" name="Shape 9"/>
          <p:cNvSpPr/>
          <p:nvPr/>
        </p:nvSpPr>
        <p:spPr>
          <a:xfrm>
            <a:off x="457200" y="2606040"/>
            <a:ext cx="2811780" cy="228600"/>
          </a:xfrm>
          <a:prstGeom prst="rect">
            <a:avLst>
              <a:gd name="adj" fmla="val 40000"/>
            </a:avLst>
          </a:prstGeom>
          <a:solidFill>
            <a:srgbClr val="3B82F6"/>
          </a:solidFill>
          <a:ln/>
        </p:spPr>
      </p:sp>
      <p:sp>
        <p:nvSpPr>
          <p:cNvPr id="12" name="Text 10"/>
          <p:cNvSpPr/>
          <p:nvPr/>
        </p:nvSpPr>
        <p:spPr>
          <a:xfrm>
            <a:off x="457200" y="3017520"/>
            <a:ext cx="457200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Initial Capture (Year 1): ₹350 Cr</a:t>
            </a:r>
            <a:endParaRPr lang="en-US" sz="1100" dirty="0"/>
          </a:p>
        </p:txBody>
      </p:sp>
      <p:sp>
        <p:nvSpPr>
          <p:cNvPr id="13" name="Shape 11"/>
          <p:cNvSpPr/>
          <p:nvPr/>
        </p:nvSpPr>
        <p:spPr>
          <a:xfrm>
            <a:off x="457200" y="3337560"/>
            <a:ext cx="11247120" cy="228600"/>
          </a:xfrm>
          <a:prstGeom prst="rect">
            <a:avLst>
              <a:gd name="adj" fmla="val 40000"/>
            </a:avLst>
          </a:prstGeom>
          <a:solidFill>
            <a:srgbClr val="1F2937"/>
          </a:solidFill>
          <a:ln/>
        </p:spPr>
      </p:sp>
      <p:sp>
        <p:nvSpPr>
          <p:cNvPr id="14" name="Shape 12"/>
          <p:cNvSpPr/>
          <p:nvPr/>
        </p:nvSpPr>
        <p:spPr>
          <a:xfrm>
            <a:off x="457200" y="3337560"/>
            <a:ext cx="449885" cy="228600"/>
          </a:xfrm>
          <a:prstGeom prst="rect">
            <a:avLst>
              <a:gd name="adj" fmla="val 40000"/>
            </a:avLst>
          </a:prstGeom>
          <a:solidFill>
            <a:srgbClr val="10B981"/>
          </a:solidFill>
          <a:ln/>
        </p:spPr>
      </p:sp>
      <p:sp>
        <p:nvSpPr>
          <p:cNvPr id="15" name="Text 13"/>
          <p:cNvSpPr/>
          <p:nvPr/>
        </p:nvSpPr>
        <p:spPr>
          <a:xfrm>
            <a:off x="457200" y="3840480"/>
            <a:ext cx="548640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MARKET SEGMENTS</a:t>
            </a:r>
            <a:endParaRPr lang="en-US" sz="1100" dirty="0"/>
          </a:p>
        </p:txBody>
      </p:sp>
      <p:sp>
        <p:nvSpPr>
          <p:cNvPr id="16" name="Shape 14"/>
          <p:cNvSpPr/>
          <p:nvPr/>
        </p:nvSpPr>
        <p:spPr>
          <a:xfrm>
            <a:off x="457200" y="4206240"/>
            <a:ext cx="5943600" cy="365760"/>
          </a:xfrm>
          <a:prstGeom prst="rect">
            <a:avLst>
              <a:gd name="adj" fmla="val 12500"/>
            </a:avLst>
          </a:prstGeom>
          <a:solidFill>
            <a:srgbClr val="1F2937"/>
          </a:solidFill>
          <a:ln/>
        </p:spPr>
      </p:sp>
      <p:sp>
        <p:nvSpPr>
          <p:cNvPr id="17" name="Text 15"/>
          <p:cNvSpPr/>
          <p:nvPr/>
        </p:nvSpPr>
        <p:spPr>
          <a:xfrm>
            <a:off x="640080" y="4206240"/>
            <a:ext cx="27432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Cement Industry</a:t>
            </a:r>
            <a:endParaRPr lang="en-US" sz="1000" dirty="0"/>
          </a:p>
        </p:txBody>
      </p:sp>
      <p:sp>
        <p:nvSpPr>
          <p:cNvPr id="18" name="Text 16"/>
          <p:cNvSpPr/>
          <p:nvPr/>
        </p:nvSpPr>
        <p:spPr>
          <a:xfrm>
            <a:off x="3383280" y="4206240"/>
            <a:ext cx="1371600" cy="36576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₹4200 Cr (49%)</a:t>
            </a:r>
            <a:endParaRPr lang="en-US" sz="900" dirty="0"/>
          </a:p>
        </p:txBody>
      </p:sp>
      <p:sp>
        <p:nvSpPr>
          <p:cNvPr id="19" name="Text 17"/>
          <p:cNvSpPr/>
          <p:nvPr/>
        </p:nvSpPr>
        <p:spPr>
          <a:xfrm>
            <a:off x="4937760" y="4206240"/>
            <a:ext cx="1371600" cy="365760"/>
          </a:xfrm>
          <a:prstGeom prst="rect">
            <a:avLst/>
          </a:prstGeom>
          <a:noFill/>
          <a:ln/>
        </p:spPr>
        <p:txBody>
          <a:bodyPr wrap="square" rtlCol="0" anchor="ctr"/>
          <a:lstStyle/>
          <a:p>
            <a:pPr algn="r" indent="0" marL="0">
              <a:buNone/>
            </a:pPr>
            <a:r>
              <a:rPr lang="en-US" sz="1000" b="1" dirty="0">
                <a:solidFill>
                  <a:srgbClr val="10B981"/>
                </a:solidFill>
                <a:latin typeface="Arial" pitchFamily="34" charset="0"/>
                <a:ea typeface="Arial" pitchFamily="34" charset="-122"/>
                <a:cs typeface="Arial" pitchFamily="34" charset="-120"/>
              </a:rPr>
              <a:t>+18%</a:t>
            </a:r>
            <a:endParaRPr lang="en-US" sz="1000" dirty="0"/>
          </a:p>
        </p:txBody>
      </p:sp>
      <p:sp>
        <p:nvSpPr>
          <p:cNvPr id="20" name="Shape 18"/>
          <p:cNvSpPr/>
          <p:nvPr/>
        </p:nvSpPr>
        <p:spPr>
          <a:xfrm>
            <a:off x="457200" y="4617720"/>
            <a:ext cx="5943600" cy="365760"/>
          </a:xfrm>
          <a:prstGeom prst="rect">
            <a:avLst>
              <a:gd name="adj" fmla="val 12500"/>
            </a:avLst>
          </a:prstGeom>
          <a:solidFill>
            <a:srgbClr val="1F2937"/>
          </a:solidFill>
          <a:ln/>
        </p:spPr>
      </p:sp>
      <p:sp>
        <p:nvSpPr>
          <p:cNvPr id="21" name="Text 19"/>
          <p:cNvSpPr/>
          <p:nvPr/>
        </p:nvSpPr>
        <p:spPr>
          <a:xfrm>
            <a:off x="640080" y="4617720"/>
            <a:ext cx="27432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Road Infrastructure</a:t>
            </a:r>
            <a:endParaRPr lang="en-US" sz="1000" dirty="0"/>
          </a:p>
        </p:txBody>
      </p:sp>
      <p:sp>
        <p:nvSpPr>
          <p:cNvPr id="22" name="Text 20"/>
          <p:cNvSpPr/>
          <p:nvPr/>
        </p:nvSpPr>
        <p:spPr>
          <a:xfrm>
            <a:off x="3383280" y="4617720"/>
            <a:ext cx="1371600" cy="36576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₹2500 Cr (29%)</a:t>
            </a:r>
            <a:endParaRPr lang="en-US" sz="900" dirty="0"/>
          </a:p>
        </p:txBody>
      </p:sp>
      <p:sp>
        <p:nvSpPr>
          <p:cNvPr id="23" name="Text 21"/>
          <p:cNvSpPr/>
          <p:nvPr/>
        </p:nvSpPr>
        <p:spPr>
          <a:xfrm>
            <a:off x="4937760" y="4617720"/>
            <a:ext cx="1371600" cy="365760"/>
          </a:xfrm>
          <a:prstGeom prst="rect">
            <a:avLst/>
          </a:prstGeom>
          <a:noFill/>
          <a:ln/>
        </p:spPr>
        <p:txBody>
          <a:bodyPr wrap="square" rtlCol="0" anchor="ctr"/>
          <a:lstStyle/>
          <a:p>
            <a:pPr algn="r" indent="0" marL="0">
              <a:buNone/>
            </a:pPr>
            <a:r>
              <a:rPr lang="en-US" sz="1000" b="1" dirty="0">
                <a:solidFill>
                  <a:srgbClr val="10B981"/>
                </a:solidFill>
                <a:latin typeface="Arial" pitchFamily="34" charset="0"/>
                <a:ea typeface="Arial" pitchFamily="34" charset="-122"/>
                <a:cs typeface="Arial" pitchFamily="34" charset="-120"/>
              </a:rPr>
              <a:t>+25%</a:t>
            </a:r>
            <a:endParaRPr lang="en-US" sz="1000" dirty="0"/>
          </a:p>
        </p:txBody>
      </p:sp>
      <p:sp>
        <p:nvSpPr>
          <p:cNvPr id="24" name="Shape 22"/>
          <p:cNvSpPr/>
          <p:nvPr/>
        </p:nvSpPr>
        <p:spPr>
          <a:xfrm>
            <a:off x="457200" y="5029200"/>
            <a:ext cx="5943600" cy="365760"/>
          </a:xfrm>
          <a:prstGeom prst="rect">
            <a:avLst>
              <a:gd name="adj" fmla="val 12500"/>
            </a:avLst>
          </a:prstGeom>
          <a:solidFill>
            <a:srgbClr val="1F2937"/>
          </a:solidFill>
          <a:ln/>
        </p:spPr>
      </p:sp>
      <p:sp>
        <p:nvSpPr>
          <p:cNvPr id="25" name="Text 23"/>
          <p:cNvSpPr/>
          <p:nvPr/>
        </p:nvSpPr>
        <p:spPr>
          <a:xfrm>
            <a:off x="640080" y="5029200"/>
            <a:ext cx="27432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Brick Manufacturing</a:t>
            </a:r>
            <a:endParaRPr lang="en-US" sz="1000" dirty="0"/>
          </a:p>
        </p:txBody>
      </p:sp>
      <p:sp>
        <p:nvSpPr>
          <p:cNvPr id="26" name="Text 24"/>
          <p:cNvSpPr/>
          <p:nvPr/>
        </p:nvSpPr>
        <p:spPr>
          <a:xfrm>
            <a:off x="3383280" y="5029200"/>
            <a:ext cx="1371600" cy="36576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₹1100 Cr (13%)</a:t>
            </a:r>
            <a:endParaRPr lang="en-US" sz="900" dirty="0"/>
          </a:p>
        </p:txBody>
      </p:sp>
      <p:sp>
        <p:nvSpPr>
          <p:cNvPr id="27" name="Text 25"/>
          <p:cNvSpPr/>
          <p:nvPr/>
        </p:nvSpPr>
        <p:spPr>
          <a:xfrm>
            <a:off x="4937760" y="5029200"/>
            <a:ext cx="1371600" cy="365760"/>
          </a:xfrm>
          <a:prstGeom prst="rect">
            <a:avLst/>
          </a:prstGeom>
          <a:noFill/>
          <a:ln/>
        </p:spPr>
        <p:txBody>
          <a:bodyPr wrap="square" rtlCol="0" anchor="ctr"/>
          <a:lstStyle/>
          <a:p>
            <a:pPr algn="r" indent="0" marL="0">
              <a:buNone/>
            </a:pPr>
            <a:r>
              <a:rPr lang="en-US" sz="1000" b="1" dirty="0">
                <a:solidFill>
                  <a:srgbClr val="10B981"/>
                </a:solidFill>
                <a:latin typeface="Arial" pitchFamily="34" charset="0"/>
                <a:ea typeface="Arial" pitchFamily="34" charset="-122"/>
                <a:cs typeface="Arial" pitchFamily="34" charset="-120"/>
              </a:rPr>
              <a:t>+15%</a:t>
            </a:r>
            <a:endParaRPr lang="en-US" sz="1000" dirty="0"/>
          </a:p>
        </p:txBody>
      </p:sp>
      <p:sp>
        <p:nvSpPr>
          <p:cNvPr id="28" name="Shape 26"/>
          <p:cNvSpPr/>
          <p:nvPr/>
        </p:nvSpPr>
        <p:spPr>
          <a:xfrm>
            <a:off x="457200" y="5440680"/>
            <a:ext cx="5943600" cy="365760"/>
          </a:xfrm>
          <a:prstGeom prst="rect">
            <a:avLst>
              <a:gd name="adj" fmla="val 12500"/>
            </a:avLst>
          </a:prstGeom>
          <a:solidFill>
            <a:srgbClr val="1F2937"/>
          </a:solidFill>
          <a:ln/>
        </p:spPr>
      </p:sp>
      <p:sp>
        <p:nvSpPr>
          <p:cNvPr id="29" name="Text 27"/>
          <p:cNvSpPr/>
          <p:nvPr/>
        </p:nvSpPr>
        <p:spPr>
          <a:xfrm>
            <a:off x="640080" y="5440680"/>
            <a:ext cx="27432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Rare Earth Recovery</a:t>
            </a:r>
            <a:endParaRPr lang="en-US" sz="1000" dirty="0"/>
          </a:p>
        </p:txBody>
      </p:sp>
      <p:sp>
        <p:nvSpPr>
          <p:cNvPr id="30" name="Text 28"/>
          <p:cNvSpPr/>
          <p:nvPr/>
        </p:nvSpPr>
        <p:spPr>
          <a:xfrm>
            <a:off x="3383280" y="5440680"/>
            <a:ext cx="1371600" cy="36576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₹500 Cr (6%)</a:t>
            </a:r>
            <a:endParaRPr lang="en-US" sz="900" dirty="0"/>
          </a:p>
        </p:txBody>
      </p:sp>
      <p:sp>
        <p:nvSpPr>
          <p:cNvPr id="31" name="Text 29"/>
          <p:cNvSpPr/>
          <p:nvPr/>
        </p:nvSpPr>
        <p:spPr>
          <a:xfrm>
            <a:off x="4937760" y="5440680"/>
            <a:ext cx="1371600" cy="365760"/>
          </a:xfrm>
          <a:prstGeom prst="rect">
            <a:avLst/>
          </a:prstGeom>
          <a:noFill/>
          <a:ln/>
        </p:spPr>
        <p:txBody>
          <a:bodyPr wrap="square" rtlCol="0" anchor="ctr"/>
          <a:lstStyle/>
          <a:p>
            <a:pPr algn="r" indent="0" marL="0">
              <a:buNone/>
            </a:pPr>
            <a:r>
              <a:rPr lang="en-US" sz="1000" b="1" dirty="0">
                <a:solidFill>
                  <a:srgbClr val="10B981"/>
                </a:solidFill>
                <a:latin typeface="Arial" pitchFamily="34" charset="0"/>
                <a:ea typeface="Arial" pitchFamily="34" charset="-122"/>
                <a:cs typeface="Arial" pitchFamily="34" charset="-120"/>
              </a:rPr>
              <a:t>+40%</a:t>
            </a:r>
            <a:endParaRPr lang="en-US" sz="1000" dirty="0"/>
          </a:p>
        </p:txBody>
      </p:sp>
      <p:sp>
        <p:nvSpPr>
          <p:cNvPr id="32" name="Shape 30"/>
          <p:cNvSpPr/>
          <p:nvPr/>
        </p:nvSpPr>
        <p:spPr>
          <a:xfrm>
            <a:off x="457200" y="5852160"/>
            <a:ext cx="5943600" cy="365760"/>
          </a:xfrm>
          <a:prstGeom prst="rect">
            <a:avLst>
              <a:gd name="adj" fmla="val 12500"/>
            </a:avLst>
          </a:prstGeom>
          <a:solidFill>
            <a:srgbClr val="1F2937"/>
          </a:solidFill>
          <a:ln/>
        </p:spPr>
      </p:sp>
      <p:sp>
        <p:nvSpPr>
          <p:cNvPr id="33" name="Text 31"/>
          <p:cNvSpPr/>
          <p:nvPr/>
        </p:nvSpPr>
        <p:spPr>
          <a:xfrm>
            <a:off x="640080" y="5852160"/>
            <a:ext cx="27432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Water Treatment</a:t>
            </a:r>
            <a:endParaRPr lang="en-US" sz="1000" dirty="0"/>
          </a:p>
        </p:txBody>
      </p:sp>
      <p:sp>
        <p:nvSpPr>
          <p:cNvPr id="34" name="Text 32"/>
          <p:cNvSpPr/>
          <p:nvPr/>
        </p:nvSpPr>
        <p:spPr>
          <a:xfrm>
            <a:off x="3383280" y="5852160"/>
            <a:ext cx="1371600" cy="36576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₹200 Cr (3%)</a:t>
            </a:r>
            <a:endParaRPr lang="en-US" sz="900" dirty="0"/>
          </a:p>
        </p:txBody>
      </p:sp>
      <p:sp>
        <p:nvSpPr>
          <p:cNvPr id="35" name="Text 33"/>
          <p:cNvSpPr/>
          <p:nvPr/>
        </p:nvSpPr>
        <p:spPr>
          <a:xfrm>
            <a:off x="4937760" y="5852160"/>
            <a:ext cx="1371600" cy="365760"/>
          </a:xfrm>
          <a:prstGeom prst="rect">
            <a:avLst/>
          </a:prstGeom>
          <a:noFill/>
          <a:ln/>
        </p:spPr>
        <p:txBody>
          <a:bodyPr wrap="square" rtlCol="0" anchor="ctr"/>
          <a:lstStyle/>
          <a:p>
            <a:pPr algn="r" indent="0" marL="0">
              <a:buNone/>
            </a:pPr>
            <a:r>
              <a:rPr lang="en-US" sz="1000" b="1" dirty="0">
                <a:solidFill>
                  <a:srgbClr val="10B981"/>
                </a:solidFill>
                <a:latin typeface="Arial" pitchFamily="34" charset="0"/>
                <a:ea typeface="Arial" pitchFamily="34" charset="-122"/>
                <a:cs typeface="Arial" pitchFamily="34" charset="-120"/>
              </a:rPr>
              <a:t>+20%</a:t>
            </a:r>
            <a:endParaRPr lang="en-US" sz="1000" dirty="0"/>
          </a:p>
        </p:txBody>
      </p:sp>
      <p:sp>
        <p:nvSpPr>
          <p:cNvPr id="36" name="Text 34"/>
          <p:cNvSpPr/>
          <p:nvPr/>
        </p:nvSpPr>
        <p:spPr>
          <a:xfrm>
            <a:off x="6858000" y="3840480"/>
            <a:ext cx="502920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REVENUE PROJECTION</a:t>
            </a:r>
            <a:endParaRPr lang="en-US" sz="1100" dirty="0"/>
          </a:p>
        </p:txBody>
      </p:sp>
      <p:sp>
        <p:nvSpPr>
          <p:cNvPr id="37" name="Shape 35"/>
          <p:cNvSpPr/>
          <p:nvPr/>
        </p:nvSpPr>
        <p:spPr>
          <a:xfrm>
            <a:off x="6858000" y="4206240"/>
            <a:ext cx="5029200" cy="548640"/>
          </a:xfrm>
          <a:prstGeom prst="rect">
            <a:avLst>
              <a:gd name="adj" fmla="val 8333"/>
            </a:avLst>
          </a:prstGeom>
          <a:solidFill>
            <a:srgbClr val="1F2937"/>
          </a:solidFill>
          <a:ln w="6350">
            <a:solidFill>
              <a:srgbClr val="3B82F6"/>
            </a:solidFill>
            <a:prstDash val="solid"/>
          </a:ln>
        </p:spPr>
      </p:sp>
      <p:sp>
        <p:nvSpPr>
          <p:cNvPr id="38" name="Text 36"/>
          <p:cNvSpPr/>
          <p:nvPr/>
        </p:nvSpPr>
        <p:spPr>
          <a:xfrm>
            <a:off x="7040880" y="4206240"/>
            <a:ext cx="1097280" cy="548640"/>
          </a:xfrm>
          <a:prstGeom prst="rect">
            <a:avLst/>
          </a:prstGeom>
          <a:noFill/>
          <a:ln/>
        </p:spPr>
        <p:txBody>
          <a:bodyPr wrap="square" rtlCol="0" anchor="ctr"/>
          <a:lstStyle/>
          <a:p>
            <a:pPr indent="0" marL="0">
              <a:buNone/>
            </a:pPr>
            <a:r>
              <a:rPr lang="en-US" sz="1000" dirty="0">
                <a:solidFill>
                  <a:srgbClr val="9CA3AF"/>
                </a:solidFill>
                <a:latin typeface="Arial" pitchFamily="34" charset="0"/>
                <a:ea typeface="Arial" pitchFamily="34" charset="-122"/>
                <a:cs typeface="Arial" pitchFamily="34" charset="-120"/>
              </a:rPr>
              <a:t>Year 1</a:t>
            </a:r>
            <a:endParaRPr lang="en-US" sz="1000" dirty="0"/>
          </a:p>
        </p:txBody>
      </p:sp>
      <p:sp>
        <p:nvSpPr>
          <p:cNvPr id="39" name="Text 37"/>
          <p:cNvSpPr/>
          <p:nvPr/>
        </p:nvSpPr>
        <p:spPr>
          <a:xfrm>
            <a:off x="8229600" y="4206240"/>
            <a:ext cx="3566160" cy="548640"/>
          </a:xfrm>
          <a:prstGeom prst="rect">
            <a:avLst/>
          </a:prstGeom>
          <a:noFill/>
          <a:ln/>
        </p:spPr>
        <p:txBody>
          <a:bodyPr wrap="square" rtlCol="0" anchor="ctr"/>
          <a:lstStyle/>
          <a:p>
            <a:pPr algn="r" indent="0" marL="0">
              <a:buNone/>
            </a:pPr>
            <a:r>
              <a:rPr lang="en-US" sz="1800" b="1" dirty="0">
                <a:solidFill>
                  <a:srgbClr val="3B82F6"/>
                </a:solidFill>
                <a:latin typeface="Arial" pitchFamily="34" charset="0"/>
                <a:ea typeface="Arial" pitchFamily="34" charset="-122"/>
                <a:cs typeface="Arial" pitchFamily="34" charset="-120"/>
              </a:rPr>
              <a:t>₹43 Lakh</a:t>
            </a:r>
            <a:endParaRPr lang="en-US" sz="1800" dirty="0"/>
          </a:p>
        </p:txBody>
      </p:sp>
      <p:sp>
        <p:nvSpPr>
          <p:cNvPr id="40" name="Shape 38"/>
          <p:cNvSpPr/>
          <p:nvPr/>
        </p:nvSpPr>
        <p:spPr>
          <a:xfrm>
            <a:off x="6858000" y="4846320"/>
            <a:ext cx="5029200" cy="548640"/>
          </a:xfrm>
          <a:prstGeom prst="rect">
            <a:avLst>
              <a:gd name="adj" fmla="val 8333"/>
            </a:avLst>
          </a:prstGeom>
          <a:solidFill>
            <a:srgbClr val="1F2937"/>
          </a:solidFill>
          <a:ln w="6350">
            <a:solidFill>
              <a:srgbClr val="10B981"/>
            </a:solidFill>
            <a:prstDash val="solid"/>
          </a:ln>
        </p:spPr>
      </p:sp>
      <p:sp>
        <p:nvSpPr>
          <p:cNvPr id="41" name="Text 39"/>
          <p:cNvSpPr/>
          <p:nvPr/>
        </p:nvSpPr>
        <p:spPr>
          <a:xfrm>
            <a:off x="7040880" y="4846320"/>
            <a:ext cx="1097280" cy="548640"/>
          </a:xfrm>
          <a:prstGeom prst="rect">
            <a:avLst/>
          </a:prstGeom>
          <a:noFill/>
          <a:ln/>
        </p:spPr>
        <p:txBody>
          <a:bodyPr wrap="square" rtlCol="0" anchor="ctr"/>
          <a:lstStyle/>
          <a:p>
            <a:pPr indent="0" marL="0">
              <a:buNone/>
            </a:pPr>
            <a:r>
              <a:rPr lang="en-US" sz="1000" dirty="0">
                <a:solidFill>
                  <a:srgbClr val="9CA3AF"/>
                </a:solidFill>
                <a:latin typeface="Arial" pitchFamily="34" charset="0"/>
                <a:ea typeface="Arial" pitchFamily="34" charset="-122"/>
                <a:cs typeface="Arial" pitchFamily="34" charset="-120"/>
              </a:rPr>
              <a:t>Year 3</a:t>
            </a:r>
            <a:endParaRPr lang="en-US" sz="1000" dirty="0"/>
          </a:p>
        </p:txBody>
      </p:sp>
      <p:sp>
        <p:nvSpPr>
          <p:cNvPr id="42" name="Text 40"/>
          <p:cNvSpPr/>
          <p:nvPr/>
        </p:nvSpPr>
        <p:spPr>
          <a:xfrm>
            <a:off x="8229600" y="4846320"/>
            <a:ext cx="3566160" cy="548640"/>
          </a:xfrm>
          <a:prstGeom prst="rect">
            <a:avLst/>
          </a:prstGeom>
          <a:noFill/>
          <a:ln/>
        </p:spPr>
        <p:txBody>
          <a:bodyPr wrap="square" rtlCol="0" anchor="ctr"/>
          <a:lstStyle/>
          <a:p>
            <a:pPr algn="r" indent="0" marL="0">
              <a:buNone/>
            </a:pPr>
            <a:r>
              <a:rPr lang="en-US" sz="1800" b="1" dirty="0">
                <a:solidFill>
                  <a:srgbClr val="10B981"/>
                </a:solidFill>
                <a:latin typeface="Arial" pitchFamily="34" charset="0"/>
                <a:ea typeface="Arial" pitchFamily="34" charset="-122"/>
                <a:cs typeface="Arial" pitchFamily="34" charset="-120"/>
              </a:rPr>
              <a:t>₹120 Cr</a:t>
            </a:r>
            <a:endParaRPr lang="en-US" sz="1800" dirty="0"/>
          </a:p>
        </p:txBody>
      </p:sp>
      <p:sp>
        <p:nvSpPr>
          <p:cNvPr id="43" name="Shape 41"/>
          <p:cNvSpPr/>
          <p:nvPr/>
        </p:nvSpPr>
        <p:spPr>
          <a:xfrm>
            <a:off x="6858000" y="5486400"/>
            <a:ext cx="5029200" cy="548640"/>
          </a:xfrm>
          <a:prstGeom prst="rect">
            <a:avLst>
              <a:gd name="adj" fmla="val 8333"/>
            </a:avLst>
          </a:prstGeom>
          <a:solidFill>
            <a:srgbClr val="1F2937"/>
          </a:solidFill>
          <a:ln w="6350">
            <a:solidFill>
              <a:srgbClr val="F59E0B"/>
            </a:solidFill>
            <a:prstDash val="solid"/>
          </a:ln>
        </p:spPr>
      </p:sp>
      <p:sp>
        <p:nvSpPr>
          <p:cNvPr id="44" name="Text 42"/>
          <p:cNvSpPr/>
          <p:nvPr/>
        </p:nvSpPr>
        <p:spPr>
          <a:xfrm>
            <a:off x="7040880" y="5486400"/>
            <a:ext cx="1097280" cy="548640"/>
          </a:xfrm>
          <a:prstGeom prst="rect">
            <a:avLst/>
          </a:prstGeom>
          <a:noFill/>
          <a:ln/>
        </p:spPr>
        <p:txBody>
          <a:bodyPr wrap="square" rtlCol="0" anchor="ctr"/>
          <a:lstStyle/>
          <a:p>
            <a:pPr indent="0" marL="0">
              <a:buNone/>
            </a:pPr>
            <a:r>
              <a:rPr lang="en-US" sz="1000" dirty="0">
                <a:solidFill>
                  <a:srgbClr val="9CA3AF"/>
                </a:solidFill>
                <a:latin typeface="Arial" pitchFamily="34" charset="0"/>
                <a:ea typeface="Arial" pitchFamily="34" charset="-122"/>
                <a:cs typeface="Arial" pitchFamily="34" charset="-120"/>
              </a:rPr>
              <a:t>Year 5</a:t>
            </a:r>
            <a:endParaRPr lang="en-US" sz="1000" dirty="0"/>
          </a:p>
        </p:txBody>
      </p:sp>
      <p:sp>
        <p:nvSpPr>
          <p:cNvPr id="45" name="Text 43"/>
          <p:cNvSpPr/>
          <p:nvPr/>
        </p:nvSpPr>
        <p:spPr>
          <a:xfrm>
            <a:off x="8229600" y="5486400"/>
            <a:ext cx="3566160" cy="548640"/>
          </a:xfrm>
          <a:prstGeom prst="rect">
            <a:avLst/>
          </a:prstGeom>
          <a:noFill/>
          <a:ln/>
        </p:spPr>
        <p:txBody>
          <a:bodyPr wrap="square" rtlCol="0" anchor="ctr"/>
          <a:lstStyle/>
          <a:p>
            <a:pPr algn="r" indent="0" marL="0">
              <a:buNone/>
            </a:pPr>
            <a:r>
              <a:rPr lang="en-US" sz="1800" b="1" dirty="0">
                <a:solidFill>
                  <a:srgbClr val="F59E0B"/>
                </a:solidFill>
                <a:latin typeface="Arial" pitchFamily="34" charset="0"/>
                <a:ea typeface="Arial" pitchFamily="34" charset="-122"/>
                <a:cs typeface="Arial" pitchFamily="34" charset="-120"/>
              </a:rPr>
              <a:t>₹450 Cr</a:t>
            </a:r>
            <a:endParaRPr lang="en-US" sz="1800" dirty="0"/>
          </a:p>
        </p:txBody>
      </p:sp>
      <p:sp>
        <p:nvSpPr>
          <p:cNvPr id="46" name="Text 44"/>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47" name="Text 45"/>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3B82F6"/>
                </a:solidFill>
                <a:latin typeface="Arial" pitchFamily="34" charset="0"/>
                <a:ea typeface="Arial" pitchFamily="34" charset="-122"/>
                <a:cs typeface="Arial" pitchFamily="34" charset="-120"/>
              </a:rPr>
              <a:t>ARCHITECTURE</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Production-Grade Tech Stack</a:t>
            </a:r>
            <a:endParaRPr lang="en-US" sz="3400" dirty="0"/>
          </a:p>
        </p:txBody>
      </p:sp>
      <p:sp>
        <p:nvSpPr>
          <p:cNvPr id="6" name="Shape 4"/>
          <p:cNvSpPr/>
          <p:nvPr/>
        </p:nvSpPr>
        <p:spPr>
          <a:xfrm>
            <a:off x="457200" y="1463040"/>
            <a:ext cx="11247120" cy="1143000"/>
          </a:xfrm>
          <a:prstGeom prst="rect">
            <a:avLst>
              <a:gd name="adj" fmla="val 6400"/>
            </a:avLst>
          </a:prstGeom>
          <a:solidFill>
            <a:srgbClr val="1F2937"/>
          </a:solidFill>
          <a:ln w="12700">
            <a:solidFill>
              <a:srgbClr val="3B82F6"/>
            </a:solidFill>
            <a:prstDash val="solid"/>
          </a:ln>
        </p:spPr>
      </p:sp>
      <p:sp>
        <p:nvSpPr>
          <p:cNvPr id="7" name="Text 5"/>
          <p:cNvSpPr/>
          <p:nvPr/>
        </p:nvSpPr>
        <p:spPr>
          <a:xfrm>
            <a:off x="640080" y="1554480"/>
            <a:ext cx="2743200" cy="228600"/>
          </a:xfrm>
          <a:prstGeom prst="rect">
            <a:avLst/>
          </a:prstGeom>
          <a:noFill/>
          <a:ln/>
        </p:spPr>
        <p:txBody>
          <a:bodyPr wrap="square" rtlCol="0" anchor="ctr"/>
          <a:lstStyle/>
          <a:p>
            <a:pPr indent="0" marL="0">
              <a:buNone/>
            </a:pPr>
            <a:r>
              <a:rPr lang="en-US" sz="900" b="1" dirty="0">
                <a:solidFill>
                  <a:srgbClr val="3B82F6"/>
                </a:solidFill>
                <a:latin typeface="Arial" pitchFamily="34" charset="0"/>
                <a:ea typeface="Arial" pitchFamily="34" charset="-122"/>
                <a:cs typeface="Arial" pitchFamily="34" charset="-120"/>
              </a:rPr>
              <a:t>CLIENT LAYER</a:t>
            </a:r>
            <a:endParaRPr lang="en-US" sz="900" dirty="0"/>
          </a:p>
        </p:txBody>
      </p:sp>
      <p:sp>
        <p:nvSpPr>
          <p:cNvPr id="8" name="Text 6"/>
          <p:cNvSpPr/>
          <p:nvPr/>
        </p:nvSpPr>
        <p:spPr>
          <a:xfrm>
            <a:off x="640080" y="18745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React 18 + TypeScript</a:t>
            </a:r>
            <a:endParaRPr lang="en-US" sz="900" dirty="0"/>
          </a:p>
        </p:txBody>
      </p:sp>
      <p:sp>
        <p:nvSpPr>
          <p:cNvPr id="9" name="Text 7"/>
          <p:cNvSpPr/>
          <p:nvPr/>
        </p:nvSpPr>
        <p:spPr>
          <a:xfrm>
            <a:off x="3383280" y="18745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TailwindCSS 4 + Framer Motion</a:t>
            </a:r>
            <a:endParaRPr lang="en-US" sz="900" dirty="0"/>
          </a:p>
        </p:txBody>
      </p:sp>
      <p:sp>
        <p:nvSpPr>
          <p:cNvPr id="10" name="Text 8"/>
          <p:cNvSpPr/>
          <p:nvPr/>
        </p:nvSpPr>
        <p:spPr>
          <a:xfrm>
            <a:off x="6126480" y="18745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Recharts + D3.js</a:t>
            </a:r>
            <a:endParaRPr lang="en-US" sz="900" dirty="0"/>
          </a:p>
        </p:txBody>
      </p:sp>
      <p:sp>
        <p:nvSpPr>
          <p:cNvPr id="11" name="Text 9"/>
          <p:cNvSpPr/>
          <p:nvPr/>
        </p:nvSpPr>
        <p:spPr>
          <a:xfrm>
            <a:off x="8869680" y="18745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Mapbox GL / Leaflet + PostGIS</a:t>
            </a:r>
            <a:endParaRPr lang="en-US" sz="900" dirty="0"/>
          </a:p>
        </p:txBody>
      </p:sp>
      <p:sp>
        <p:nvSpPr>
          <p:cNvPr id="12" name="Text 10"/>
          <p:cNvSpPr/>
          <p:nvPr/>
        </p:nvSpPr>
        <p:spPr>
          <a:xfrm>
            <a:off x="640080" y="219456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Zustand + React Query</a:t>
            </a:r>
            <a:endParaRPr lang="en-US" sz="900" dirty="0"/>
          </a:p>
        </p:txBody>
      </p:sp>
      <p:sp>
        <p:nvSpPr>
          <p:cNvPr id="13" name="Text 11"/>
          <p:cNvSpPr/>
          <p:nvPr/>
        </p:nvSpPr>
        <p:spPr>
          <a:xfrm>
            <a:off x="3383280" y="219456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WebSocket + Socket.IO Client</a:t>
            </a:r>
            <a:endParaRPr lang="en-US" sz="900" dirty="0"/>
          </a:p>
        </p:txBody>
      </p:sp>
      <p:sp>
        <p:nvSpPr>
          <p:cNvPr id="14" name="Shape 12"/>
          <p:cNvSpPr/>
          <p:nvPr/>
        </p:nvSpPr>
        <p:spPr>
          <a:xfrm>
            <a:off x="457200" y="2743200"/>
            <a:ext cx="11247120" cy="1143000"/>
          </a:xfrm>
          <a:prstGeom prst="rect">
            <a:avLst>
              <a:gd name="adj" fmla="val 6400"/>
            </a:avLst>
          </a:prstGeom>
          <a:solidFill>
            <a:srgbClr val="1F2937"/>
          </a:solidFill>
          <a:ln w="12700">
            <a:solidFill>
              <a:srgbClr val="10B981"/>
            </a:solidFill>
            <a:prstDash val="solid"/>
          </a:ln>
        </p:spPr>
      </p:sp>
      <p:sp>
        <p:nvSpPr>
          <p:cNvPr id="15" name="Text 13"/>
          <p:cNvSpPr/>
          <p:nvPr/>
        </p:nvSpPr>
        <p:spPr>
          <a:xfrm>
            <a:off x="640080" y="2834640"/>
            <a:ext cx="2743200" cy="22860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API LAYER</a:t>
            </a:r>
            <a:endParaRPr lang="en-US" sz="900" dirty="0"/>
          </a:p>
        </p:txBody>
      </p:sp>
      <p:sp>
        <p:nvSpPr>
          <p:cNvPr id="16" name="Text 14"/>
          <p:cNvSpPr/>
          <p:nvPr/>
        </p:nvSpPr>
        <p:spPr>
          <a:xfrm>
            <a:off x="640080" y="31546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Node.js 20 + Express.js</a:t>
            </a:r>
            <a:endParaRPr lang="en-US" sz="900" dirty="0"/>
          </a:p>
        </p:txBody>
      </p:sp>
      <p:sp>
        <p:nvSpPr>
          <p:cNvPr id="17" name="Text 15"/>
          <p:cNvSpPr/>
          <p:nvPr/>
        </p:nvSpPr>
        <p:spPr>
          <a:xfrm>
            <a:off x="3383280" y="31546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PostgreSQL 16 + PostGIS Extension</a:t>
            </a:r>
            <a:endParaRPr lang="en-US" sz="900" dirty="0"/>
          </a:p>
        </p:txBody>
      </p:sp>
      <p:sp>
        <p:nvSpPr>
          <p:cNvPr id="18" name="Text 16"/>
          <p:cNvSpPr/>
          <p:nvPr/>
        </p:nvSpPr>
        <p:spPr>
          <a:xfrm>
            <a:off x="6126480" y="31546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Redis 7 (Live Inventory + Session)</a:t>
            </a:r>
            <a:endParaRPr lang="en-US" sz="900" dirty="0"/>
          </a:p>
        </p:txBody>
      </p:sp>
      <p:sp>
        <p:nvSpPr>
          <p:cNvPr id="19" name="Text 17"/>
          <p:cNvSpPr/>
          <p:nvPr/>
        </p:nvSpPr>
        <p:spPr>
          <a:xfrm>
            <a:off x="8869680" y="31546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JWT + RBAC (3 roles: NALCO/Buyer/Logistics)</a:t>
            </a:r>
            <a:endParaRPr lang="en-US" sz="900" dirty="0"/>
          </a:p>
        </p:txBody>
      </p:sp>
      <p:sp>
        <p:nvSpPr>
          <p:cNvPr id="20" name="Text 18"/>
          <p:cNvSpPr/>
          <p:nvPr/>
        </p:nvSpPr>
        <p:spPr>
          <a:xfrm>
            <a:off x="640080" y="34747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BullMQ (Order Processing Pipeline)</a:t>
            </a:r>
            <a:endParaRPr lang="en-US" sz="900" dirty="0"/>
          </a:p>
        </p:txBody>
      </p:sp>
      <p:sp>
        <p:nvSpPr>
          <p:cNvPr id="21" name="Text 19"/>
          <p:cNvSpPr/>
          <p:nvPr/>
        </p:nvSpPr>
        <p:spPr>
          <a:xfrm>
            <a:off x="3383280" y="347472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Swagger/OpenAPI 3.1</a:t>
            </a:r>
            <a:endParaRPr lang="en-US" sz="900" dirty="0"/>
          </a:p>
        </p:txBody>
      </p:sp>
      <p:sp>
        <p:nvSpPr>
          <p:cNvPr id="22" name="Shape 20"/>
          <p:cNvSpPr/>
          <p:nvPr/>
        </p:nvSpPr>
        <p:spPr>
          <a:xfrm>
            <a:off x="457200" y="4023360"/>
            <a:ext cx="11247120" cy="1143000"/>
          </a:xfrm>
          <a:prstGeom prst="rect">
            <a:avLst>
              <a:gd name="adj" fmla="val 6400"/>
            </a:avLst>
          </a:prstGeom>
          <a:solidFill>
            <a:srgbClr val="1F2937"/>
          </a:solidFill>
          <a:ln w="12700">
            <a:solidFill>
              <a:srgbClr val="8B5CF6"/>
            </a:solidFill>
            <a:prstDash val="solid"/>
          </a:ln>
        </p:spPr>
      </p:sp>
      <p:sp>
        <p:nvSpPr>
          <p:cNvPr id="23" name="Text 21"/>
          <p:cNvSpPr/>
          <p:nvPr/>
        </p:nvSpPr>
        <p:spPr>
          <a:xfrm>
            <a:off x="640080" y="4114800"/>
            <a:ext cx="2743200" cy="228600"/>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DATA LAYER</a:t>
            </a:r>
            <a:endParaRPr lang="en-US" sz="900" dirty="0"/>
          </a:p>
        </p:txBody>
      </p:sp>
      <p:sp>
        <p:nvSpPr>
          <p:cNvPr id="24" name="Text 22"/>
          <p:cNvSpPr/>
          <p:nvPr/>
        </p:nvSpPr>
        <p:spPr>
          <a:xfrm>
            <a:off x="640080" y="443484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AWS ECS Fargate / Railway</a:t>
            </a:r>
            <a:endParaRPr lang="en-US" sz="900" dirty="0"/>
          </a:p>
        </p:txBody>
      </p:sp>
      <p:sp>
        <p:nvSpPr>
          <p:cNvPr id="25" name="Text 23"/>
          <p:cNvSpPr/>
          <p:nvPr/>
        </p:nvSpPr>
        <p:spPr>
          <a:xfrm>
            <a:off x="3383280" y="443484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CloudFront</a:t>
            </a:r>
            <a:endParaRPr lang="en-US" sz="900" dirty="0"/>
          </a:p>
        </p:txBody>
      </p:sp>
      <p:sp>
        <p:nvSpPr>
          <p:cNvPr id="26" name="Text 24"/>
          <p:cNvSpPr/>
          <p:nvPr/>
        </p:nvSpPr>
        <p:spPr>
          <a:xfrm>
            <a:off x="6126480" y="443484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S3 (Certificates &amp; Documents)</a:t>
            </a:r>
            <a:endParaRPr lang="en-US" sz="900" dirty="0"/>
          </a:p>
        </p:txBody>
      </p:sp>
      <p:sp>
        <p:nvSpPr>
          <p:cNvPr id="27" name="Text 25"/>
          <p:cNvSpPr/>
          <p:nvPr/>
        </p:nvSpPr>
        <p:spPr>
          <a:xfrm>
            <a:off x="8869680" y="443484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Grafana + Prometheus</a:t>
            </a:r>
            <a:endParaRPr lang="en-US" sz="900" dirty="0"/>
          </a:p>
        </p:txBody>
      </p:sp>
      <p:sp>
        <p:nvSpPr>
          <p:cNvPr id="28" name="Text 26"/>
          <p:cNvSpPr/>
          <p:nvPr/>
        </p:nvSpPr>
        <p:spPr>
          <a:xfrm>
            <a:off x="640080" y="47548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GitHub Actions</a:t>
            </a:r>
            <a:endParaRPr lang="en-US" sz="900" dirty="0"/>
          </a:p>
        </p:txBody>
      </p:sp>
      <p:sp>
        <p:nvSpPr>
          <p:cNvPr id="29" name="Text 27"/>
          <p:cNvSpPr/>
          <p:nvPr/>
        </p:nvSpPr>
        <p:spPr>
          <a:xfrm>
            <a:off x="3383280" y="4754880"/>
            <a:ext cx="2651760" cy="27432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MQTT Broker → AWS IoT Core</a:t>
            </a:r>
            <a:endParaRPr lang="en-US" sz="900" dirty="0"/>
          </a:p>
        </p:txBody>
      </p:sp>
      <p:sp>
        <p:nvSpPr>
          <p:cNvPr id="30" name="Text 28"/>
          <p:cNvSpPr/>
          <p:nvPr/>
        </p:nvSpPr>
        <p:spPr>
          <a:xfrm>
            <a:off x="457200" y="5303520"/>
            <a:ext cx="457200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KEY INTEGRATIONS</a:t>
            </a:r>
            <a:endParaRPr lang="en-US" sz="1100" dirty="0"/>
          </a:p>
        </p:txBody>
      </p:sp>
      <p:sp>
        <p:nvSpPr>
          <p:cNvPr id="31" name="Text 29"/>
          <p:cNvSpPr/>
          <p:nvPr/>
        </p:nvSpPr>
        <p:spPr>
          <a:xfrm>
            <a:off x="457200" y="562356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NHAI e-Procurement API</a:t>
            </a:r>
            <a:endParaRPr lang="en-US" sz="900" dirty="0"/>
          </a:p>
        </p:txBody>
      </p:sp>
      <p:sp>
        <p:nvSpPr>
          <p:cNvPr id="32" name="Text 30"/>
          <p:cNvSpPr/>
          <p:nvPr/>
        </p:nvSpPr>
        <p:spPr>
          <a:xfrm>
            <a:off x="3291840" y="562356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GST e-Waybill Generation</a:t>
            </a:r>
            <a:endParaRPr lang="en-US" sz="900" dirty="0"/>
          </a:p>
        </p:txBody>
      </p:sp>
      <p:sp>
        <p:nvSpPr>
          <p:cNvPr id="33" name="Text 31"/>
          <p:cNvSpPr/>
          <p:nvPr/>
        </p:nvSpPr>
        <p:spPr>
          <a:xfrm>
            <a:off x="6126480" y="562356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CCTS Carbon Credit Registry</a:t>
            </a:r>
            <a:endParaRPr lang="en-US" sz="900" dirty="0"/>
          </a:p>
        </p:txBody>
      </p:sp>
      <p:sp>
        <p:nvSpPr>
          <p:cNvPr id="34" name="Text 32"/>
          <p:cNvSpPr/>
          <p:nvPr/>
        </p:nvSpPr>
        <p:spPr>
          <a:xfrm>
            <a:off x="8961120" y="562356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WhatsApp Business API (Notifications)</a:t>
            </a:r>
            <a:endParaRPr lang="en-US" sz="900" dirty="0"/>
          </a:p>
        </p:txBody>
      </p:sp>
      <p:sp>
        <p:nvSpPr>
          <p:cNvPr id="35" name="Text 33"/>
          <p:cNvSpPr/>
          <p:nvPr/>
        </p:nvSpPr>
        <p:spPr>
          <a:xfrm>
            <a:off x="457200" y="589788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Razorpay / UPI (Payments)</a:t>
            </a:r>
            <a:endParaRPr lang="en-US" sz="900" dirty="0"/>
          </a:p>
        </p:txBody>
      </p:sp>
      <p:sp>
        <p:nvSpPr>
          <p:cNvPr id="36" name="Text 34"/>
          <p:cNvSpPr/>
          <p:nvPr/>
        </p:nvSpPr>
        <p:spPr>
          <a:xfrm>
            <a:off x="3291840" y="589788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India Post / DTDC (Logistics Tracking)</a:t>
            </a:r>
            <a:endParaRPr lang="en-US" sz="900" dirty="0"/>
          </a:p>
        </p:txBody>
      </p:sp>
      <p:sp>
        <p:nvSpPr>
          <p:cNvPr id="37" name="Text 35"/>
          <p:cNvSpPr/>
          <p:nvPr/>
        </p:nvSpPr>
        <p:spPr>
          <a:xfrm>
            <a:off x="6126480" y="589788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CPCB Compliance Reporting</a:t>
            </a:r>
            <a:endParaRPr lang="en-US" sz="900" dirty="0"/>
          </a:p>
        </p:txBody>
      </p:sp>
      <p:sp>
        <p:nvSpPr>
          <p:cNvPr id="38" name="Text 36"/>
          <p:cNvSpPr/>
          <p:nvPr/>
        </p:nvSpPr>
        <p:spPr>
          <a:xfrm>
            <a:off x="8961120" y="5897880"/>
            <a:ext cx="2743200" cy="228600"/>
          </a:xfrm>
          <a:prstGeom prst="rect">
            <a:avLst/>
          </a:prstGeom>
          <a:noFill/>
          <a:ln/>
        </p:spPr>
        <p:txBody>
          <a:bodyPr wrap="square" rtlCol="0" anchor="ctr"/>
          <a:lstStyle/>
          <a:p>
            <a:pPr indent="0" marL="0">
              <a:buNone/>
            </a:pPr>
            <a:r>
              <a:rPr lang="en-US" sz="900" dirty="0">
                <a:solidFill>
                  <a:srgbClr val="D1D5DB"/>
                </a:solidFill>
                <a:latin typeface="Arial" pitchFamily="34" charset="0"/>
                <a:ea typeface="Arial" pitchFamily="34" charset="-122"/>
                <a:cs typeface="Arial" pitchFamily="34" charset="-120"/>
              </a:rPr>
              <a:t>• BIS Quality Certification API</a:t>
            </a:r>
            <a:endParaRPr lang="en-US" sz="900" dirty="0"/>
          </a:p>
        </p:txBody>
      </p:sp>
      <p:sp>
        <p:nvSpPr>
          <p:cNvPr id="39" name="Text 37"/>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40" name="Text 38"/>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10B981"/>
                </a:solidFill>
                <a:latin typeface="Arial" pitchFamily="34" charset="0"/>
                <a:ea typeface="Arial" pitchFamily="34" charset="-122"/>
                <a:cs typeface="Arial" pitchFamily="34" charset="-120"/>
              </a:rPr>
              <a:t>DEVELOPMENT PLAN</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16-Week Roadmap</a:t>
            </a:r>
            <a:endParaRPr lang="en-US" sz="3400" dirty="0"/>
          </a:p>
        </p:txBody>
      </p:sp>
      <p:sp>
        <p:nvSpPr>
          <p:cNvPr id="6" name="Shape 4"/>
          <p:cNvSpPr/>
          <p:nvPr/>
        </p:nvSpPr>
        <p:spPr>
          <a:xfrm>
            <a:off x="457200" y="1463040"/>
            <a:ext cx="2651760" cy="4663440"/>
          </a:xfrm>
          <a:prstGeom prst="rect">
            <a:avLst>
              <a:gd name="adj" fmla="val 3448"/>
            </a:avLst>
          </a:prstGeom>
          <a:solidFill>
            <a:srgbClr val="1F2937"/>
          </a:solidFill>
          <a:ln w="12700">
            <a:solidFill>
              <a:srgbClr val="10B981"/>
            </a:solidFill>
            <a:prstDash val="solid"/>
          </a:ln>
        </p:spPr>
      </p:sp>
      <p:sp>
        <p:nvSpPr>
          <p:cNvPr id="7" name="Text 5"/>
          <p:cNvSpPr/>
          <p:nvPr/>
        </p:nvSpPr>
        <p:spPr>
          <a:xfrm>
            <a:off x="594360" y="1554480"/>
            <a:ext cx="23774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1</a:t>
            </a:r>
            <a:endParaRPr lang="en-US" sz="1300" dirty="0"/>
          </a:p>
        </p:txBody>
      </p:sp>
      <p:sp>
        <p:nvSpPr>
          <p:cNvPr id="8" name="Text 6"/>
          <p:cNvSpPr/>
          <p:nvPr/>
        </p:nvSpPr>
        <p:spPr>
          <a:xfrm>
            <a:off x="594360" y="1828800"/>
            <a:ext cx="237744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Weeks 1-4</a:t>
            </a:r>
            <a:endParaRPr lang="en-US" sz="900" dirty="0"/>
          </a:p>
        </p:txBody>
      </p:sp>
      <p:sp>
        <p:nvSpPr>
          <p:cNvPr id="9" name="Shape 7"/>
          <p:cNvSpPr/>
          <p:nvPr/>
        </p:nvSpPr>
        <p:spPr>
          <a:xfrm>
            <a:off x="594360" y="2148840"/>
            <a:ext cx="1280160" cy="228600"/>
          </a:xfrm>
          <a:prstGeom prst="rect">
            <a:avLst>
              <a:gd name="adj" fmla="val 20000"/>
            </a:avLst>
          </a:prstGeom>
          <a:solidFill>
            <a:srgbClr val="000000"/>
          </a:solidFill>
          <a:ln w="6350">
            <a:solidFill>
              <a:srgbClr val="10B981"/>
            </a:solidFill>
            <a:prstDash val="solid"/>
          </a:ln>
        </p:spPr>
      </p:sp>
      <p:sp>
        <p:nvSpPr>
          <p:cNvPr id="10" name="Text 8"/>
          <p:cNvSpPr/>
          <p:nvPr/>
        </p:nvSpPr>
        <p:spPr>
          <a:xfrm>
            <a:off x="594360" y="2148840"/>
            <a:ext cx="1280160" cy="228600"/>
          </a:xfrm>
          <a:prstGeom prst="rect">
            <a:avLst/>
          </a:prstGeom>
          <a:noFill/>
          <a:ln/>
        </p:spPr>
        <p:txBody>
          <a:bodyPr wrap="square" rtlCol="0" anchor="ctr"/>
          <a:lstStyle/>
          <a:p>
            <a:pPr algn="ctr" indent="0" marL="0">
              <a:buNone/>
            </a:pPr>
            <a:r>
              <a:rPr lang="en-US" sz="800" b="1" dirty="0">
                <a:solidFill>
                  <a:srgbClr val="10B981"/>
                </a:solidFill>
                <a:latin typeface="Arial" pitchFamily="34" charset="0"/>
                <a:ea typeface="Arial" pitchFamily="34" charset="-122"/>
                <a:cs typeface="Arial" pitchFamily="34" charset="-120"/>
              </a:rPr>
              <a:t>COMPLETED</a:t>
            </a:r>
            <a:endParaRPr lang="en-US" sz="800" dirty="0"/>
          </a:p>
        </p:txBody>
      </p:sp>
      <p:sp>
        <p:nvSpPr>
          <p:cNvPr id="11" name="Text 9"/>
          <p:cNvSpPr/>
          <p:nvPr/>
        </p:nvSpPr>
        <p:spPr>
          <a:xfrm>
            <a:off x="594360" y="2514600"/>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Foundation &amp; MVP</a:t>
            </a:r>
            <a:endParaRPr lang="en-US" sz="1200" dirty="0"/>
          </a:p>
        </p:txBody>
      </p:sp>
      <p:sp>
        <p:nvSpPr>
          <p:cNvPr id="12" name="Text 10"/>
          <p:cNvSpPr/>
          <p:nvPr/>
        </p:nvSpPr>
        <p:spPr>
          <a:xfrm>
            <a:off x="594360" y="297180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Database schema + PostGIS spatial indexing</a:t>
            </a:r>
            <a:endParaRPr lang="en-US" sz="850" dirty="0"/>
          </a:p>
        </p:txBody>
      </p:sp>
      <p:sp>
        <p:nvSpPr>
          <p:cNvPr id="13" name="Text 11"/>
          <p:cNvSpPr/>
          <p:nvPr/>
        </p:nvSpPr>
        <p:spPr>
          <a:xfrm>
            <a:off x="594360" y="347472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Residue Ledger API (CRUD + real-time WebSocket)</a:t>
            </a:r>
            <a:endParaRPr lang="en-US" sz="850" dirty="0"/>
          </a:p>
        </p:txBody>
      </p:sp>
      <p:sp>
        <p:nvSpPr>
          <p:cNvPr id="14" name="Text 12"/>
          <p:cNvSpPr/>
          <p:nvPr/>
        </p:nvSpPr>
        <p:spPr>
          <a:xfrm>
            <a:off x="594360" y="397764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Basic React dashboard with 5 core views</a:t>
            </a:r>
            <a:endParaRPr lang="en-US" sz="850" dirty="0"/>
          </a:p>
        </p:txBody>
      </p:sp>
      <p:sp>
        <p:nvSpPr>
          <p:cNvPr id="15" name="Text 13"/>
          <p:cNvSpPr/>
          <p:nvPr/>
        </p:nvSpPr>
        <p:spPr>
          <a:xfrm>
            <a:off x="594360" y="448056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JWT auth with 3-role RBAC</a:t>
            </a:r>
            <a:endParaRPr lang="en-US" sz="850" dirty="0"/>
          </a:p>
        </p:txBody>
      </p:sp>
      <p:sp>
        <p:nvSpPr>
          <p:cNvPr id="16" name="Text 14"/>
          <p:cNvSpPr/>
          <p:nvPr/>
        </p:nvSpPr>
        <p:spPr>
          <a:xfrm>
            <a:off x="594360" y="498348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First buyer onboarding (UltraTech, ACC)</a:t>
            </a:r>
            <a:endParaRPr lang="en-US" sz="850" dirty="0"/>
          </a:p>
        </p:txBody>
      </p:sp>
      <p:sp>
        <p:nvSpPr>
          <p:cNvPr id="17" name="Shape 15"/>
          <p:cNvSpPr/>
          <p:nvPr/>
        </p:nvSpPr>
        <p:spPr>
          <a:xfrm>
            <a:off x="3291840" y="1463040"/>
            <a:ext cx="2651760" cy="4663440"/>
          </a:xfrm>
          <a:prstGeom prst="rect">
            <a:avLst>
              <a:gd name="adj" fmla="val 3448"/>
            </a:avLst>
          </a:prstGeom>
          <a:solidFill>
            <a:srgbClr val="1F2937"/>
          </a:solidFill>
          <a:ln w="12700">
            <a:solidFill>
              <a:srgbClr val="F59E0B"/>
            </a:solidFill>
            <a:prstDash val="solid"/>
          </a:ln>
        </p:spPr>
      </p:sp>
      <p:sp>
        <p:nvSpPr>
          <p:cNvPr id="18" name="Text 16"/>
          <p:cNvSpPr/>
          <p:nvPr/>
        </p:nvSpPr>
        <p:spPr>
          <a:xfrm>
            <a:off x="3429000" y="1554480"/>
            <a:ext cx="23774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2</a:t>
            </a:r>
            <a:endParaRPr lang="en-US" sz="1300" dirty="0"/>
          </a:p>
        </p:txBody>
      </p:sp>
      <p:sp>
        <p:nvSpPr>
          <p:cNvPr id="19" name="Text 17"/>
          <p:cNvSpPr/>
          <p:nvPr/>
        </p:nvSpPr>
        <p:spPr>
          <a:xfrm>
            <a:off x="3429000" y="1828800"/>
            <a:ext cx="237744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Weeks 5-8</a:t>
            </a:r>
            <a:endParaRPr lang="en-US" sz="900" dirty="0"/>
          </a:p>
        </p:txBody>
      </p:sp>
      <p:sp>
        <p:nvSpPr>
          <p:cNvPr id="20" name="Shape 18"/>
          <p:cNvSpPr/>
          <p:nvPr/>
        </p:nvSpPr>
        <p:spPr>
          <a:xfrm>
            <a:off x="3429000" y="2148840"/>
            <a:ext cx="1280160" cy="228600"/>
          </a:xfrm>
          <a:prstGeom prst="rect">
            <a:avLst>
              <a:gd name="adj" fmla="val 20000"/>
            </a:avLst>
          </a:prstGeom>
          <a:solidFill>
            <a:srgbClr val="000000"/>
          </a:solidFill>
          <a:ln w="6350">
            <a:solidFill>
              <a:srgbClr val="F59E0B"/>
            </a:solidFill>
            <a:prstDash val="solid"/>
          </a:ln>
        </p:spPr>
      </p:sp>
      <p:sp>
        <p:nvSpPr>
          <p:cNvPr id="21" name="Text 19"/>
          <p:cNvSpPr/>
          <p:nvPr/>
        </p:nvSpPr>
        <p:spPr>
          <a:xfrm>
            <a:off x="3429000" y="2148840"/>
            <a:ext cx="1280160" cy="228600"/>
          </a:xfrm>
          <a:prstGeom prst="rect">
            <a:avLst/>
          </a:prstGeom>
          <a:noFill/>
          <a:ln/>
        </p:spPr>
        <p:txBody>
          <a:bodyPr wrap="square" rtlCol="0" anchor="ctr"/>
          <a:lstStyle/>
          <a:p>
            <a:pPr algn="ctr" indent="0" marL="0">
              <a:buNone/>
            </a:pPr>
            <a:r>
              <a:rPr lang="en-US" sz="800" b="1" dirty="0">
                <a:solidFill>
                  <a:srgbClr val="F59E0B"/>
                </a:solidFill>
                <a:latin typeface="Arial" pitchFamily="34" charset="0"/>
                <a:ea typeface="Arial" pitchFamily="34" charset="-122"/>
                <a:cs typeface="Arial" pitchFamily="34" charset="-120"/>
              </a:rPr>
              <a:t>IN-PROGRESS</a:t>
            </a:r>
            <a:endParaRPr lang="en-US" sz="800" dirty="0"/>
          </a:p>
        </p:txBody>
      </p:sp>
      <p:sp>
        <p:nvSpPr>
          <p:cNvPr id="22" name="Text 20"/>
          <p:cNvSpPr/>
          <p:nvPr/>
        </p:nvSpPr>
        <p:spPr>
          <a:xfrm>
            <a:off x="3429000" y="2514600"/>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Core Features</a:t>
            </a:r>
            <a:endParaRPr lang="en-US" sz="1200" dirty="0"/>
          </a:p>
        </p:txBody>
      </p:sp>
      <p:sp>
        <p:nvSpPr>
          <p:cNvPr id="23" name="Text 21"/>
          <p:cNvSpPr/>
          <p:nvPr/>
        </p:nvSpPr>
        <p:spPr>
          <a:xfrm>
            <a:off x="3429000" y="297180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Logistics routing engine with PostGIS nearest-NH finder</a:t>
            </a:r>
            <a:endParaRPr lang="en-US" sz="850" dirty="0"/>
          </a:p>
        </p:txBody>
      </p:sp>
      <p:sp>
        <p:nvSpPr>
          <p:cNvPr id="24" name="Text 22"/>
          <p:cNvSpPr/>
          <p:nvPr/>
        </p:nvSpPr>
        <p:spPr>
          <a:xfrm>
            <a:off x="3429000" y="347472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Carbon credit calculator (ISO-14064-2:2019)</a:t>
            </a:r>
            <a:endParaRPr lang="en-US" sz="850" dirty="0"/>
          </a:p>
        </p:txBody>
      </p:sp>
      <p:sp>
        <p:nvSpPr>
          <p:cNvPr id="25" name="Text 23"/>
          <p:cNvSpPr/>
          <p:nvPr/>
        </p:nvSpPr>
        <p:spPr>
          <a:xfrm>
            <a:off x="3429000" y="397764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Order management with freight cost estimation</a:t>
            </a:r>
            <a:endParaRPr lang="en-US" sz="850" dirty="0"/>
          </a:p>
        </p:txBody>
      </p:sp>
      <p:sp>
        <p:nvSpPr>
          <p:cNvPr id="26" name="Text 24"/>
          <p:cNvSpPr/>
          <p:nvPr/>
        </p:nvSpPr>
        <p:spPr>
          <a:xfrm>
            <a:off x="3429000" y="448056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Real-time inventory via MQTT → WebSocket pipeline</a:t>
            </a:r>
            <a:endParaRPr lang="en-US" sz="850" dirty="0"/>
          </a:p>
        </p:txBody>
      </p:sp>
      <p:sp>
        <p:nvSpPr>
          <p:cNvPr id="27" name="Text 25"/>
          <p:cNvSpPr/>
          <p:nvPr/>
        </p:nvSpPr>
        <p:spPr>
          <a:xfrm>
            <a:off x="3429000" y="498348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PDF certificate generation (jsPDF)</a:t>
            </a:r>
            <a:endParaRPr lang="en-US" sz="850" dirty="0"/>
          </a:p>
        </p:txBody>
      </p:sp>
      <p:sp>
        <p:nvSpPr>
          <p:cNvPr id="28" name="Shape 26"/>
          <p:cNvSpPr/>
          <p:nvPr/>
        </p:nvSpPr>
        <p:spPr>
          <a:xfrm>
            <a:off x="6126480" y="1463040"/>
            <a:ext cx="2651760" cy="4663440"/>
          </a:xfrm>
          <a:prstGeom prst="rect">
            <a:avLst>
              <a:gd name="adj" fmla="val 3448"/>
            </a:avLst>
          </a:prstGeom>
          <a:solidFill>
            <a:srgbClr val="1F2937"/>
          </a:solidFill>
          <a:ln w="12700">
            <a:solidFill>
              <a:srgbClr val="6B7280"/>
            </a:solidFill>
            <a:prstDash val="solid"/>
          </a:ln>
        </p:spPr>
      </p:sp>
      <p:sp>
        <p:nvSpPr>
          <p:cNvPr id="29" name="Text 27"/>
          <p:cNvSpPr/>
          <p:nvPr/>
        </p:nvSpPr>
        <p:spPr>
          <a:xfrm>
            <a:off x="6263640" y="1554480"/>
            <a:ext cx="23774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3</a:t>
            </a:r>
            <a:endParaRPr lang="en-US" sz="1300" dirty="0"/>
          </a:p>
        </p:txBody>
      </p:sp>
      <p:sp>
        <p:nvSpPr>
          <p:cNvPr id="30" name="Text 28"/>
          <p:cNvSpPr/>
          <p:nvPr/>
        </p:nvSpPr>
        <p:spPr>
          <a:xfrm>
            <a:off x="6263640" y="1828800"/>
            <a:ext cx="237744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Weeks 9-12</a:t>
            </a:r>
            <a:endParaRPr lang="en-US" sz="900" dirty="0"/>
          </a:p>
        </p:txBody>
      </p:sp>
      <p:sp>
        <p:nvSpPr>
          <p:cNvPr id="31" name="Shape 29"/>
          <p:cNvSpPr/>
          <p:nvPr/>
        </p:nvSpPr>
        <p:spPr>
          <a:xfrm>
            <a:off x="6263640" y="2148840"/>
            <a:ext cx="1280160" cy="228600"/>
          </a:xfrm>
          <a:prstGeom prst="rect">
            <a:avLst>
              <a:gd name="adj" fmla="val 20000"/>
            </a:avLst>
          </a:prstGeom>
          <a:solidFill>
            <a:srgbClr val="000000"/>
          </a:solidFill>
          <a:ln w="6350">
            <a:solidFill>
              <a:srgbClr val="6B7280"/>
            </a:solidFill>
            <a:prstDash val="solid"/>
          </a:ln>
        </p:spPr>
      </p:sp>
      <p:sp>
        <p:nvSpPr>
          <p:cNvPr id="32" name="Text 30"/>
          <p:cNvSpPr/>
          <p:nvPr/>
        </p:nvSpPr>
        <p:spPr>
          <a:xfrm>
            <a:off x="6263640" y="2148840"/>
            <a:ext cx="1280160" cy="228600"/>
          </a:xfrm>
          <a:prstGeom prst="rect">
            <a:avLst/>
          </a:prstGeom>
          <a:noFill/>
          <a:ln/>
        </p:spPr>
        <p:txBody>
          <a:bodyPr wrap="square" rtlCol="0" anchor="ctr"/>
          <a:lstStyle/>
          <a:p>
            <a:pPr algn="ctr" indent="0" marL="0">
              <a:buNone/>
            </a:pPr>
            <a:r>
              <a:rPr lang="en-US" sz="800" b="1" dirty="0">
                <a:solidFill>
                  <a:srgbClr val="6B7280"/>
                </a:solidFill>
                <a:latin typeface="Arial" pitchFamily="34" charset="0"/>
                <a:ea typeface="Arial" pitchFamily="34" charset="-122"/>
                <a:cs typeface="Arial" pitchFamily="34" charset="-120"/>
              </a:rPr>
              <a:t>UPCOMING</a:t>
            </a:r>
            <a:endParaRPr lang="en-US" sz="800" dirty="0"/>
          </a:p>
        </p:txBody>
      </p:sp>
      <p:sp>
        <p:nvSpPr>
          <p:cNvPr id="33" name="Text 31"/>
          <p:cNvSpPr/>
          <p:nvPr/>
        </p:nvSpPr>
        <p:spPr>
          <a:xfrm>
            <a:off x="6263640" y="2514600"/>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Intelligence &amp; Scale</a:t>
            </a:r>
            <a:endParaRPr lang="en-US" sz="1200" dirty="0"/>
          </a:p>
        </p:txBody>
      </p:sp>
      <p:sp>
        <p:nvSpPr>
          <p:cNvPr id="34" name="Text 32"/>
          <p:cNvSpPr/>
          <p:nvPr/>
        </p:nvSpPr>
        <p:spPr>
          <a:xfrm>
            <a:off x="6263640" y="297180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ML demand forecasting (time-series on 3yr order data)</a:t>
            </a:r>
            <a:endParaRPr lang="en-US" sz="850" dirty="0"/>
          </a:p>
        </p:txBody>
      </p:sp>
      <p:sp>
        <p:nvSpPr>
          <p:cNvPr id="35" name="Text 33"/>
          <p:cNvSpPr/>
          <p:nvPr/>
        </p:nvSpPr>
        <p:spPr>
          <a:xfrm>
            <a:off x="6263640" y="347472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Dynamic pricing engine based on grade &amp; distance</a:t>
            </a:r>
            <a:endParaRPr lang="en-US" sz="850" dirty="0"/>
          </a:p>
        </p:txBody>
      </p:sp>
      <p:sp>
        <p:nvSpPr>
          <p:cNvPr id="36" name="Text 34"/>
          <p:cNvSpPr/>
          <p:nvPr/>
        </p:nvSpPr>
        <p:spPr>
          <a:xfrm>
            <a:off x="6263640" y="397764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Mobile app (React Native) for field agents</a:t>
            </a:r>
            <a:endParaRPr lang="en-US" sz="850" dirty="0"/>
          </a:p>
        </p:txBody>
      </p:sp>
      <p:sp>
        <p:nvSpPr>
          <p:cNvPr id="37" name="Text 35"/>
          <p:cNvSpPr/>
          <p:nvPr/>
        </p:nvSpPr>
        <p:spPr>
          <a:xfrm>
            <a:off x="6263640" y="448056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Multi-refinery support (all 4 NALCO plants)</a:t>
            </a:r>
            <a:endParaRPr lang="en-US" sz="850" dirty="0"/>
          </a:p>
        </p:txBody>
      </p:sp>
      <p:sp>
        <p:nvSpPr>
          <p:cNvPr id="38" name="Text 36"/>
          <p:cNvSpPr/>
          <p:nvPr/>
        </p:nvSpPr>
        <p:spPr>
          <a:xfrm>
            <a:off x="6263640" y="498348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Public buyer portal (/buyer route)</a:t>
            </a:r>
            <a:endParaRPr lang="en-US" sz="850" dirty="0"/>
          </a:p>
        </p:txBody>
      </p:sp>
      <p:sp>
        <p:nvSpPr>
          <p:cNvPr id="39" name="Shape 37"/>
          <p:cNvSpPr/>
          <p:nvPr/>
        </p:nvSpPr>
        <p:spPr>
          <a:xfrm>
            <a:off x="8961120" y="1463040"/>
            <a:ext cx="2651760" cy="4663440"/>
          </a:xfrm>
          <a:prstGeom prst="rect">
            <a:avLst>
              <a:gd name="adj" fmla="val 3448"/>
            </a:avLst>
          </a:prstGeom>
          <a:solidFill>
            <a:srgbClr val="1F2937"/>
          </a:solidFill>
          <a:ln w="12700">
            <a:solidFill>
              <a:srgbClr val="6B7280"/>
            </a:solidFill>
            <a:prstDash val="solid"/>
          </a:ln>
        </p:spPr>
      </p:sp>
      <p:sp>
        <p:nvSpPr>
          <p:cNvPr id="40" name="Text 38"/>
          <p:cNvSpPr/>
          <p:nvPr/>
        </p:nvSpPr>
        <p:spPr>
          <a:xfrm>
            <a:off x="9098280" y="1554480"/>
            <a:ext cx="23774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4</a:t>
            </a:r>
            <a:endParaRPr lang="en-US" sz="1300" dirty="0"/>
          </a:p>
        </p:txBody>
      </p:sp>
      <p:sp>
        <p:nvSpPr>
          <p:cNvPr id="41" name="Text 39"/>
          <p:cNvSpPr/>
          <p:nvPr/>
        </p:nvSpPr>
        <p:spPr>
          <a:xfrm>
            <a:off x="9098280" y="1828800"/>
            <a:ext cx="2377440" cy="22860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Weeks 13-16</a:t>
            </a:r>
            <a:endParaRPr lang="en-US" sz="900" dirty="0"/>
          </a:p>
        </p:txBody>
      </p:sp>
      <p:sp>
        <p:nvSpPr>
          <p:cNvPr id="42" name="Shape 40"/>
          <p:cNvSpPr/>
          <p:nvPr/>
        </p:nvSpPr>
        <p:spPr>
          <a:xfrm>
            <a:off x="9098280" y="2148840"/>
            <a:ext cx="1280160" cy="228600"/>
          </a:xfrm>
          <a:prstGeom prst="rect">
            <a:avLst>
              <a:gd name="adj" fmla="val 20000"/>
            </a:avLst>
          </a:prstGeom>
          <a:solidFill>
            <a:srgbClr val="000000"/>
          </a:solidFill>
          <a:ln w="6350">
            <a:solidFill>
              <a:srgbClr val="6B7280"/>
            </a:solidFill>
            <a:prstDash val="solid"/>
          </a:ln>
        </p:spPr>
      </p:sp>
      <p:sp>
        <p:nvSpPr>
          <p:cNvPr id="43" name="Text 41"/>
          <p:cNvSpPr/>
          <p:nvPr/>
        </p:nvSpPr>
        <p:spPr>
          <a:xfrm>
            <a:off x="9098280" y="2148840"/>
            <a:ext cx="1280160" cy="228600"/>
          </a:xfrm>
          <a:prstGeom prst="rect">
            <a:avLst/>
          </a:prstGeom>
          <a:noFill/>
          <a:ln/>
        </p:spPr>
        <p:txBody>
          <a:bodyPr wrap="square" rtlCol="0" anchor="ctr"/>
          <a:lstStyle/>
          <a:p>
            <a:pPr algn="ctr" indent="0" marL="0">
              <a:buNone/>
            </a:pPr>
            <a:r>
              <a:rPr lang="en-US" sz="800" b="1" dirty="0">
                <a:solidFill>
                  <a:srgbClr val="6B7280"/>
                </a:solidFill>
                <a:latin typeface="Arial" pitchFamily="34" charset="0"/>
                <a:ea typeface="Arial" pitchFamily="34" charset="-122"/>
                <a:cs typeface="Arial" pitchFamily="34" charset="-120"/>
              </a:rPr>
              <a:t>UPCOMING</a:t>
            </a:r>
            <a:endParaRPr lang="en-US" sz="800" dirty="0"/>
          </a:p>
        </p:txBody>
      </p:sp>
      <p:sp>
        <p:nvSpPr>
          <p:cNvPr id="44" name="Text 42"/>
          <p:cNvSpPr/>
          <p:nvPr/>
        </p:nvSpPr>
        <p:spPr>
          <a:xfrm>
            <a:off x="9098280" y="2514600"/>
            <a:ext cx="23774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Ecosystem &amp; Compliance</a:t>
            </a:r>
            <a:endParaRPr lang="en-US" sz="1200" dirty="0"/>
          </a:p>
        </p:txBody>
      </p:sp>
      <p:sp>
        <p:nvSpPr>
          <p:cNvPr id="45" name="Text 43"/>
          <p:cNvSpPr/>
          <p:nvPr/>
        </p:nvSpPr>
        <p:spPr>
          <a:xfrm>
            <a:off x="9098280" y="297180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CCTS carbon credit auto-registration</a:t>
            </a:r>
            <a:endParaRPr lang="en-US" sz="850" dirty="0"/>
          </a:p>
        </p:txBody>
      </p:sp>
      <p:sp>
        <p:nvSpPr>
          <p:cNvPr id="46" name="Text 44"/>
          <p:cNvSpPr/>
          <p:nvPr/>
        </p:nvSpPr>
        <p:spPr>
          <a:xfrm>
            <a:off x="9098280" y="347472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NHAI e-Procurement API integration</a:t>
            </a:r>
            <a:endParaRPr lang="en-US" sz="850" dirty="0"/>
          </a:p>
        </p:txBody>
      </p:sp>
      <p:sp>
        <p:nvSpPr>
          <p:cNvPr id="47" name="Text 45"/>
          <p:cNvSpPr/>
          <p:nvPr/>
        </p:nvSpPr>
        <p:spPr>
          <a:xfrm>
            <a:off x="9098280" y="397764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BIS quality certification pipeline</a:t>
            </a:r>
            <a:endParaRPr lang="en-US" sz="850" dirty="0"/>
          </a:p>
        </p:txBody>
      </p:sp>
      <p:sp>
        <p:nvSpPr>
          <p:cNvPr id="48" name="Text 46"/>
          <p:cNvSpPr/>
          <p:nvPr/>
        </p:nvSpPr>
        <p:spPr>
          <a:xfrm>
            <a:off x="9098280" y="448056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GST e-Waybill auto-generation</a:t>
            </a:r>
            <a:endParaRPr lang="en-US" sz="850" dirty="0"/>
          </a:p>
        </p:txBody>
      </p:sp>
      <p:sp>
        <p:nvSpPr>
          <p:cNvPr id="49" name="Text 47"/>
          <p:cNvSpPr/>
          <p:nvPr/>
        </p:nvSpPr>
        <p:spPr>
          <a:xfrm>
            <a:off x="9098280" y="4983480"/>
            <a:ext cx="2377440" cy="457200"/>
          </a:xfrm>
          <a:prstGeom prst="rect">
            <a:avLst/>
          </a:prstGeom>
          <a:noFill/>
          <a:ln/>
        </p:spPr>
        <p:txBody>
          <a:bodyPr wrap="square" rtlCol="0" anchor="t"/>
          <a:lstStyle/>
          <a:p>
            <a:pPr indent="0" marL="0">
              <a:buNone/>
            </a:pPr>
            <a:r>
              <a:rPr lang="en-US" sz="850" dirty="0">
                <a:solidFill>
                  <a:srgbClr val="D1D5DB"/>
                </a:solidFill>
                <a:latin typeface="Arial" pitchFamily="34" charset="0"/>
                <a:ea typeface="Arial" pitchFamily="34" charset="-122"/>
                <a:cs typeface="Arial" pitchFamily="34" charset="-120"/>
              </a:rPr>
              <a:t>▸ CPCB zero-waste compliance dashboard</a:t>
            </a:r>
            <a:endParaRPr lang="en-US" sz="850" dirty="0"/>
          </a:p>
        </p:txBody>
      </p:sp>
      <p:sp>
        <p:nvSpPr>
          <p:cNvPr id="50" name="Text 48"/>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51" name="Text 49"/>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10B981"/>
                </a:solidFill>
                <a:latin typeface="Arial" pitchFamily="34" charset="0"/>
                <a:ea typeface="Arial" pitchFamily="34" charset="-122"/>
                <a:cs typeface="Arial" pitchFamily="34" charset="-120"/>
              </a:rPr>
              <a:t>PROJECTED IMPACT</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Numbers That Matter</a:t>
            </a:r>
            <a:endParaRPr lang="en-US" sz="3400" dirty="0"/>
          </a:p>
        </p:txBody>
      </p:sp>
      <p:sp>
        <p:nvSpPr>
          <p:cNvPr id="6" name="Shape 4"/>
          <p:cNvSpPr/>
          <p:nvPr/>
        </p:nvSpPr>
        <p:spPr>
          <a:xfrm>
            <a:off x="457200" y="1554480"/>
            <a:ext cx="2697480" cy="1920240"/>
          </a:xfrm>
          <a:prstGeom prst="rect">
            <a:avLst>
              <a:gd name="adj" fmla="val 4762"/>
            </a:avLst>
          </a:prstGeom>
          <a:solidFill>
            <a:srgbClr val="1F2937"/>
          </a:solidFill>
          <a:ln w="12700">
            <a:solidFill>
              <a:srgbClr val="10B981"/>
            </a:solidFill>
            <a:prstDash val="solid"/>
          </a:ln>
        </p:spPr>
      </p:sp>
      <p:sp>
        <p:nvSpPr>
          <p:cNvPr id="7" name="Text 5"/>
          <p:cNvSpPr/>
          <p:nvPr/>
        </p:nvSpPr>
        <p:spPr>
          <a:xfrm>
            <a:off x="457200" y="169164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457200" y="2148840"/>
            <a:ext cx="2697480" cy="365760"/>
          </a:xfrm>
          <a:prstGeom prst="rect">
            <a:avLst/>
          </a:prstGeom>
          <a:noFill/>
          <a:ln/>
        </p:spPr>
        <p:txBody>
          <a:bodyPr wrap="square" rtlCol="0" anchor="ctr"/>
          <a:lstStyle/>
          <a:p>
            <a:pPr algn="ctr" indent="0" marL="0">
              <a:buNone/>
            </a:pPr>
            <a:r>
              <a:rPr lang="en-US" sz="1600" b="1" dirty="0">
                <a:solidFill>
                  <a:srgbClr val="10B981"/>
                </a:solidFill>
                <a:latin typeface="Arial" pitchFamily="34" charset="0"/>
                <a:ea typeface="Arial" pitchFamily="34" charset="-122"/>
                <a:cs typeface="Arial" pitchFamily="34" charset="-120"/>
              </a:rPr>
              <a:t>1,24,000 MT</a:t>
            </a:r>
            <a:endParaRPr lang="en-US" sz="1600" dirty="0"/>
          </a:p>
        </p:txBody>
      </p:sp>
      <p:sp>
        <p:nvSpPr>
          <p:cNvPr id="9" name="Text 7"/>
          <p:cNvSpPr/>
          <p:nvPr/>
        </p:nvSpPr>
        <p:spPr>
          <a:xfrm>
            <a:off x="457200" y="251460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7,50,000 MT</a:t>
            </a:r>
            <a:endParaRPr lang="en-US" sz="1300" dirty="0"/>
          </a:p>
        </p:txBody>
      </p:sp>
      <p:sp>
        <p:nvSpPr>
          <p:cNvPr id="10" name="Text 8"/>
          <p:cNvSpPr/>
          <p:nvPr/>
        </p:nvSpPr>
        <p:spPr>
          <a:xfrm>
            <a:off x="457200" y="288036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Waste Diverted</a:t>
            </a:r>
            <a:endParaRPr lang="en-US" sz="900" dirty="0"/>
          </a:p>
        </p:txBody>
      </p:sp>
      <p:sp>
        <p:nvSpPr>
          <p:cNvPr id="11" name="Text 9"/>
          <p:cNvSpPr/>
          <p:nvPr/>
        </p:nvSpPr>
        <p:spPr>
          <a:xfrm>
            <a:off x="457200" y="315468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12" name="Shape 10"/>
          <p:cNvSpPr/>
          <p:nvPr/>
        </p:nvSpPr>
        <p:spPr>
          <a:xfrm>
            <a:off x="3337560" y="1554480"/>
            <a:ext cx="2697480" cy="1920240"/>
          </a:xfrm>
          <a:prstGeom prst="rect">
            <a:avLst>
              <a:gd name="adj" fmla="val 4762"/>
            </a:avLst>
          </a:prstGeom>
          <a:solidFill>
            <a:srgbClr val="1F2937"/>
          </a:solidFill>
          <a:ln w="12700">
            <a:solidFill>
              <a:srgbClr val="F59E0B"/>
            </a:solidFill>
            <a:prstDash val="solid"/>
          </a:ln>
        </p:spPr>
      </p:sp>
      <p:sp>
        <p:nvSpPr>
          <p:cNvPr id="13" name="Text 11"/>
          <p:cNvSpPr/>
          <p:nvPr/>
        </p:nvSpPr>
        <p:spPr>
          <a:xfrm>
            <a:off x="3337560" y="169164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3337560" y="2148840"/>
            <a:ext cx="2697480" cy="365760"/>
          </a:xfrm>
          <a:prstGeom prst="rect">
            <a:avLst/>
          </a:prstGeom>
          <a:noFill/>
          <a:ln/>
        </p:spPr>
        <p:txBody>
          <a:bodyPr wrap="square" rtlCol="0" anchor="ctr"/>
          <a:lstStyle/>
          <a:p>
            <a:pPr algn="ctr" indent="0" marL="0">
              <a:buNone/>
            </a:pPr>
            <a:r>
              <a:rPr lang="en-US" sz="1600" b="1" dirty="0">
                <a:solidFill>
                  <a:srgbClr val="F59E0B"/>
                </a:solidFill>
                <a:latin typeface="Arial" pitchFamily="34" charset="0"/>
                <a:ea typeface="Arial" pitchFamily="34" charset="-122"/>
                <a:cs typeface="Arial" pitchFamily="34" charset="-120"/>
              </a:rPr>
              <a:t>₹4.34 Cr</a:t>
            </a:r>
            <a:endParaRPr lang="en-US" sz="1600" dirty="0"/>
          </a:p>
        </p:txBody>
      </p:sp>
      <p:sp>
        <p:nvSpPr>
          <p:cNvPr id="15" name="Text 13"/>
          <p:cNvSpPr/>
          <p:nvPr/>
        </p:nvSpPr>
        <p:spPr>
          <a:xfrm>
            <a:off x="3337560" y="251460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₹262 Cr</a:t>
            </a:r>
            <a:endParaRPr lang="en-US" sz="1300" dirty="0"/>
          </a:p>
        </p:txBody>
      </p:sp>
      <p:sp>
        <p:nvSpPr>
          <p:cNvPr id="16" name="Text 14"/>
          <p:cNvSpPr/>
          <p:nvPr/>
        </p:nvSpPr>
        <p:spPr>
          <a:xfrm>
            <a:off x="3337560" y="288036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Revenue Generated</a:t>
            </a:r>
            <a:endParaRPr lang="en-US" sz="900" dirty="0"/>
          </a:p>
        </p:txBody>
      </p:sp>
      <p:sp>
        <p:nvSpPr>
          <p:cNvPr id="17" name="Text 15"/>
          <p:cNvSpPr/>
          <p:nvPr/>
        </p:nvSpPr>
        <p:spPr>
          <a:xfrm>
            <a:off x="3337560" y="315468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18" name="Shape 16"/>
          <p:cNvSpPr/>
          <p:nvPr/>
        </p:nvSpPr>
        <p:spPr>
          <a:xfrm>
            <a:off x="6217920" y="1554480"/>
            <a:ext cx="2697480" cy="1920240"/>
          </a:xfrm>
          <a:prstGeom prst="rect">
            <a:avLst>
              <a:gd name="adj" fmla="val 4762"/>
            </a:avLst>
          </a:prstGeom>
          <a:solidFill>
            <a:srgbClr val="1F2937"/>
          </a:solidFill>
          <a:ln w="12700">
            <a:solidFill>
              <a:srgbClr val="10B981"/>
            </a:solidFill>
            <a:prstDash val="solid"/>
          </a:ln>
        </p:spPr>
      </p:sp>
      <p:sp>
        <p:nvSpPr>
          <p:cNvPr id="19" name="Text 17"/>
          <p:cNvSpPr/>
          <p:nvPr/>
        </p:nvSpPr>
        <p:spPr>
          <a:xfrm>
            <a:off x="6217920" y="169164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0" name="Text 18"/>
          <p:cNvSpPr/>
          <p:nvPr/>
        </p:nvSpPr>
        <p:spPr>
          <a:xfrm>
            <a:off x="6217920" y="2148840"/>
            <a:ext cx="2697480" cy="365760"/>
          </a:xfrm>
          <a:prstGeom prst="rect">
            <a:avLst/>
          </a:prstGeom>
          <a:noFill/>
          <a:ln/>
        </p:spPr>
        <p:txBody>
          <a:bodyPr wrap="square" rtlCol="0" anchor="ctr"/>
          <a:lstStyle/>
          <a:p>
            <a:pPr algn="ctr" indent="0" marL="0">
              <a:buNone/>
            </a:pPr>
            <a:r>
              <a:rPr lang="en-US" sz="1600" b="1" dirty="0">
                <a:solidFill>
                  <a:srgbClr val="10B981"/>
                </a:solidFill>
                <a:latin typeface="Arial" pitchFamily="34" charset="0"/>
                <a:ea typeface="Arial" pitchFamily="34" charset="-122"/>
                <a:cs typeface="Arial" pitchFamily="34" charset="-120"/>
              </a:rPr>
              <a:t>54,560 tCO₂e</a:t>
            </a:r>
            <a:endParaRPr lang="en-US" sz="1600" dirty="0"/>
          </a:p>
        </p:txBody>
      </p:sp>
      <p:sp>
        <p:nvSpPr>
          <p:cNvPr id="21" name="Text 19"/>
          <p:cNvSpPr/>
          <p:nvPr/>
        </p:nvSpPr>
        <p:spPr>
          <a:xfrm>
            <a:off x="6217920" y="251460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3,30,000 tCO₂e</a:t>
            </a:r>
            <a:endParaRPr lang="en-US" sz="1300" dirty="0"/>
          </a:p>
        </p:txBody>
      </p:sp>
      <p:sp>
        <p:nvSpPr>
          <p:cNvPr id="22" name="Text 20"/>
          <p:cNvSpPr/>
          <p:nvPr/>
        </p:nvSpPr>
        <p:spPr>
          <a:xfrm>
            <a:off x="6217920" y="288036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Carbon Offset</a:t>
            </a:r>
            <a:endParaRPr lang="en-US" sz="900" dirty="0"/>
          </a:p>
        </p:txBody>
      </p:sp>
      <p:sp>
        <p:nvSpPr>
          <p:cNvPr id="23" name="Text 21"/>
          <p:cNvSpPr/>
          <p:nvPr/>
        </p:nvSpPr>
        <p:spPr>
          <a:xfrm>
            <a:off x="6217920" y="315468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24" name="Shape 22"/>
          <p:cNvSpPr/>
          <p:nvPr/>
        </p:nvSpPr>
        <p:spPr>
          <a:xfrm>
            <a:off x="9098280" y="1554480"/>
            <a:ext cx="2697480" cy="1920240"/>
          </a:xfrm>
          <a:prstGeom prst="rect">
            <a:avLst>
              <a:gd name="adj" fmla="val 4762"/>
            </a:avLst>
          </a:prstGeom>
          <a:solidFill>
            <a:srgbClr val="1F2937"/>
          </a:solidFill>
          <a:ln w="12700">
            <a:solidFill>
              <a:srgbClr val="8B5CF6"/>
            </a:solidFill>
            <a:prstDash val="solid"/>
          </a:ln>
        </p:spPr>
      </p:sp>
      <p:sp>
        <p:nvSpPr>
          <p:cNvPr id="25" name="Text 23"/>
          <p:cNvSpPr/>
          <p:nvPr/>
        </p:nvSpPr>
        <p:spPr>
          <a:xfrm>
            <a:off x="9098280" y="169164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6" name="Text 24"/>
          <p:cNvSpPr/>
          <p:nvPr/>
        </p:nvSpPr>
        <p:spPr>
          <a:xfrm>
            <a:off x="9098280" y="2148840"/>
            <a:ext cx="2697480" cy="365760"/>
          </a:xfrm>
          <a:prstGeom prst="rect">
            <a:avLst/>
          </a:prstGeom>
          <a:noFill/>
          <a:ln/>
        </p:spPr>
        <p:txBody>
          <a:bodyPr wrap="square" rtlCol="0" anchor="ctr"/>
          <a:lstStyle/>
          <a:p>
            <a:pPr algn="ctr" indent="0" marL="0">
              <a:buNone/>
            </a:pPr>
            <a:r>
              <a:rPr lang="en-US" sz="1600" b="1" dirty="0">
                <a:solidFill>
                  <a:srgbClr val="8B5CF6"/>
                </a:solidFill>
                <a:latin typeface="Arial" pitchFamily="34" charset="0"/>
                <a:ea typeface="Arial" pitchFamily="34" charset="-122"/>
                <a:cs typeface="Arial" pitchFamily="34" charset="-120"/>
              </a:rPr>
              <a:t>₹8.18 Cr</a:t>
            </a:r>
            <a:endParaRPr lang="en-US" sz="1600" dirty="0"/>
          </a:p>
        </p:txBody>
      </p:sp>
      <p:sp>
        <p:nvSpPr>
          <p:cNvPr id="27" name="Text 25"/>
          <p:cNvSpPr/>
          <p:nvPr/>
        </p:nvSpPr>
        <p:spPr>
          <a:xfrm>
            <a:off x="9098280" y="251460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₹49.5 Cr</a:t>
            </a:r>
            <a:endParaRPr lang="en-US" sz="1300" dirty="0"/>
          </a:p>
        </p:txBody>
      </p:sp>
      <p:sp>
        <p:nvSpPr>
          <p:cNvPr id="28" name="Text 26"/>
          <p:cNvSpPr/>
          <p:nvPr/>
        </p:nvSpPr>
        <p:spPr>
          <a:xfrm>
            <a:off x="9098280" y="288036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Carbon Revenue</a:t>
            </a:r>
            <a:endParaRPr lang="en-US" sz="900" dirty="0"/>
          </a:p>
        </p:txBody>
      </p:sp>
      <p:sp>
        <p:nvSpPr>
          <p:cNvPr id="29" name="Text 27"/>
          <p:cNvSpPr/>
          <p:nvPr/>
        </p:nvSpPr>
        <p:spPr>
          <a:xfrm>
            <a:off x="9098280" y="315468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30" name="Shape 28"/>
          <p:cNvSpPr/>
          <p:nvPr/>
        </p:nvSpPr>
        <p:spPr>
          <a:xfrm>
            <a:off x="457200" y="3657600"/>
            <a:ext cx="2697480" cy="1920240"/>
          </a:xfrm>
          <a:prstGeom prst="rect">
            <a:avLst>
              <a:gd name="adj" fmla="val 4762"/>
            </a:avLst>
          </a:prstGeom>
          <a:solidFill>
            <a:srgbClr val="1F2937"/>
          </a:solidFill>
          <a:ln w="12700">
            <a:solidFill>
              <a:srgbClr val="3B82F6"/>
            </a:solidFill>
            <a:prstDash val="solid"/>
          </a:ln>
        </p:spPr>
      </p:sp>
      <p:sp>
        <p:nvSpPr>
          <p:cNvPr id="31" name="Text 29"/>
          <p:cNvSpPr/>
          <p:nvPr/>
        </p:nvSpPr>
        <p:spPr>
          <a:xfrm>
            <a:off x="457200" y="379476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2" name="Text 30"/>
          <p:cNvSpPr/>
          <p:nvPr/>
        </p:nvSpPr>
        <p:spPr>
          <a:xfrm>
            <a:off x="457200" y="4251960"/>
            <a:ext cx="2697480" cy="365760"/>
          </a:xfrm>
          <a:prstGeom prst="rect">
            <a:avLst/>
          </a:prstGeom>
          <a:noFill/>
          <a:ln/>
        </p:spPr>
        <p:txBody>
          <a:bodyPr wrap="square" rtlCol="0" anchor="ctr"/>
          <a:lstStyle/>
          <a:p>
            <a:pPr algn="ctr" indent="0" marL="0">
              <a:buNone/>
            </a:pPr>
            <a:r>
              <a:rPr lang="en-US" sz="1600" b="1" dirty="0">
                <a:solidFill>
                  <a:srgbClr val="3B82F6"/>
                </a:solidFill>
                <a:latin typeface="Arial" pitchFamily="34" charset="0"/>
                <a:ea typeface="Arial" pitchFamily="34" charset="-122"/>
                <a:cs typeface="Arial" pitchFamily="34" charset="-120"/>
              </a:rPr>
              <a:t>450</a:t>
            </a:r>
            <a:endParaRPr lang="en-US" sz="1600" dirty="0"/>
          </a:p>
        </p:txBody>
      </p:sp>
      <p:sp>
        <p:nvSpPr>
          <p:cNvPr id="33" name="Text 31"/>
          <p:cNvSpPr/>
          <p:nvPr/>
        </p:nvSpPr>
        <p:spPr>
          <a:xfrm>
            <a:off x="457200" y="461772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2800</a:t>
            </a:r>
            <a:endParaRPr lang="en-US" sz="1300" dirty="0"/>
          </a:p>
        </p:txBody>
      </p:sp>
      <p:sp>
        <p:nvSpPr>
          <p:cNvPr id="34" name="Text 32"/>
          <p:cNvSpPr/>
          <p:nvPr/>
        </p:nvSpPr>
        <p:spPr>
          <a:xfrm>
            <a:off x="457200" y="498348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Jobs Created</a:t>
            </a:r>
            <a:endParaRPr lang="en-US" sz="900" dirty="0"/>
          </a:p>
        </p:txBody>
      </p:sp>
      <p:sp>
        <p:nvSpPr>
          <p:cNvPr id="35" name="Text 33"/>
          <p:cNvSpPr/>
          <p:nvPr/>
        </p:nvSpPr>
        <p:spPr>
          <a:xfrm>
            <a:off x="457200" y="525780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36" name="Shape 34"/>
          <p:cNvSpPr/>
          <p:nvPr/>
        </p:nvSpPr>
        <p:spPr>
          <a:xfrm>
            <a:off x="3337560" y="3657600"/>
            <a:ext cx="2697480" cy="1920240"/>
          </a:xfrm>
          <a:prstGeom prst="rect">
            <a:avLst>
              <a:gd name="adj" fmla="val 4762"/>
            </a:avLst>
          </a:prstGeom>
          <a:solidFill>
            <a:srgbClr val="1F2937"/>
          </a:solidFill>
          <a:ln w="12700">
            <a:solidFill>
              <a:srgbClr val="10B981"/>
            </a:solidFill>
            <a:prstDash val="solid"/>
          </a:ln>
        </p:spPr>
      </p:sp>
      <p:sp>
        <p:nvSpPr>
          <p:cNvPr id="37" name="Text 35"/>
          <p:cNvSpPr/>
          <p:nvPr/>
        </p:nvSpPr>
        <p:spPr>
          <a:xfrm>
            <a:off x="3337560" y="379476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8" name="Text 36"/>
          <p:cNvSpPr/>
          <p:nvPr/>
        </p:nvSpPr>
        <p:spPr>
          <a:xfrm>
            <a:off x="3337560" y="4251960"/>
            <a:ext cx="2697480" cy="365760"/>
          </a:xfrm>
          <a:prstGeom prst="rect">
            <a:avLst/>
          </a:prstGeom>
          <a:noFill/>
          <a:ln/>
        </p:spPr>
        <p:txBody>
          <a:bodyPr wrap="square" rtlCol="0" anchor="ctr"/>
          <a:lstStyle/>
          <a:p>
            <a:pPr algn="ctr" indent="0" marL="0">
              <a:buNone/>
            </a:pPr>
            <a:r>
              <a:rPr lang="en-US" sz="1600" b="1" dirty="0">
                <a:solidFill>
                  <a:srgbClr val="10B981"/>
                </a:solidFill>
                <a:latin typeface="Arial" pitchFamily="34" charset="0"/>
                <a:ea typeface="Arial" pitchFamily="34" charset="-122"/>
                <a:cs typeface="Arial" pitchFamily="34" charset="-120"/>
              </a:rPr>
              <a:t>120 hectares</a:t>
            </a:r>
            <a:endParaRPr lang="en-US" sz="1600" dirty="0"/>
          </a:p>
        </p:txBody>
      </p:sp>
      <p:sp>
        <p:nvSpPr>
          <p:cNvPr id="39" name="Text 37"/>
          <p:cNvSpPr/>
          <p:nvPr/>
        </p:nvSpPr>
        <p:spPr>
          <a:xfrm>
            <a:off x="3337560" y="461772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680 hectares</a:t>
            </a:r>
            <a:endParaRPr lang="en-US" sz="1300" dirty="0"/>
          </a:p>
        </p:txBody>
      </p:sp>
      <p:sp>
        <p:nvSpPr>
          <p:cNvPr id="40" name="Text 38"/>
          <p:cNvSpPr/>
          <p:nvPr/>
        </p:nvSpPr>
        <p:spPr>
          <a:xfrm>
            <a:off x="3337560" y="498348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Land Saved</a:t>
            </a:r>
            <a:endParaRPr lang="en-US" sz="900" dirty="0"/>
          </a:p>
        </p:txBody>
      </p:sp>
      <p:sp>
        <p:nvSpPr>
          <p:cNvPr id="41" name="Text 39"/>
          <p:cNvSpPr/>
          <p:nvPr/>
        </p:nvSpPr>
        <p:spPr>
          <a:xfrm>
            <a:off x="3337560" y="525780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42" name="Shape 40"/>
          <p:cNvSpPr/>
          <p:nvPr/>
        </p:nvSpPr>
        <p:spPr>
          <a:xfrm>
            <a:off x="6217920" y="3657600"/>
            <a:ext cx="2697480" cy="1920240"/>
          </a:xfrm>
          <a:prstGeom prst="rect">
            <a:avLst>
              <a:gd name="adj" fmla="val 4762"/>
            </a:avLst>
          </a:prstGeom>
          <a:solidFill>
            <a:srgbClr val="1F2937"/>
          </a:solidFill>
          <a:ln w="12700">
            <a:solidFill>
              <a:srgbClr val="F59E0B"/>
            </a:solidFill>
            <a:prstDash val="solid"/>
          </a:ln>
        </p:spPr>
      </p:sp>
      <p:sp>
        <p:nvSpPr>
          <p:cNvPr id="43" name="Text 41"/>
          <p:cNvSpPr/>
          <p:nvPr/>
        </p:nvSpPr>
        <p:spPr>
          <a:xfrm>
            <a:off x="6217920" y="379476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44" name="Text 42"/>
          <p:cNvSpPr/>
          <p:nvPr/>
        </p:nvSpPr>
        <p:spPr>
          <a:xfrm>
            <a:off x="6217920" y="4251960"/>
            <a:ext cx="2697480" cy="365760"/>
          </a:xfrm>
          <a:prstGeom prst="rect">
            <a:avLst/>
          </a:prstGeom>
          <a:noFill/>
          <a:ln/>
        </p:spPr>
        <p:txBody>
          <a:bodyPr wrap="square" rtlCol="0" anchor="ctr"/>
          <a:lstStyle/>
          <a:p>
            <a:pPr algn="ctr" indent="0" marL="0">
              <a:buNone/>
            </a:pPr>
            <a:r>
              <a:rPr lang="en-US" sz="1600" b="1" dirty="0">
                <a:solidFill>
                  <a:srgbClr val="F59E0B"/>
                </a:solidFill>
                <a:latin typeface="Arial" pitchFamily="34" charset="0"/>
                <a:ea typeface="Arial" pitchFamily="34" charset="-122"/>
                <a:cs typeface="Arial" pitchFamily="34" charset="-120"/>
              </a:rPr>
              <a:t>24</a:t>
            </a:r>
            <a:endParaRPr lang="en-US" sz="1600" dirty="0"/>
          </a:p>
        </p:txBody>
      </p:sp>
      <p:sp>
        <p:nvSpPr>
          <p:cNvPr id="45" name="Text 43"/>
          <p:cNvSpPr/>
          <p:nvPr/>
        </p:nvSpPr>
        <p:spPr>
          <a:xfrm>
            <a:off x="6217920" y="461772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150</a:t>
            </a:r>
            <a:endParaRPr lang="en-US" sz="1300" dirty="0"/>
          </a:p>
        </p:txBody>
      </p:sp>
      <p:sp>
        <p:nvSpPr>
          <p:cNvPr id="46" name="Text 44"/>
          <p:cNvSpPr/>
          <p:nvPr/>
        </p:nvSpPr>
        <p:spPr>
          <a:xfrm>
            <a:off x="6217920" y="498348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Buyers Onboarded</a:t>
            </a:r>
            <a:endParaRPr lang="en-US" sz="900" dirty="0"/>
          </a:p>
        </p:txBody>
      </p:sp>
      <p:sp>
        <p:nvSpPr>
          <p:cNvPr id="47" name="Text 45"/>
          <p:cNvSpPr/>
          <p:nvPr/>
        </p:nvSpPr>
        <p:spPr>
          <a:xfrm>
            <a:off x="6217920" y="525780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48" name="Shape 46"/>
          <p:cNvSpPr/>
          <p:nvPr/>
        </p:nvSpPr>
        <p:spPr>
          <a:xfrm>
            <a:off x="9098280" y="3657600"/>
            <a:ext cx="2697480" cy="1920240"/>
          </a:xfrm>
          <a:prstGeom prst="rect">
            <a:avLst>
              <a:gd name="adj" fmla="val 4762"/>
            </a:avLst>
          </a:prstGeom>
          <a:solidFill>
            <a:srgbClr val="1F2937"/>
          </a:solidFill>
          <a:ln w="12700">
            <a:solidFill>
              <a:srgbClr val="3B82F6"/>
            </a:solidFill>
            <a:prstDash val="solid"/>
          </a:ln>
        </p:spPr>
      </p:sp>
      <p:sp>
        <p:nvSpPr>
          <p:cNvPr id="49" name="Text 47"/>
          <p:cNvSpPr/>
          <p:nvPr/>
        </p:nvSpPr>
        <p:spPr>
          <a:xfrm>
            <a:off x="9098280" y="3794760"/>
            <a:ext cx="2697480" cy="4114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50" name="Text 48"/>
          <p:cNvSpPr/>
          <p:nvPr/>
        </p:nvSpPr>
        <p:spPr>
          <a:xfrm>
            <a:off x="9098280" y="4251960"/>
            <a:ext cx="2697480" cy="365760"/>
          </a:xfrm>
          <a:prstGeom prst="rect">
            <a:avLst/>
          </a:prstGeom>
          <a:noFill/>
          <a:ln/>
        </p:spPr>
        <p:txBody>
          <a:bodyPr wrap="square" rtlCol="0" anchor="ctr"/>
          <a:lstStyle/>
          <a:p>
            <a:pPr algn="ctr" indent="0" marL="0">
              <a:buNone/>
            </a:pPr>
            <a:r>
              <a:rPr lang="en-US" sz="1600" b="1" dirty="0">
                <a:solidFill>
                  <a:srgbClr val="3B82F6"/>
                </a:solidFill>
                <a:latin typeface="Arial" pitchFamily="34" charset="0"/>
                <a:ea typeface="Arial" pitchFamily="34" charset="-122"/>
                <a:cs typeface="Arial" pitchFamily="34" charset="-120"/>
              </a:rPr>
              <a:t>6</a:t>
            </a:r>
            <a:endParaRPr lang="en-US" sz="1600" dirty="0"/>
          </a:p>
        </p:txBody>
      </p:sp>
      <p:sp>
        <p:nvSpPr>
          <p:cNvPr id="51" name="Text 49"/>
          <p:cNvSpPr/>
          <p:nvPr/>
        </p:nvSpPr>
        <p:spPr>
          <a:xfrm>
            <a:off x="9098280" y="4617720"/>
            <a:ext cx="2697480" cy="32004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35</a:t>
            </a:r>
            <a:endParaRPr lang="en-US" sz="1300" dirty="0"/>
          </a:p>
        </p:txBody>
      </p:sp>
      <p:sp>
        <p:nvSpPr>
          <p:cNvPr id="52" name="Text 50"/>
          <p:cNvSpPr/>
          <p:nvPr/>
        </p:nvSpPr>
        <p:spPr>
          <a:xfrm>
            <a:off x="9098280" y="4983480"/>
            <a:ext cx="269748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NH Projects</a:t>
            </a:r>
            <a:endParaRPr lang="en-US" sz="900" dirty="0"/>
          </a:p>
        </p:txBody>
      </p:sp>
      <p:sp>
        <p:nvSpPr>
          <p:cNvPr id="53" name="Text 51"/>
          <p:cNvSpPr/>
          <p:nvPr/>
        </p:nvSpPr>
        <p:spPr>
          <a:xfrm>
            <a:off x="9098280" y="5257800"/>
            <a:ext cx="2697480" cy="228600"/>
          </a:xfrm>
          <a:prstGeom prst="rect">
            <a:avLst/>
          </a:prstGeom>
          <a:noFill/>
          <a:ln/>
        </p:spPr>
        <p:txBody>
          <a:bodyPr wrap="square" rtlCol="0" anchor="ctr"/>
          <a:lstStyle/>
          <a:p>
            <a:pPr algn="ctr" indent="0" marL="0">
              <a:buNone/>
            </a:pPr>
            <a:r>
              <a:rPr lang="en-US" sz="800" i="1" dirty="0">
                <a:solidFill>
                  <a:srgbClr val="6B7280"/>
                </a:solidFill>
                <a:latin typeface="Arial" pitchFamily="34" charset="0"/>
                <a:ea typeface="Arial" pitchFamily="34" charset="-122"/>
                <a:cs typeface="Arial" pitchFamily="34" charset="-120"/>
              </a:rPr>
              <a:t>Year 1 → Year 5</a:t>
            </a:r>
            <a:endParaRPr lang="en-US" sz="800" dirty="0"/>
          </a:p>
        </p:txBody>
      </p:sp>
      <p:sp>
        <p:nvSpPr>
          <p:cNvPr id="54" name="Text 52"/>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55" name="Text 53"/>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F59E0B"/>
                </a:solidFill>
                <a:latin typeface="Arial" pitchFamily="34" charset="0"/>
                <a:ea typeface="Arial" pitchFamily="34" charset="-122"/>
                <a:cs typeface="Arial" pitchFamily="34" charset="-120"/>
              </a:rPr>
              <a:t>COMPETITIVE EDGE</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Why This Wins</a:t>
            </a:r>
            <a:endParaRPr lang="en-US" sz="3400" dirty="0"/>
          </a:p>
        </p:txBody>
      </p:sp>
      <p:sp>
        <p:nvSpPr>
          <p:cNvPr id="6" name="Text 4"/>
          <p:cNvSpPr/>
          <p:nvPr/>
        </p:nvSpPr>
        <p:spPr>
          <a:xfrm>
            <a:off x="457200" y="1554480"/>
            <a:ext cx="11247120" cy="27432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Average Score: 9.3 / 10</a:t>
            </a:r>
            <a:endParaRPr lang="en-US" sz="1200" dirty="0"/>
          </a:p>
        </p:txBody>
      </p:sp>
      <p:sp>
        <p:nvSpPr>
          <p:cNvPr id="7" name="Shape 5"/>
          <p:cNvSpPr/>
          <p:nvPr/>
        </p:nvSpPr>
        <p:spPr>
          <a:xfrm>
            <a:off x="457200" y="1920240"/>
            <a:ext cx="5577840" cy="1280160"/>
          </a:xfrm>
          <a:prstGeom prst="rect">
            <a:avLst>
              <a:gd name="adj" fmla="val 7143"/>
            </a:avLst>
          </a:prstGeom>
          <a:solidFill>
            <a:srgbClr val="1F2937"/>
          </a:solidFill>
          <a:ln w="6350">
            <a:solidFill>
              <a:srgbClr val="F59E0B"/>
            </a:solidFill>
            <a:prstDash val="solid"/>
          </a:ln>
        </p:spPr>
      </p:sp>
      <p:sp>
        <p:nvSpPr>
          <p:cNvPr id="8" name="Text 6"/>
          <p:cNvSpPr/>
          <p:nvPr/>
        </p:nvSpPr>
        <p:spPr>
          <a:xfrm>
            <a:off x="640080" y="201168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Circular Economy Innovation</a:t>
            </a:r>
            <a:endParaRPr lang="en-US" sz="1300" dirty="0"/>
          </a:p>
        </p:txBody>
      </p:sp>
      <p:sp>
        <p:nvSpPr>
          <p:cNvPr id="9" name="Text 7"/>
          <p:cNvSpPr/>
          <p:nvPr/>
        </p:nvSpPr>
        <p:spPr>
          <a:xfrm>
            <a:off x="5029200" y="201168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10/10</a:t>
            </a:r>
            <a:endParaRPr lang="en-US" sz="1300" dirty="0"/>
          </a:p>
        </p:txBody>
      </p:sp>
      <p:sp>
        <p:nvSpPr>
          <p:cNvPr id="10" name="Text 8"/>
          <p:cNvSpPr/>
          <p:nvPr/>
        </p:nvSpPr>
        <p:spPr>
          <a:xfrm>
            <a:off x="640080" y="237744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NALCO's ₹3,500 Cr/year disposal liability → ₹350/MT revenue stream. First platform to monetize red mud at scale in India.</a:t>
            </a:r>
            <a:endParaRPr lang="en-US" sz="1000" dirty="0"/>
          </a:p>
        </p:txBody>
      </p:sp>
      <p:sp>
        <p:nvSpPr>
          <p:cNvPr id="11" name="Shape 9"/>
          <p:cNvSpPr/>
          <p:nvPr/>
        </p:nvSpPr>
        <p:spPr>
          <a:xfrm>
            <a:off x="6309360" y="1920240"/>
            <a:ext cx="5577840" cy="1280160"/>
          </a:xfrm>
          <a:prstGeom prst="rect">
            <a:avLst>
              <a:gd name="adj" fmla="val 7143"/>
            </a:avLst>
          </a:prstGeom>
          <a:solidFill>
            <a:srgbClr val="1F2937"/>
          </a:solidFill>
          <a:ln w="6350">
            <a:solidFill>
              <a:srgbClr val="F59E0B"/>
            </a:solidFill>
            <a:prstDash val="solid"/>
          </a:ln>
        </p:spPr>
      </p:sp>
      <p:sp>
        <p:nvSpPr>
          <p:cNvPr id="12" name="Text 10"/>
          <p:cNvSpPr/>
          <p:nvPr/>
        </p:nvSpPr>
        <p:spPr>
          <a:xfrm>
            <a:off x="6492240" y="201168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Scalability &amp; Replicability</a:t>
            </a:r>
            <a:endParaRPr lang="en-US" sz="1300" dirty="0"/>
          </a:p>
        </p:txBody>
      </p:sp>
      <p:sp>
        <p:nvSpPr>
          <p:cNvPr id="13" name="Text 11"/>
          <p:cNvSpPr/>
          <p:nvPr/>
        </p:nvSpPr>
        <p:spPr>
          <a:xfrm>
            <a:off x="10881360" y="201168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9/10</a:t>
            </a:r>
            <a:endParaRPr lang="en-US" sz="1300" dirty="0"/>
          </a:p>
        </p:txBody>
      </p:sp>
      <p:sp>
        <p:nvSpPr>
          <p:cNvPr id="14" name="Text 12"/>
          <p:cNvSpPr/>
          <p:nvPr/>
        </p:nvSpPr>
        <p:spPr>
          <a:xfrm>
            <a:off x="6492240" y="237744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Extendable to all 4 NALCO refineries (7.5M MT/year). Same model works for Hindalco, Vedanta, HINDALCO — 25M+ MT/year total.</a:t>
            </a:r>
            <a:endParaRPr lang="en-US" sz="1000" dirty="0"/>
          </a:p>
        </p:txBody>
      </p:sp>
      <p:sp>
        <p:nvSpPr>
          <p:cNvPr id="15" name="Shape 13"/>
          <p:cNvSpPr/>
          <p:nvPr/>
        </p:nvSpPr>
        <p:spPr>
          <a:xfrm>
            <a:off x="457200" y="3337560"/>
            <a:ext cx="5577840" cy="1280160"/>
          </a:xfrm>
          <a:prstGeom prst="rect">
            <a:avLst>
              <a:gd name="adj" fmla="val 7143"/>
            </a:avLst>
          </a:prstGeom>
          <a:solidFill>
            <a:srgbClr val="1F2937"/>
          </a:solidFill>
          <a:ln w="6350">
            <a:solidFill>
              <a:srgbClr val="F59E0B"/>
            </a:solidFill>
            <a:prstDash val="solid"/>
          </a:ln>
        </p:spPr>
      </p:sp>
      <p:sp>
        <p:nvSpPr>
          <p:cNvPr id="16" name="Text 14"/>
          <p:cNvSpPr/>
          <p:nvPr/>
        </p:nvSpPr>
        <p:spPr>
          <a:xfrm>
            <a:off x="640080" y="342900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Dual Revenue Model</a:t>
            </a:r>
            <a:endParaRPr lang="en-US" sz="1300" dirty="0"/>
          </a:p>
        </p:txBody>
      </p:sp>
      <p:sp>
        <p:nvSpPr>
          <p:cNvPr id="17" name="Text 15"/>
          <p:cNvSpPr/>
          <p:nvPr/>
        </p:nvSpPr>
        <p:spPr>
          <a:xfrm>
            <a:off x="5029200" y="342900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10/10</a:t>
            </a:r>
            <a:endParaRPr lang="en-US" sz="1300" dirty="0"/>
          </a:p>
        </p:txBody>
      </p:sp>
      <p:sp>
        <p:nvSpPr>
          <p:cNvPr id="18" name="Text 16"/>
          <p:cNvSpPr/>
          <p:nvPr/>
        </p:nvSpPr>
        <p:spPr>
          <a:xfrm>
            <a:off x="640080" y="379476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Material sales revenue + CCTS carbon credit revenue. Two independent income streams de-risk the business.</a:t>
            </a:r>
            <a:endParaRPr lang="en-US" sz="1000" dirty="0"/>
          </a:p>
        </p:txBody>
      </p:sp>
      <p:sp>
        <p:nvSpPr>
          <p:cNvPr id="19" name="Shape 17"/>
          <p:cNvSpPr/>
          <p:nvPr/>
        </p:nvSpPr>
        <p:spPr>
          <a:xfrm>
            <a:off x="6309360" y="3337560"/>
            <a:ext cx="5577840" cy="1280160"/>
          </a:xfrm>
          <a:prstGeom prst="rect">
            <a:avLst>
              <a:gd name="adj" fmla="val 7143"/>
            </a:avLst>
          </a:prstGeom>
          <a:solidFill>
            <a:srgbClr val="1F2937"/>
          </a:solidFill>
          <a:ln w="6350">
            <a:solidFill>
              <a:srgbClr val="F59E0B"/>
            </a:solidFill>
            <a:prstDash val="solid"/>
          </a:ln>
        </p:spPr>
      </p:sp>
      <p:sp>
        <p:nvSpPr>
          <p:cNvPr id="20" name="Text 18"/>
          <p:cNvSpPr/>
          <p:nvPr/>
        </p:nvSpPr>
        <p:spPr>
          <a:xfrm>
            <a:off x="6492240" y="342900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Real Buyer Demand</a:t>
            </a:r>
            <a:endParaRPr lang="en-US" sz="1300" dirty="0"/>
          </a:p>
        </p:txBody>
      </p:sp>
      <p:sp>
        <p:nvSpPr>
          <p:cNvPr id="21" name="Text 19"/>
          <p:cNvSpPr/>
          <p:nvPr/>
        </p:nvSpPr>
        <p:spPr>
          <a:xfrm>
            <a:off x="10881360" y="342900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9/10</a:t>
            </a:r>
            <a:endParaRPr lang="en-US" sz="1300" dirty="0"/>
          </a:p>
        </p:txBody>
      </p:sp>
      <p:sp>
        <p:nvSpPr>
          <p:cNvPr id="22" name="Text 20"/>
          <p:cNvSpPr/>
          <p:nvPr/>
        </p:nvSpPr>
        <p:spPr>
          <a:xfrm>
            <a:off x="6492240" y="379476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NHAI, UltraTech, ACC, Dalmia — these are real companies with active procurement needs. ₹2,100 Cr serviceable market.</a:t>
            </a:r>
            <a:endParaRPr lang="en-US" sz="1000" dirty="0"/>
          </a:p>
        </p:txBody>
      </p:sp>
      <p:sp>
        <p:nvSpPr>
          <p:cNvPr id="23" name="Shape 21"/>
          <p:cNvSpPr/>
          <p:nvPr/>
        </p:nvSpPr>
        <p:spPr>
          <a:xfrm>
            <a:off x="457200" y="4754880"/>
            <a:ext cx="5577840" cy="1280160"/>
          </a:xfrm>
          <a:prstGeom prst="rect">
            <a:avLst>
              <a:gd name="adj" fmla="val 7143"/>
            </a:avLst>
          </a:prstGeom>
          <a:solidFill>
            <a:srgbClr val="1F2937"/>
          </a:solidFill>
          <a:ln w="6350">
            <a:solidFill>
              <a:srgbClr val="F59E0B"/>
            </a:solidFill>
            <a:prstDash val="solid"/>
          </a:ln>
        </p:spPr>
      </p:sp>
      <p:sp>
        <p:nvSpPr>
          <p:cNvPr id="24" name="Text 22"/>
          <p:cNvSpPr/>
          <p:nvPr/>
        </p:nvSpPr>
        <p:spPr>
          <a:xfrm>
            <a:off x="640080" y="484632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Environmental Impact</a:t>
            </a:r>
            <a:endParaRPr lang="en-US" sz="1300" dirty="0"/>
          </a:p>
        </p:txBody>
      </p:sp>
      <p:sp>
        <p:nvSpPr>
          <p:cNvPr id="25" name="Text 23"/>
          <p:cNvSpPr/>
          <p:nvPr/>
        </p:nvSpPr>
        <p:spPr>
          <a:xfrm>
            <a:off x="5029200" y="484632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10/10</a:t>
            </a:r>
            <a:endParaRPr lang="en-US" sz="1300" dirty="0"/>
          </a:p>
        </p:txBody>
      </p:sp>
      <p:sp>
        <p:nvSpPr>
          <p:cNvPr id="26" name="Text 24"/>
          <p:cNvSpPr/>
          <p:nvPr/>
        </p:nvSpPr>
        <p:spPr>
          <a:xfrm>
            <a:off x="640080" y="521208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Zero-waste compliance for NALCO. 3,30,000 tCO₂e offset by Year 5. 680 hectares of land saved from pond storage.</a:t>
            </a:r>
            <a:endParaRPr lang="en-US" sz="1000" dirty="0"/>
          </a:p>
        </p:txBody>
      </p:sp>
      <p:sp>
        <p:nvSpPr>
          <p:cNvPr id="27" name="Shape 25"/>
          <p:cNvSpPr/>
          <p:nvPr/>
        </p:nvSpPr>
        <p:spPr>
          <a:xfrm>
            <a:off x="6309360" y="4754880"/>
            <a:ext cx="5577840" cy="1280160"/>
          </a:xfrm>
          <a:prstGeom prst="rect">
            <a:avLst>
              <a:gd name="adj" fmla="val 7143"/>
            </a:avLst>
          </a:prstGeom>
          <a:solidFill>
            <a:srgbClr val="1F2937"/>
          </a:solidFill>
          <a:ln w="6350">
            <a:solidFill>
              <a:srgbClr val="F59E0B"/>
            </a:solidFill>
            <a:prstDash val="solid"/>
          </a:ln>
        </p:spPr>
      </p:sp>
      <p:sp>
        <p:nvSpPr>
          <p:cNvPr id="28" name="Text 26"/>
          <p:cNvSpPr/>
          <p:nvPr/>
        </p:nvSpPr>
        <p:spPr>
          <a:xfrm>
            <a:off x="6492240" y="4846320"/>
            <a:ext cx="41148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Technology Depth</a:t>
            </a:r>
            <a:endParaRPr lang="en-US" sz="1300" dirty="0"/>
          </a:p>
        </p:txBody>
      </p:sp>
      <p:sp>
        <p:nvSpPr>
          <p:cNvPr id="29" name="Text 27"/>
          <p:cNvSpPr/>
          <p:nvPr/>
        </p:nvSpPr>
        <p:spPr>
          <a:xfrm>
            <a:off x="10881360" y="4846320"/>
            <a:ext cx="914400" cy="320040"/>
          </a:xfrm>
          <a:prstGeom prst="rect">
            <a:avLst/>
          </a:prstGeom>
          <a:noFill/>
          <a:ln/>
        </p:spPr>
        <p:txBody>
          <a:bodyPr wrap="square" rtlCol="0" anchor="ctr"/>
          <a:lstStyle/>
          <a:p>
            <a:pPr algn="r" indent="0" marL="0">
              <a:buNone/>
            </a:pPr>
            <a:r>
              <a:rPr lang="en-US" sz="1300" b="1" dirty="0">
                <a:solidFill>
                  <a:srgbClr val="F59E0B"/>
                </a:solidFill>
                <a:latin typeface="Arial" pitchFamily="34" charset="0"/>
                <a:ea typeface="Arial" pitchFamily="34" charset="-122"/>
                <a:cs typeface="Arial" pitchFamily="34" charset="-120"/>
              </a:rPr>
              <a:t>8/10</a:t>
            </a:r>
            <a:endParaRPr lang="en-US" sz="1300" dirty="0"/>
          </a:p>
        </p:txBody>
      </p:sp>
      <p:sp>
        <p:nvSpPr>
          <p:cNvPr id="30" name="Text 28"/>
          <p:cNvSpPr/>
          <p:nvPr/>
        </p:nvSpPr>
        <p:spPr>
          <a:xfrm>
            <a:off x="6492240" y="5212080"/>
            <a:ext cx="5212080" cy="731520"/>
          </a:xfrm>
          <a:prstGeom prst="rect">
            <a:avLst/>
          </a:prstGeom>
          <a:noFill/>
          <a:ln/>
        </p:spPr>
        <p:txBody>
          <a:bodyPr wrap="square" rtlCol="0" anchor="ctr"/>
          <a:lstStyle/>
          <a:p>
            <a:pPr indent="0" marL="0">
              <a:buNone/>
            </a:pPr>
            <a:r>
              <a:rPr lang="en-US" sz="1000" dirty="0">
                <a:solidFill>
                  <a:srgbClr val="D1D5DB"/>
                </a:solidFill>
                <a:latin typeface="Arial" pitchFamily="34" charset="0"/>
                <a:ea typeface="Arial" pitchFamily="34" charset="-122"/>
                <a:cs typeface="Arial" pitchFamily="34" charset="-120"/>
              </a:rPr>
              <a:t>PostGIS spatial routing, MQTT IoT pipeline, ML demand forecasting, CCTS blockchain-ready carbon registry.</a:t>
            </a:r>
            <a:endParaRPr lang="en-US" sz="1000" dirty="0"/>
          </a:p>
        </p:txBody>
      </p:sp>
      <p:sp>
        <p:nvSpPr>
          <p:cNvPr id="31" name="Text 29"/>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32" name="Text 30"/>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457200" y="320040"/>
            <a:ext cx="2743200" cy="228600"/>
          </a:xfrm>
          <a:prstGeom prst="rect">
            <a:avLst/>
          </a:prstGeom>
          <a:noFill/>
          <a:ln/>
        </p:spPr>
        <p:txBody>
          <a:bodyPr wrap="square" rtlCol="0" anchor="ctr"/>
          <a:lstStyle/>
          <a:p>
            <a:pPr indent="0" marL="0">
              <a:buNone/>
            </a:pPr>
            <a:r>
              <a:rPr lang="en-US" sz="1000" b="1" spc="200" kern="0" dirty="0">
                <a:solidFill>
                  <a:srgbClr val="3B82F6"/>
                </a:solidFill>
                <a:latin typeface="Arial" pitchFamily="34" charset="0"/>
                <a:ea typeface="Arial" pitchFamily="34" charset="-122"/>
                <a:cs typeface="Arial" pitchFamily="34" charset="-120"/>
              </a:rPr>
              <a:t>BUYER NETWORK</a:t>
            </a:r>
            <a:endParaRPr lang="en-US" sz="1000" dirty="0"/>
          </a:p>
        </p:txBody>
      </p:sp>
      <p:sp>
        <p:nvSpPr>
          <p:cNvPr id="5" name="Text 3"/>
          <p:cNvSpPr/>
          <p:nvPr/>
        </p:nvSpPr>
        <p:spPr>
          <a:xfrm>
            <a:off x="457200" y="594360"/>
            <a:ext cx="8229600" cy="82296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Real Buyers, Real Demand</a:t>
            </a:r>
            <a:endParaRPr lang="en-US" sz="3400" dirty="0"/>
          </a:p>
        </p:txBody>
      </p:sp>
      <p:sp>
        <p:nvSpPr>
          <p:cNvPr id="6" name="Shape 4"/>
          <p:cNvSpPr/>
          <p:nvPr/>
        </p:nvSpPr>
        <p:spPr>
          <a:xfrm>
            <a:off x="457200" y="1554480"/>
            <a:ext cx="5577840" cy="868680"/>
          </a:xfrm>
          <a:prstGeom prst="rect">
            <a:avLst>
              <a:gd name="adj" fmla="val 8421"/>
            </a:avLst>
          </a:prstGeom>
          <a:solidFill>
            <a:srgbClr val="1F2937"/>
          </a:solidFill>
          <a:ln w="6350">
            <a:solidFill>
              <a:srgbClr val="10B981"/>
            </a:solidFill>
            <a:prstDash val="solid"/>
          </a:ln>
        </p:spPr>
      </p:sp>
      <p:sp>
        <p:nvSpPr>
          <p:cNvPr id="7" name="Text 5"/>
          <p:cNvSpPr/>
          <p:nvPr/>
        </p:nvSpPr>
        <p:spPr>
          <a:xfrm>
            <a:off x="640080" y="162763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UltraTech Cement</a:t>
            </a:r>
            <a:endParaRPr lang="en-US" sz="1200" dirty="0"/>
          </a:p>
        </p:txBody>
      </p:sp>
      <p:sp>
        <p:nvSpPr>
          <p:cNvPr id="8" name="Text 6"/>
          <p:cNvSpPr/>
          <p:nvPr/>
        </p:nvSpPr>
        <p:spPr>
          <a:xfrm>
            <a:off x="4846320" y="162763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9" name="Text 7"/>
          <p:cNvSpPr/>
          <p:nvPr/>
        </p:nvSpPr>
        <p:spPr>
          <a:xfrm>
            <a:off x="640080" y="201168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Cement  ·  Bhubaneswar  ·  350 km  ·  50,000 MT/year</a:t>
            </a:r>
            <a:endParaRPr lang="en-US" sz="900" dirty="0"/>
          </a:p>
        </p:txBody>
      </p:sp>
      <p:sp>
        <p:nvSpPr>
          <p:cNvPr id="10" name="Shape 8"/>
          <p:cNvSpPr/>
          <p:nvPr/>
        </p:nvSpPr>
        <p:spPr>
          <a:xfrm>
            <a:off x="6309360" y="1554480"/>
            <a:ext cx="5577840" cy="868680"/>
          </a:xfrm>
          <a:prstGeom prst="rect">
            <a:avLst>
              <a:gd name="adj" fmla="val 8421"/>
            </a:avLst>
          </a:prstGeom>
          <a:solidFill>
            <a:srgbClr val="1F2937"/>
          </a:solidFill>
          <a:ln w="6350">
            <a:solidFill>
              <a:srgbClr val="10B981"/>
            </a:solidFill>
            <a:prstDash val="solid"/>
          </a:ln>
        </p:spPr>
      </p:sp>
      <p:sp>
        <p:nvSpPr>
          <p:cNvPr id="11" name="Text 9"/>
          <p:cNvSpPr/>
          <p:nvPr/>
        </p:nvSpPr>
        <p:spPr>
          <a:xfrm>
            <a:off x="6492240" y="162763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ACC Limited</a:t>
            </a:r>
            <a:endParaRPr lang="en-US" sz="1200" dirty="0"/>
          </a:p>
        </p:txBody>
      </p:sp>
      <p:sp>
        <p:nvSpPr>
          <p:cNvPr id="12" name="Text 10"/>
          <p:cNvSpPr/>
          <p:nvPr/>
        </p:nvSpPr>
        <p:spPr>
          <a:xfrm>
            <a:off x="10698480" y="162763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13" name="Text 11"/>
          <p:cNvSpPr/>
          <p:nvPr/>
        </p:nvSpPr>
        <p:spPr>
          <a:xfrm>
            <a:off x="6492240" y="201168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Cement  ·  Cuttack  ·  380 km  ·  35,000 MT/year</a:t>
            </a:r>
            <a:endParaRPr lang="en-US" sz="900" dirty="0"/>
          </a:p>
        </p:txBody>
      </p:sp>
      <p:sp>
        <p:nvSpPr>
          <p:cNvPr id="14" name="Shape 12"/>
          <p:cNvSpPr/>
          <p:nvPr/>
        </p:nvSpPr>
        <p:spPr>
          <a:xfrm>
            <a:off x="457200" y="2560320"/>
            <a:ext cx="5577840" cy="868680"/>
          </a:xfrm>
          <a:prstGeom prst="rect">
            <a:avLst>
              <a:gd name="adj" fmla="val 8421"/>
            </a:avLst>
          </a:prstGeom>
          <a:solidFill>
            <a:srgbClr val="1F2937"/>
          </a:solidFill>
          <a:ln w="6350">
            <a:solidFill>
              <a:srgbClr val="10B981"/>
            </a:solidFill>
            <a:prstDash val="solid"/>
          </a:ln>
        </p:spPr>
      </p:sp>
      <p:sp>
        <p:nvSpPr>
          <p:cNvPr id="15" name="Text 13"/>
          <p:cNvSpPr/>
          <p:nvPr/>
        </p:nvSpPr>
        <p:spPr>
          <a:xfrm>
            <a:off x="640080" y="263347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NHAI (BBSR-CTC Expressway)</a:t>
            </a:r>
            <a:endParaRPr lang="en-US" sz="1200" dirty="0"/>
          </a:p>
        </p:txBody>
      </p:sp>
      <p:sp>
        <p:nvSpPr>
          <p:cNvPr id="16" name="Text 14"/>
          <p:cNvSpPr/>
          <p:nvPr/>
        </p:nvSpPr>
        <p:spPr>
          <a:xfrm>
            <a:off x="4846320" y="263347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17" name="Text 15"/>
          <p:cNvSpPr/>
          <p:nvPr/>
        </p:nvSpPr>
        <p:spPr>
          <a:xfrm>
            <a:off x="640080" y="301752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Road  ·  Cuttack  ·  370 km  ·  80,000 MT/year</a:t>
            </a:r>
            <a:endParaRPr lang="en-US" sz="900" dirty="0"/>
          </a:p>
        </p:txBody>
      </p:sp>
      <p:sp>
        <p:nvSpPr>
          <p:cNvPr id="18" name="Shape 16"/>
          <p:cNvSpPr/>
          <p:nvPr/>
        </p:nvSpPr>
        <p:spPr>
          <a:xfrm>
            <a:off x="6309360" y="2560320"/>
            <a:ext cx="5577840" cy="868680"/>
          </a:xfrm>
          <a:prstGeom prst="rect">
            <a:avLst>
              <a:gd name="adj" fmla="val 8421"/>
            </a:avLst>
          </a:prstGeom>
          <a:solidFill>
            <a:srgbClr val="1F2937"/>
          </a:solidFill>
          <a:ln w="6350">
            <a:solidFill>
              <a:srgbClr val="F59E0B"/>
            </a:solidFill>
            <a:prstDash val="solid"/>
          </a:ln>
        </p:spPr>
      </p:sp>
      <p:sp>
        <p:nvSpPr>
          <p:cNvPr id="19" name="Text 17"/>
          <p:cNvSpPr/>
          <p:nvPr/>
        </p:nvSpPr>
        <p:spPr>
          <a:xfrm>
            <a:off x="6492240" y="263347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Dalmia Bharat</a:t>
            </a:r>
            <a:endParaRPr lang="en-US" sz="1200" dirty="0"/>
          </a:p>
        </p:txBody>
      </p:sp>
      <p:sp>
        <p:nvSpPr>
          <p:cNvPr id="20" name="Text 18"/>
          <p:cNvSpPr/>
          <p:nvPr/>
        </p:nvSpPr>
        <p:spPr>
          <a:xfrm>
            <a:off x="10698480" y="2633472"/>
            <a:ext cx="1097280" cy="320040"/>
          </a:xfrm>
          <a:prstGeom prst="rect">
            <a:avLst/>
          </a:prstGeom>
          <a:noFill/>
          <a:ln/>
        </p:spPr>
        <p:txBody>
          <a:bodyPr wrap="square" rtlCol="0" anchor="ctr"/>
          <a:lstStyle/>
          <a:p>
            <a:pPr algn="r" indent="0" marL="0">
              <a:buNone/>
            </a:pPr>
            <a:r>
              <a:rPr lang="en-US" sz="900" dirty="0">
                <a:solidFill>
                  <a:srgbClr val="F59E0B"/>
                </a:solidFill>
                <a:latin typeface="Arial" pitchFamily="34" charset="0"/>
                <a:ea typeface="Arial" pitchFamily="34" charset="-122"/>
                <a:cs typeface="Arial" pitchFamily="34" charset="-120"/>
              </a:rPr>
              <a:t>Pending</a:t>
            </a:r>
            <a:endParaRPr lang="en-US" sz="900" dirty="0"/>
          </a:p>
        </p:txBody>
      </p:sp>
      <p:sp>
        <p:nvSpPr>
          <p:cNvPr id="21" name="Text 19"/>
          <p:cNvSpPr/>
          <p:nvPr/>
        </p:nvSpPr>
        <p:spPr>
          <a:xfrm>
            <a:off x="6492240" y="301752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Cement  ·  Rajgangpur  ·  280 km  ·  40,000 MT/year</a:t>
            </a:r>
            <a:endParaRPr lang="en-US" sz="900" dirty="0"/>
          </a:p>
        </p:txBody>
      </p:sp>
      <p:sp>
        <p:nvSpPr>
          <p:cNvPr id="22" name="Shape 20"/>
          <p:cNvSpPr/>
          <p:nvPr/>
        </p:nvSpPr>
        <p:spPr>
          <a:xfrm>
            <a:off x="457200" y="3566160"/>
            <a:ext cx="5577840" cy="868680"/>
          </a:xfrm>
          <a:prstGeom prst="rect">
            <a:avLst>
              <a:gd name="adj" fmla="val 8421"/>
            </a:avLst>
          </a:prstGeom>
          <a:solidFill>
            <a:srgbClr val="1F2937"/>
          </a:solidFill>
          <a:ln w="6350">
            <a:solidFill>
              <a:srgbClr val="10B981"/>
            </a:solidFill>
            <a:prstDash val="solid"/>
          </a:ln>
        </p:spPr>
      </p:sp>
      <p:sp>
        <p:nvSpPr>
          <p:cNvPr id="23" name="Text 21"/>
          <p:cNvSpPr/>
          <p:nvPr/>
        </p:nvSpPr>
        <p:spPr>
          <a:xfrm>
            <a:off x="640080" y="363931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Larsen &amp; Toubro</a:t>
            </a:r>
            <a:endParaRPr lang="en-US" sz="1200" dirty="0"/>
          </a:p>
        </p:txBody>
      </p:sp>
      <p:sp>
        <p:nvSpPr>
          <p:cNvPr id="24" name="Text 22"/>
          <p:cNvSpPr/>
          <p:nvPr/>
        </p:nvSpPr>
        <p:spPr>
          <a:xfrm>
            <a:off x="4846320" y="363931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25" name="Text 23"/>
          <p:cNvSpPr/>
          <p:nvPr/>
        </p:nvSpPr>
        <p:spPr>
          <a:xfrm>
            <a:off x="640080" y="402336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Construction  ·  Visakhapatnam  ·  520 km  ·  25,000 MT/year</a:t>
            </a:r>
            <a:endParaRPr lang="en-US" sz="900" dirty="0"/>
          </a:p>
        </p:txBody>
      </p:sp>
      <p:sp>
        <p:nvSpPr>
          <p:cNvPr id="26" name="Shape 24"/>
          <p:cNvSpPr/>
          <p:nvPr/>
        </p:nvSpPr>
        <p:spPr>
          <a:xfrm>
            <a:off x="6309360" y="3566160"/>
            <a:ext cx="5577840" cy="868680"/>
          </a:xfrm>
          <a:prstGeom prst="rect">
            <a:avLst>
              <a:gd name="adj" fmla="val 8421"/>
            </a:avLst>
          </a:prstGeom>
          <a:solidFill>
            <a:srgbClr val="1F2937"/>
          </a:solidFill>
          <a:ln w="6350">
            <a:solidFill>
              <a:srgbClr val="10B981"/>
            </a:solidFill>
            <a:prstDash val="solid"/>
          </a:ln>
        </p:spPr>
      </p:sp>
      <p:sp>
        <p:nvSpPr>
          <p:cNvPr id="27" name="Text 25"/>
          <p:cNvSpPr/>
          <p:nvPr/>
        </p:nvSpPr>
        <p:spPr>
          <a:xfrm>
            <a:off x="6492240" y="363931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Kohinoor Bricks</a:t>
            </a:r>
            <a:endParaRPr lang="en-US" sz="1200" dirty="0"/>
          </a:p>
        </p:txBody>
      </p:sp>
      <p:sp>
        <p:nvSpPr>
          <p:cNvPr id="28" name="Text 26"/>
          <p:cNvSpPr/>
          <p:nvPr/>
        </p:nvSpPr>
        <p:spPr>
          <a:xfrm>
            <a:off x="10698480" y="363931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29" name="Text 27"/>
          <p:cNvSpPr/>
          <p:nvPr/>
        </p:nvSpPr>
        <p:spPr>
          <a:xfrm>
            <a:off x="6492240" y="402336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Bricks  ·  Koraput  ·  80 km  ·  15,000 MT/year</a:t>
            </a:r>
            <a:endParaRPr lang="en-US" sz="900" dirty="0"/>
          </a:p>
        </p:txBody>
      </p:sp>
      <p:sp>
        <p:nvSpPr>
          <p:cNvPr id="30" name="Shape 28"/>
          <p:cNvSpPr/>
          <p:nvPr/>
        </p:nvSpPr>
        <p:spPr>
          <a:xfrm>
            <a:off x="457200" y="4572000"/>
            <a:ext cx="5577840" cy="868680"/>
          </a:xfrm>
          <a:prstGeom prst="rect">
            <a:avLst>
              <a:gd name="adj" fmla="val 8421"/>
            </a:avLst>
          </a:prstGeom>
          <a:solidFill>
            <a:srgbClr val="1F2937"/>
          </a:solidFill>
          <a:ln w="6350">
            <a:solidFill>
              <a:srgbClr val="10B981"/>
            </a:solidFill>
            <a:prstDash val="solid"/>
          </a:ln>
        </p:spPr>
      </p:sp>
      <p:sp>
        <p:nvSpPr>
          <p:cNvPr id="31" name="Text 29"/>
          <p:cNvSpPr/>
          <p:nvPr/>
        </p:nvSpPr>
        <p:spPr>
          <a:xfrm>
            <a:off x="640080" y="464515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Tata Steel (Slag Division)</a:t>
            </a:r>
            <a:endParaRPr lang="en-US" sz="1200" dirty="0"/>
          </a:p>
        </p:txBody>
      </p:sp>
      <p:sp>
        <p:nvSpPr>
          <p:cNvPr id="32" name="Text 30"/>
          <p:cNvSpPr/>
          <p:nvPr/>
        </p:nvSpPr>
        <p:spPr>
          <a:xfrm>
            <a:off x="4846320" y="4645152"/>
            <a:ext cx="1097280" cy="320040"/>
          </a:xfrm>
          <a:prstGeom prst="rect">
            <a:avLst/>
          </a:prstGeom>
          <a:noFill/>
          <a:ln/>
        </p:spPr>
        <p:txBody>
          <a:bodyPr wrap="square" rtlCol="0" anchor="ctr"/>
          <a:lstStyle/>
          <a:p>
            <a:pPr algn="r" indent="0" marL="0">
              <a:buNone/>
            </a:pPr>
            <a:r>
              <a:rPr lang="en-US" sz="900" dirty="0">
                <a:solidFill>
                  <a:srgbClr val="10B981"/>
                </a:solidFill>
                <a:latin typeface="Arial" pitchFamily="34" charset="0"/>
                <a:ea typeface="Arial" pitchFamily="34" charset="-122"/>
                <a:cs typeface="Arial" pitchFamily="34" charset="-120"/>
              </a:rPr>
              <a:t>Verified</a:t>
            </a:r>
            <a:endParaRPr lang="en-US" sz="900" dirty="0"/>
          </a:p>
        </p:txBody>
      </p:sp>
      <p:sp>
        <p:nvSpPr>
          <p:cNvPr id="33" name="Text 31"/>
          <p:cNvSpPr/>
          <p:nvPr/>
        </p:nvSpPr>
        <p:spPr>
          <a:xfrm>
            <a:off x="640080" y="502920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Steel  ·  Rourkela  ·  310 km  ·  60,000 MT/year</a:t>
            </a:r>
            <a:endParaRPr lang="en-US" sz="900" dirty="0"/>
          </a:p>
        </p:txBody>
      </p:sp>
      <p:sp>
        <p:nvSpPr>
          <p:cNvPr id="34" name="Shape 32"/>
          <p:cNvSpPr/>
          <p:nvPr/>
        </p:nvSpPr>
        <p:spPr>
          <a:xfrm>
            <a:off x="6309360" y="4572000"/>
            <a:ext cx="5577840" cy="868680"/>
          </a:xfrm>
          <a:prstGeom prst="rect">
            <a:avLst>
              <a:gd name="adj" fmla="val 8421"/>
            </a:avLst>
          </a:prstGeom>
          <a:solidFill>
            <a:srgbClr val="1F2937"/>
          </a:solidFill>
          <a:ln w="6350">
            <a:solidFill>
              <a:srgbClr val="F59E0B"/>
            </a:solidFill>
            <a:prstDash val="solid"/>
          </a:ln>
        </p:spPr>
      </p:sp>
      <p:sp>
        <p:nvSpPr>
          <p:cNvPr id="35" name="Text 33"/>
          <p:cNvSpPr/>
          <p:nvPr/>
        </p:nvSpPr>
        <p:spPr>
          <a:xfrm>
            <a:off x="6492240" y="4645152"/>
            <a:ext cx="41148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NHAI (Vizag Highway)</a:t>
            </a:r>
            <a:endParaRPr lang="en-US" sz="1200" dirty="0"/>
          </a:p>
        </p:txBody>
      </p:sp>
      <p:sp>
        <p:nvSpPr>
          <p:cNvPr id="36" name="Text 34"/>
          <p:cNvSpPr/>
          <p:nvPr/>
        </p:nvSpPr>
        <p:spPr>
          <a:xfrm>
            <a:off x="10698480" y="4645152"/>
            <a:ext cx="1097280" cy="320040"/>
          </a:xfrm>
          <a:prstGeom prst="rect">
            <a:avLst/>
          </a:prstGeom>
          <a:noFill/>
          <a:ln/>
        </p:spPr>
        <p:txBody>
          <a:bodyPr wrap="square" rtlCol="0" anchor="ctr"/>
          <a:lstStyle/>
          <a:p>
            <a:pPr algn="r" indent="0" marL="0">
              <a:buNone/>
            </a:pPr>
            <a:r>
              <a:rPr lang="en-US" sz="900" dirty="0">
                <a:solidFill>
                  <a:srgbClr val="F59E0B"/>
                </a:solidFill>
                <a:latin typeface="Arial" pitchFamily="34" charset="0"/>
                <a:ea typeface="Arial" pitchFamily="34" charset="-122"/>
                <a:cs typeface="Arial" pitchFamily="34" charset="-120"/>
              </a:rPr>
              <a:t>Pending</a:t>
            </a:r>
            <a:endParaRPr lang="en-US" sz="900" dirty="0"/>
          </a:p>
        </p:txBody>
      </p:sp>
      <p:sp>
        <p:nvSpPr>
          <p:cNvPr id="37" name="Text 35"/>
          <p:cNvSpPr/>
          <p:nvPr/>
        </p:nvSpPr>
        <p:spPr>
          <a:xfrm>
            <a:off x="6492240" y="5029200"/>
            <a:ext cx="5212080" cy="320040"/>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Road  ·  Vizag  ·  540 km  ·  70,000 MT/year</a:t>
            </a:r>
            <a:endParaRPr lang="en-US" sz="900" dirty="0"/>
          </a:p>
        </p:txBody>
      </p:sp>
      <p:sp>
        <p:nvSpPr>
          <p:cNvPr id="38" name="Text 36"/>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39" name="Text 37"/>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0F1A"/>
          </a:solidFill>
          <a:ln/>
        </p:spPr>
      </p:sp>
      <p:sp>
        <p:nvSpPr>
          <p:cNvPr id="3" name="Shape 1"/>
          <p:cNvSpPr/>
          <p:nvPr/>
        </p:nvSpPr>
        <p:spPr>
          <a:xfrm>
            <a:off x="0" y="0"/>
            <a:ext cx="12192000" cy="73152"/>
          </a:xfrm>
          <a:prstGeom prst="rect">
            <a:avLst/>
          </a:prstGeom>
          <a:solidFill>
            <a:srgbClr val="10B981"/>
          </a:solidFill>
          <a:ln/>
        </p:spPr>
      </p:sp>
      <p:sp>
        <p:nvSpPr>
          <p:cNvPr id="4" name="Text 2"/>
          <p:cNvSpPr/>
          <p:nvPr/>
        </p:nvSpPr>
        <p:spPr>
          <a:xfrm>
            <a:off x="1371600" y="1188720"/>
            <a:ext cx="9418320" cy="365760"/>
          </a:xfrm>
          <a:prstGeom prst="rect">
            <a:avLst/>
          </a:prstGeom>
          <a:noFill/>
          <a:ln/>
        </p:spPr>
        <p:txBody>
          <a:bodyPr wrap="square" rtlCol="0" anchor="ctr"/>
          <a:lstStyle/>
          <a:p>
            <a:pPr algn="ctr" indent="0" marL="0">
              <a:buNone/>
            </a:pPr>
            <a:r>
              <a:rPr lang="en-US" sz="1200" b="1" spc="400" kern="0" dirty="0">
                <a:solidFill>
                  <a:srgbClr val="10B981"/>
                </a:solidFill>
                <a:latin typeface="Arial" pitchFamily="34" charset="0"/>
                <a:ea typeface="Arial" pitchFamily="34" charset="-122"/>
                <a:cs typeface="Arial" pitchFamily="34" charset="-120"/>
              </a:rPr>
              <a:t>THE FUTURE IS CIRCULAR</a:t>
            </a:r>
            <a:endParaRPr lang="en-US" sz="1200" dirty="0"/>
          </a:p>
        </p:txBody>
      </p:sp>
      <p:sp>
        <p:nvSpPr>
          <p:cNvPr id="5" name="Text 3"/>
          <p:cNvSpPr/>
          <p:nvPr/>
        </p:nvSpPr>
        <p:spPr>
          <a:xfrm>
            <a:off x="1371600" y="1737360"/>
            <a:ext cx="9418320" cy="1005840"/>
          </a:xfrm>
          <a:prstGeom prst="rect">
            <a:avLst/>
          </a:prstGeom>
          <a:noFill/>
          <a:ln/>
        </p:spPr>
        <p:txBody>
          <a:bodyPr wrap="square"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From Waste to Wealth</a:t>
            </a:r>
            <a:endParaRPr lang="en-US" sz="5400" dirty="0"/>
          </a:p>
        </p:txBody>
      </p:sp>
      <p:sp>
        <p:nvSpPr>
          <p:cNvPr id="6" name="Text 4"/>
          <p:cNvSpPr/>
          <p:nvPr/>
        </p:nvSpPr>
        <p:spPr>
          <a:xfrm>
            <a:off x="1371600" y="2834640"/>
            <a:ext cx="9418320" cy="548640"/>
          </a:xfrm>
          <a:prstGeom prst="rect">
            <a:avLst/>
          </a:prstGeom>
          <a:noFill/>
          <a:ln/>
        </p:spPr>
        <p:txBody>
          <a:bodyPr wrap="square" rtlCol="0" anchor="ctr"/>
          <a:lstStyle/>
          <a:p>
            <a:pPr algn="ctr" indent="0" marL="0">
              <a:buNone/>
            </a:pPr>
            <a:r>
              <a:rPr lang="en-US" sz="1400" i="1" dirty="0">
                <a:solidFill>
                  <a:srgbClr val="D1D5DB"/>
                </a:solidFill>
                <a:latin typeface="Arial" pitchFamily="34" charset="0"/>
                <a:ea typeface="Arial" pitchFamily="34" charset="-122"/>
                <a:cs typeface="Arial" pitchFamily="34" charset="-120"/>
              </a:rPr>
              <a:t>Transforming India's largest industrial liability into a profit-generating, carbon-negative ecosystem — one tonne at a time.</a:t>
            </a:r>
            <a:endParaRPr lang="en-US" sz="1400" dirty="0"/>
          </a:p>
        </p:txBody>
      </p:sp>
      <p:sp>
        <p:nvSpPr>
          <p:cNvPr id="7" name="Text 5"/>
          <p:cNvSpPr/>
          <p:nvPr/>
        </p:nvSpPr>
        <p:spPr>
          <a:xfrm>
            <a:off x="1371600" y="3749040"/>
            <a:ext cx="2103120" cy="54864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₹2,100 Cr</a:t>
            </a:r>
            <a:endParaRPr lang="en-US" sz="2400" dirty="0"/>
          </a:p>
        </p:txBody>
      </p:sp>
      <p:sp>
        <p:nvSpPr>
          <p:cNvPr id="8" name="Text 6"/>
          <p:cNvSpPr/>
          <p:nvPr/>
        </p:nvSpPr>
        <p:spPr>
          <a:xfrm>
            <a:off x="1371600" y="4297680"/>
            <a:ext cx="2103120" cy="27432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Market</a:t>
            </a:r>
            <a:endParaRPr lang="en-US" sz="1000" dirty="0"/>
          </a:p>
        </p:txBody>
      </p:sp>
      <p:sp>
        <p:nvSpPr>
          <p:cNvPr id="9" name="Text 7"/>
          <p:cNvSpPr/>
          <p:nvPr/>
        </p:nvSpPr>
        <p:spPr>
          <a:xfrm>
            <a:off x="3657600" y="3749040"/>
            <a:ext cx="2103120" cy="54864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7.5M MT</a:t>
            </a:r>
            <a:endParaRPr lang="en-US" sz="2400" dirty="0"/>
          </a:p>
        </p:txBody>
      </p:sp>
      <p:sp>
        <p:nvSpPr>
          <p:cNvPr id="10" name="Text 8"/>
          <p:cNvSpPr/>
          <p:nvPr/>
        </p:nvSpPr>
        <p:spPr>
          <a:xfrm>
            <a:off x="3657600" y="4297680"/>
            <a:ext cx="2103120" cy="27432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Reusable</a:t>
            </a:r>
            <a:endParaRPr lang="en-US" sz="1000" dirty="0"/>
          </a:p>
        </p:txBody>
      </p:sp>
      <p:sp>
        <p:nvSpPr>
          <p:cNvPr id="11" name="Text 9"/>
          <p:cNvSpPr/>
          <p:nvPr/>
        </p:nvSpPr>
        <p:spPr>
          <a:xfrm>
            <a:off x="5943600" y="3749040"/>
            <a:ext cx="2103120" cy="54864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3,30K tCO₂e</a:t>
            </a:r>
            <a:endParaRPr lang="en-US" sz="2400" dirty="0"/>
          </a:p>
        </p:txBody>
      </p:sp>
      <p:sp>
        <p:nvSpPr>
          <p:cNvPr id="12" name="Text 10"/>
          <p:cNvSpPr/>
          <p:nvPr/>
        </p:nvSpPr>
        <p:spPr>
          <a:xfrm>
            <a:off x="5943600" y="4297680"/>
            <a:ext cx="2103120" cy="27432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Offset</a:t>
            </a:r>
            <a:endParaRPr lang="en-US" sz="1000" dirty="0"/>
          </a:p>
        </p:txBody>
      </p:sp>
      <p:sp>
        <p:nvSpPr>
          <p:cNvPr id="13" name="Text 11"/>
          <p:cNvSpPr/>
          <p:nvPr/>
        </p:nvSpPr>
        <p:spPr>
          <a:xfrm>
            <a:off x="8229600" y="3749040"/>
            <a:ext cx="2103120" cy="54864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2,800+ Jobs</a:t>
            </a:r>
            <a:endParaRPr lang="en-US" sz="2400" dirty="0"/>
          </a:p>
        </p:txBody>
      </p:sp>
      <p:sp>
        <p:nvSpPr>
          <p:cNvPr id="14" name="Text 12"/>
          <p:cNvSpPr/>
          <p:nvPr/>
        </p:nvSpPr>
        <p:spPr>
          <a:xfrm>
            <a:off x="8229600" y="4297680"/>
            <a:ext cx="2103120" cy="27432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Created</a:t>
            </a:r>
            <a:endParaRPr lang="en-US" sz="1000" dirty="0"/>
          </a:p>
        </p:txBody>
      </p:sp>
      <p:sp>
        <p:nvSpPr>
          <p:cNvPr id="15" name="Shape 13"/>
          <p:cNvSpPr/>
          <p:nvPr/>
        </p:nvSpPr>
        <p:spPr>
          <a:xfrm>
            <a:off x="2743200" y="5029200"/>
            <a:ext cx="6675120" cy="731520"/>
          </a:xfrm>
          <a:prstGeom prst="rect">
            <a:avLst>
              <a:gd name="adj" fmla="val 12500"/>
            </a:avLst>
          </a:prstGeom>
          <a:solidFill>
            <a:srgbClr val="000000"/>
          </a:solidFill>
          <a:ln w="19050">
            <a:solidFill>
              <a:srgbClr val="10B981"/>
            </a:solidFill>
            <a:prstDash val="solid"/>
          </a:ln>
        </p:spPr>
      </p:sp>
      <p:sp>
        <p:nvSpPr>
          <p:cNvPr id="16" name="Text 14"/>
          <p:cNvSpPr/>
          <p:nvPr/>
        </p:nvSpPr>
        <p:spPr>
          <a:xfrm>
            <a:off x="2743200" y="5029200"/>
            <a:ext cx="6675120" cy="7315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  Waste-to-Wealth  |  Smart India Hackathon 2025</a:t>
            </a:r>
            <a:endParaRPr lang="en-US" sz="1600" dirty="0"/>
          </a:p>
        </p:txBody>
      </p:sp>
      <p:sp>
        <p:nvSpPr>
          <p:cNvPr id="17" name="Text 15"/>
          <p:cNvSpPr/>
          <p:nvPr/>
        </p:nvSpPr>
        <p:spPr>
          <a:xfrm>
            <a:off x="1371600" y="6035040"/>
            <a:ext cx="9418320" cy="27432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Built with React · Node.js · PostgreSQL + PostGIS · Redis · MQTT</a:t>
            </a:r>
            <a:endParaRPr lang="en-US" sz="1000" dirty="0"/>
          </a:p>
        </p:txBody>
      </p:sp>
      <p:sp>
        <p:nvSpPr>
          <p:cNvPr id="18" name="Text 16"/>
          <p:cNvSpPr/>
          <p:nvPr/>
        </p:nvSpPr>
        <p:spPr>
          <a:xfrm>
            <a:off x="365760" y="6400800"/>
            <a:ext cx="45720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Waste-to-Wealth  ·  Smart India Hackathon 2025</a:t>
            </a:r>
            <a:endParaRPr lang="en-US" sz="900" dirty="0"/>
          </a:p>
        </p:txBody>
      </p:sp>
      <p:sp>
        <p:nvSpPr>
          <p:cNvPr id="19" name="Text 17"/>
          <p:cNvSpPr/>
          <p:nvPr/>
        </p:nvSpPr>
        <p:spPr>
          <a:xfrm>
            <a:off x="7772400" y="6400800"/>
            <a:ext cx="1188720" cy="274320"/>
          </a:xfrm>
          <a:prstGeom prst="rect">
            <a:avLst/>
          </a:prstGeom>
          <a:noFill/>
          <a:ln/>
        </p:spPr>
        <p:txBody>
          <a:bodyPr wrap="square" rtlCol="0" anchor="ctr"/>
          <a:lstStyle/>
          <a:p>
            <a:pPr algn="r" indent="0" marL="0">
              <a:buNone/>
            </a:pPr>
            <a:r>
              <a:rPr lang="en-US" sz="900" dirty="0">
                <a:solidFill>
                  <a:srgbClr val="9CA3AF"/>
                </a:solidFill>
                <a:latin typeface="Arial" pitchFamily="34" charset="0"/>
                <a:ea typeface="Arial" pitchFamily="34" charset="-122"/>
                <a:cs typeface="Arial"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Smart India Hackathon 2025</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Waste-to-Wealth — SIH 2025</dc:title>
  <dc:subject>Circular Economy B2B Marketplace</dc:subject>
  <dc:creator>Waste-to-Wealth Team</dc:creator>
  <cp:lastModifiedBy>Waste-to-Wealth Team</cp:lastModifiedBy>
  <cp:revision>1</cp:revision>
  <dcterms:created xsi:type="dcterms:W3CDTF">2026-06-18T05:27:29Z</dcterms:created>
  <dcterms:modified xsi:type="dcterms:W3CDTF">2026-06-18T05:27:29Z</dcterms:modified>
</cp:coreProperties>
</file>